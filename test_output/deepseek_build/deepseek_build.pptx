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综合能力</c:v>
                </c:pt>
              </c:strCache>
            </c:strRef>
          </c:tx>
          <c:spPr>
            <a:solidFill>
              <a:srgbClr val="4F46E5"/>
            </a:solidFill>
          </c:spPr>
          <c:cat>
            <c:strRef>
              <c:f>Sheet1!$A$2:$A$7</c:f>
              <c:strCache>
                <c:ptCount val="6"/>
                <c:pt idx="0">
                  <c:v>DeepSeek</c:v>
                </c:pt>
                <c:pt idx="1">
                  <c:v>GPT-5</c:v>
                </c:pt>
                <c:pt idx="2">
                  <c:v>Claude 4</c:v>
                </c:pt>
                <c:pt idx="3">
                  <c:v>Gemini</c:v>
                </c:pt>
                <c:pt idx="4">
                  <c:v>Qwen</c:v>
                </c:pt>
                <c:pt idx="5">
                  <c:v>Doubao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</c:v>
                </c:pt>
                <c:pt idx="1">
                  <c:v>95</c:v>
                </c:pt>
                <c:pt idx="2">
                  <c:v>93</c:v>
                </c:pt>
                <c:pt idx="3">
                  <c:v>91</c:v>
                </c:pt>
                <c:pt idx="4">
                  <c:v>84</c:v>
                </c:pt>
                <c:pt idx="5">
                  <c:v>82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价格</c:v>
                </c:pt>
              </c:strCache>
            </c:strRef>
          </c:tx>
          <c:spPr>
            <a:solidFill>
              <a:srgbClr val="4F46E5"/>
            </a:solidFill>
          </c:spPr>
          <c:cat>
            <c:strRef>
              <c:f>Sheet1!$A$2:$A$6</c:f>
              <c:strCache>
                <c:ptCount val="5"/>
                <c:pt idx="0">
                  <c:v>DeepSeek</c:v>
                </c:pt>
                <c:pt idx="1">
                  <c:v>Qwen-Max</c:v>
                </c:pt>
                <c:pt idx="2">
                  <c:v>Gemini</c:v>
                </c:pt>
                <c:pt idx="3">
                  <c:v>GPT-5</c:v>
                </c:pt>
                <c:pt idx="4">
                  <c:v>Claude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0.14</c:v>
                </c:pt>
                <c:pt idx="1">
                  <c:v>0.5</c:v>
                </c:pt>
                <c:pt idx="2">
                  <c:v>1.25</c:v>
                </c:pt>
                <c:pt idx="3">
                  <c:v>2.5</c:v>
                </c:pt>
                <c:pt idx="4">
                  <c:v>3.0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2D3EE"/>
              </a:solidFill>
            </c:spPr>
          </c:dPt>
          <c:dPt>
            <c:idx val="1"/>
            <c:spPr>
              <a:solidFill>
                <a:srgbClr val="4F46E5"/>
              </a:solidFill>
            </c:spPr>
          </c:dPt>
          <c:dPt>
            <c:idx val="2"/>
            <c:spPr>
              <a:solidFill>
                <a:srgbClr val="818CF8"/>
              </a:solidFill>
            </c:spPr>
          </c:dPt>
          <c:dPt>
            <c:idx val="3"/>
            <c:spPr>
              <a:solidFill>
                <a:srgbClr val="34D399"/>
              </a:solidFill>
            </c:spPr>
          </c:dPt>
          <c:dPt>
            <c:idx val="4"/>
            <c:spPr>
              <a:solidFill>
                <a:srgbClr val="F472B6"/>
              </a:solidFill>
            </c:spPr>
          </c:dPt>
          <c:cat>
            <c:strRef>
              <c:f>Sheet1!$A$2:$A$6</c:f>
              <c:strCache>
                <c:ptCount val="5"/>
                <c:pt idx="0">
                  <c:v>算力基础设施</c:v>
                </c:pt>
                <c:pt idx="1">
                  <c:v>模型研发</c:v>
                </c:pt>
                <c:pt idx="2">
                  <c:v>商业化与人才</c:v>
                </c:pt>
                <c:pt idx="3">
                  <c:v>生态与开源</c:v>
                </c:pt>
                <c:pt idx="4">
                  <c:v>安全与治理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45.0</c:v>
                </c:pt>
                <c:pt idx="1">
                  <c:v>25.0</c:v>
                </c:pt>
                <c:pt idx="2">
                  <c:v>13.0</c:v>
                </c:pt>
                <c:pt idx="3">
                  <c:v>12.0</c:v>
                </c:pt>
                <c:pt idx="4">
                  <c:v>5.0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F2937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solidFill>
            <a:srgbClr val="1F2937"/>
          </a:solidFill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6888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9184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3776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5256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848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2144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82296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64592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46888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29184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11480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76072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glow rad="228600">
              <a:srgbClr val="22D3EE">
                <a:alpha val="3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-1371600" y="4937760"/>
            <a:ext cx="3840480" cy="384048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glow rad="228600">
              <a:srgbClr val="4F46E5">
                <a:alpha val="3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D3EE"/>
                </a:solidFill>
                <a:latin typeface="JetBrains Mono"/>
                <a:ea typeface="微软雅黑"/>
                <a:cs typeface="微软雅黑"/>
              </a:rPr>
              <a:t>// DEEPSEEK · B ROUND · ¥50,000,000,000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9659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latin typeface="Orbitron"/>
                <a:ea typeface="微软雅黑"/>
                <a:cs typeface="微软雅黑"/>
                <a:gradFill>
                  <a:gsLst>
                    <a:gs pos="0">
                      <a:srgbClr val="22D3EE"/>
                    </a:gs>
                    <a:gs pos="60">
                      <a:srgbClr val="818CF8"/>
                    </a:gs>
                    <a:gs pos="100">
                      <a:srgbClr val="4F46E5"/>
                    </a:gs>
                  </a:gsLst>
                  <a:lin ang="5400000" scaled="1"/>
                </a:gradFill>
              </a:rPr>
              <a:t>让智能的成本，下降一个数量级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3520440"/>
            <a:ext cx="14630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DeepSeek · 以极致效率重塑大模型竞争格局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B 轮融资商业计划书  |  融资规模 500 亿元人民币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120640"/>
            <a:ext cx="109728" cy="640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综合能力全球第一梯队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Capability · Top 3 Globally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5120640"/>
            <a:ext cx="109728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推理成本低一个数量级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1/20 Cost vs. Closed Models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5120640"/>
            <a:ext cx="109728" cy="6400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5120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开源生态全球第一梯队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5440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MIT · 1,500+ Derivatives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3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3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041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585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7772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5448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3172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4067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1791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Orbitron"/>
                <a:ea typeface="微软雅黑"/>
                <a:cs typeface="微软雅黑"/>
              </a:rPr>
              <a:t>愿景：金钱以外的事情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86868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VISION — 以善意与技术普惠智能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1143000"/>
            <a:ext cx="10545775" cy="3657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1463040"/>
            <a:ext cx="10515600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16002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「我们是怀着一个对这个世界非常大的善意来做这个事情，这是一个金钱以外的事情。」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2286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— 梁文锋 · DeepSeek 创始人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2926080"/>
            <a:ext cx="3291840" cy="2286000"/>
          </a:xfrm>
          <a:prstGeom prst="roundRect">
            <a:avLst/>
          </a:prstGeom>
          <a:solidFill>
            <a:srgbClr val="141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2926080"/>
            <a:ext cx="3291840" cy="822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愿景驱动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3749039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「一个公司最重要的是愿景」—— 靠愿景而非规章制度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34840" y="2926080"/>
            <a:ext cx="3291840" cy="2286000"/>
          </a:xfrm>
          <a:prstGeom prst="roundRect">
            <a:avLst/>
          </a:prstGeom>
          <a:solidFill>
            <a:srgbClr val="141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34840" y="2926080"/>
            <a:ext cx="3291840" cy="822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克制即开源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3749039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「开源属于克制的一部分，越克制越容易做成」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2926080"/>
            <a:ext cx="3291840" cy="2286000"/>
          </a:xfrm>
          <a:prstGeom prst="roundRect">
            <a:avLst/>
          </a:prstGeom>
          <a:solidFill>
            <a:srgbClr val="141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2926080"/>
            <a:ext cx="3291840" cy="822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效率即普惠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749039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「让大家都用得起」—— 低成本是愿景，不是商业策略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818CF8"/>
                </a:solidFill>
                <a:latin typeface="Orbitron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rbitron"/>
                <a:ea typeface="微软雅黑"/>
                <a:cs typeface="微软雅黑"/>
              </a:rPr>
              <a:t>竞争格局剖析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3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3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041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585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7772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5448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3172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4067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1791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Orbitron"/>
                <a:ea typeface="微软雅黑"/>
                <a:cs typeface="微软雅黑"/>
              </a:rPr>
              <a:t>全球基座模型竞争版图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86868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COMPETITIVE LANDSCAPE — 头部模型综合能力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1143000"/>
            <a:ext cx="10545775" cy="3657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822960" y="155448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8138160" y="1554480"/>
            <a:ext cx="3200400" cy="1005840"/>
          </a:xfrm>
          <a:prstGeom prst="roundRect">
            <a:avLst/>
          </a:prstGeom>
          <a:solidFill>
            <a:srgbClr val="141B33"/>
          </a:solidFill>
          <a:ln w="12700">
            <a:solidFill>
              <a:srgbClr val="2A36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1554480"/>
            <a:ext cx="3200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46E5"/>
                </a:solidFill>
                <a:latin typeface="Orbitron"/>
                <a:ea typeface="微软雅黑"/>
                <a:cs typeface="微软雅黑"/>
              </a:rPr>
              <a:t>92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240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综合能力指数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5146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JetBrains Mono"/>
                <a:ea typeface="微软雅黑"/>
                <a:cs typeface="微软雅黑"/>
              </a:rPr>
              <a:t>全球前三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2697480"/>
            <a:ext cx="3200400" cy="1005840"/>
          </a:xfrm>
          <a:prstGeom prst="roundRect">
            <a:avLst/>
          </a:prstGeom>
          <a:solidFill>
            <a:srgbClr val="141B33"/>
          </a:solidFill>
          <a:ln w="12700">
            <a:solidFill>
              <a:srgbClr val="2A36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2697480"/>
            <a:ext cx="3200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46E5"/>
                </a:solidFill>
                <a:latin typeface="Orbitron"/>
                <a:ea typeface="微软雅黑"/>
                <a:cs typeface="微软雅黑"/>
              </a:rPr>
              <a:t>1/20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383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推理成本倍差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6576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JetBrains Mono"/>
                <a:ea typeface="微软雅黑"/>
                <a:cs typeface="微软雅黑"/>
              </a:rPr>
              <a:t>成本领先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840480"/>
            <a:ext cx="3200400" cy="1005840"/>
          </a:xfrm>
          <a:prstGeom prst="roundRect">
            <a:avLst/>
          </a:prstGeom>
          <a:solidFill>
            <a:srgbClr val="141B33"/>
          </a:solidFill>
          <a:ln w="12700">
            <a:solidFill>
              <a:srgbClr val="2A36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3840480"/>
            <a:ext cx="3200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4069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46E5"/>
                </a:solidFill>
                <a:latin typeface="Orbitron"/>
                <a:ea typeface="微软雅黑"/>
                <a:cs typeface="微软雅黑"/>
              </a:rPr>
              <a:t>Top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526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开发者心智份额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8006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JetBrains Mono"/>
                <a:ea typeface="微软雅黑"/>
                <a:cs typeface="微软雅黑"/>
              </a:rPr>
              <a:t>开源生态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3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3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041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585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7772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5448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3172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4067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1791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Orbitron"/>
                <a:ea typeface="微软雅黑"/>
                <a:cs typeface="微软雅黑"/>
              </a:rPr>
              <a:t>五大竞争维度，DeepSeek 已占其三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86868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FIVE DIMENSIONS — Where We Lead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1143000"/>
            <a:ext cx="10545775" cy="3657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1554480"/>
            <a:ext cx="128016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1554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能力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Orbitron"/>
                <a:ea typeface="微软雅黑"/>
                <a:cs typeface="微软雅黑"/>
              </a:rPr>
              <a:t>92/100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1664207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第一梯队，编码与推理持平最强闭源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2542032"/>
            <a:ext cx="128016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2542032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成本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254203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Orbitron"/>
                <a:ea typeface="微软雅黑"/>
                <a:cs typeface="微软雅黑"/>
              </a:rPr>
              <a:t>1/20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2651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推理成本仅为头部闭源竞品二十分之一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3529584"/>
            <a:ext cx="128016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3529584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开源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3529584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18CF8"/>
                </a:solidFill>
                <a:latin typeface="Orbitron"/>
                <a:ea typeface="微软雅黑"/>
                <a:cs typeface="微软雅黑"/>
              </a:rPr>
              <a:t>MIT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3639312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全量开源，全球衍生模型 1,500+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4517136"/>
            <a:ext cx="128016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4517136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生态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4517136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Orbitron"/>
                <a:ea typeface="微软雅黑"/>
                <a:cs typeface="微软雅黑"/>
              </a:rPr>
              <a:t>Top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462686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Hugging Face 影响力、框架原生集成领先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5504688"/>
            <a:ext cx="128016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550468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商业化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5504688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18CF8"/>
                </a:solidFill>
                <a:latin typeface="Orbitron"/>
                <a:ea typeface="微软雅黑"/>
                <a:cs typeface="微软雅黑"/>
              </a:rPr>
              <a:t>领跑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561441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API 价格战主动方，以价换量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818CF8"/>
                </a:solidFill>
                <a:latin typeface="Orbitron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rbitron"/>
                <a:ea typeface="微软雅黑"/>
                <a:cs typeface="微软雅黑"/>
              </a:rPr>
              <a:t>DeepSeek 的技术内核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3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3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041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585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7772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5448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3172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4067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1791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Orbitron"/>
                <a:ea typeface="微软雅黑"/>
                <a:cs typeface="微软雅黑"/>
              </a:rPr>
              <a:t>三大技术护城河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86868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TECH MOAT — 架构 · 范式 · 工程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1143000"/>
            <a:ext cx="10545775" cy="3657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1554480"/>
            <a:ext cx="3566160" cy="4206240"/>
          </a:xfrm>
          <a:prstGeom prst="roundRect">
            <a:avLst/>
          </a:prstGeom>
          <a:solidFill>
            <a:srgbClr val="141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1554480"/>
            <a:ext cx="3566160" cy="4206240"/>
          </a:xfrm>
          <a:prstGeom prst="roundRect">
            <a:avLst/>
          </a:prstGeom>
          <a:noFill/>
          <a:ln w="25400">
            <a:solidFill>
              <a:srgbClr val="accent"/>
            </a:solidFill>
          </a:ln>
          <a:effectLst>
            <a:glow rad="76200">
              <a:srgbClr val="accent">
                <a:alpha val="6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1920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2D3EE"/>
                </a:solidFill>
                <a:latin typeface="Orbitron"/>
                <a:ea typeface="微软雅黑"/>
                <a:cs typeface="微软雅黑"/>
              </a:rPr>
              <a:t>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2880360"/>
            <a:ext cx="64008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3063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MoE 架构工程化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38862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671B 参数、激活 37B 的稀疏专家架构，训练成本仅为同规模密集模型的零头。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1554480"/>
            <a:ext cx="3566160" cy="4206240"/>
          </a:xfrm>
          <a:prstGeom prst="roundRect">
            <a:avLst/>
          </a:prstGeom>
          <a:solidFill>
            <a:srgbClr val="141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63440" y="1554480"/>
            <a:ext cx="3566160" cy="4206240"/>
          </a:xfrm>
          <a:prstGeom prst="roundRect">
            <a:avLst/>
          </a:prstGeom>
          <a:noFill/>
          <a:ln w="25400">
            <a:solidFill>
              <a:srgbClr val="success"/>
            </a:solidFill>
          </a:ln>
          <a:effectLst>
            <a:glow rad="76200">
              <a:srgbClr val="success">
                <a:alpha val="6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1920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4D399"/>
                </a:solidFill>
                <a:latin typeface="Orbitron"/>
                <a:ea typeface="微软雅黑"/>
                <a:cs typeface="微软雅黑"/>
              </a:rPr>
              <a:t>02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2880360"/>
            <a:ext cx="64008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3063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强化学习新范式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80" y="38862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R1 以纯强化学习激发推理涌现，论文登上 Nature 封面，方法论被全球跟进。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03920" y="1554480"/>
            <a:ext cx="3566160" cy="4206240"/>
          </a:xfrm>
          <a:prstGeom prst="roundRect">
            <a:avLst/>
          </a:prstGeom>
          <a:solidFill>
            <a:srgbClr val="141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503920" y="1554480"/>
            <a:ext cx="3566160" cy="4206240"/>
          </a:xfrm>
          <a:prstGeom prst="roundRect">
            <a:avLst/>
          </a:prstGeom>
          <a:noFill/>
          <a:ln w="25400">
            <a:solidFill>
              <a:srgbClr val="light"/>
            </a:solidFill>
          </a:ln>
          <a:effectLst>
            <a:glow rad="76200">
              <a:srgbClr val="light">
                <a:alpha val="6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23960" y="1920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818CF8"/>
                </a:solidFill>
                <a:latin typeface="Orbitron"/>
                <a:ea typeface="微软雅黑"/>
                <a:cs typeface="微软雅黑"/>
              </a:rPr>
              <a:t>03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3960" y="2880360"/>
            <a:ext cx="64008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60" y="3063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极致成本工程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38862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算子级优化 + 训练框架自研，万卡集群 MFU 达行业顶尖水平。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3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3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041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585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7772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5448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3172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4067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1791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Orbitron"/>
                <a:ea typeface="微软雅黑"/>
                <a:cs typeface="微软雅黑"/>
              </a:rPr>
              <a:t>推理成本：一个数量级的差距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86868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COST — Per 1M Output Tokens (USD)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1143000"/>
            <a:ext cx="10545775" cy="3657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822960" y="155448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Rectangle 31"/>
          <p:cNvSpPr/>
          <p:nvPr/>
        </p:nvSpPr>
        <p:spPr>
          <a:xfrm>
            <a:off x="8046720" y="1554480"/>
            <a:ext cx="3291840" cy="4206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46720" y="1298448"/>
            <a:ext cx="822959" cy="22860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12984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  <a:ea typeface="微软雅黑"/>
                <a:cs typeface="微软雅黑"/>
              </a:rPr>
              <a:t>shell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1691639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deepseek API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/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POST /chat/completions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model: deepseek-chat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input : $0.27 / 1M tokens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output: $0.14 / 1M tokens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/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// 一个数量级的价差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// = 开发者心智的起点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3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3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041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585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7772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5448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3172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4067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1791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Orbitron"/>
                <a:ea typeface="微软雅黑"/>
                <a:cs typeface="微软雅黑"/>
              </a:rPr>
              <a:t>开源战略：克制，是最好的进攻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86868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OPEN SOURCE — MIT · 克制 · 普惠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1143000"/>
            <a:ext cx="10545775" cy="3657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1554480"/>
            <a:ext cx="4937760" cy="4023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1298448"/>
            <a:ext cx="1042415" cy="22860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1298448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  <a:ea typeface="微软雅黑"/>
                <a:cs typeface="微软雅黑"/>
              </a:rPr>
              <a:t>license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1691639"/>
            <a:ext cx="45720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MIT License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/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Copyright (c) 2025 DeepSeek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/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Permission is hereby granted,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free of charge, to any person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obtaining a copy of this software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and associated documentation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files (the "Software"), to deal in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D4D4D4"/>
                </a:solidFill>
                <a:latin typeface="Consolas"/>
              </a:rPr>
              <a:t>the Software without restriction.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1554480"/>
            <a:ext cx="128016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554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2D3EE"/>
                </a:solidFill>
                <a:latin typeface="Orbitron"/>
                <a:ea typeface="微软雅黑"/>
                <a:cs typeface="微软雅黑"/>
              </a:rPr>
              <a:t>1,500+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开源衍生模型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578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事实上的技术标准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035808"/>
            <a:ext cx="128016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03580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34D399"/>
                </a:solidFill>
                <a:latin typeface="Orbitron"/>
                <a:ea typeface="微软雅黑"/>
                <a:cs typeface="微软雅黑"/>
              </a:rPr>
              <a:t>#1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7216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开发者心智增速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0599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Hugging Face 全球前列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517136"/>
            <a:ext cx="128016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4517136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18CF8"/>
                </a:solidFill>
                <a:latin typeface="Orbitron"/>
                <a:ea typeface="微软雅黑"/>
                <a:cs typeface="微软雅黑"/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2029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三方框架支持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5412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vLLM / SGLang / Ollama 原生集成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818CF8"/>
                </a:solidFill>
                <a:latin typeface="Orbitron"/>
                <a:ea typeface="微软雅黑"/>
                <a:cs typeface="微软雅黑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rbitron"/>
                <a:ea typeface="微软雅黑"/>
                <a:cs typeface="微软雅黑"/>
              </a:rPr>
              <a:t>B 轮融资计划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3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3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041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585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7772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5448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3172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4067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1791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Orbitron"/>
                <a:ea typeface="微软雅黑"/>
                <a:cs typeface="微软雅黑"/>
              </a:rPr>
              <a:t>融资规模：500 亿元人民币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86868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B ROUND — CAPITAL RAISING ¥50B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1143000"/>
            <a:ext cx="10545775" cy="3657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155448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latin typeface="Orbitron"/>
                <a:gradFill>
                  <a:gsLst>
                    <a:gs pos="0">
                      <a:srgbClr val="22D3EE"/>
                    </a:gs>
                    <a:gs pos="100">
                      <a:srgbClr val="818CF8"/>
                    </a:gs>
                  </a:gsLst>
                  <a:lin ang="5400000" scaled="1"/>
                </a:gradFill>
              </a:rPr>
              <a:t>500 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RMB · B 轮融资规模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0" y="1645920"/>
            <a:ext cx="1600200" cy="2926080"/>
          </a:xfrm>
          <a:prstGeom prst="roundRect">
            <a:avLst/>
          </a:prstGeom>
          <a:solidFill>
            <a:srgbClr val="141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6320" y="1645920"/>
            <a:ext cx="1600200" cy="822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201168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2D3EE"/>
                </a:solidFill>
                <a:latin typeface="Orbitron"/>
                <a:ea typeface="微软雅黑"/>
                <a:cs typeface="微软雅黑"/>
              </a:rPr>
              <a:t>45%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2743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算力基础设施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338328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225 亿元 · 10 万卡集群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1645920"/>
            <a:ext cx="1600200" cy="2926080"/>
          </a:xfrm>
          <a:prstGeom prst="roundRect">
            <a:avLst/>
          </a:prstGeom>
          <a:solidFill>
            <a:srgbClr val="141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29400" y="1645920"/>
            <a:ext cx="1600200" cy="822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201168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4D399"/>
                </a:solidFill>
                <a:latin typeface="Orbitron"/>
                <a:ea typeface="微软雅黑"/>
                <a:cs typeface="微软雅黑"/>
              </a:rPr>
              <a:t>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2743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模型研发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38328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125 亿元 · V4/R2 下一代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1645920"/>
            <a:ext cx="1600200" cy="2926080"/>
          </a:xfrm>
          <a:prstGeom prst="roundRect">
            <a:avLst/>
          </a:prstGeom>
          <a:solidFill>
            <a:srgbClr val="141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12480" y="1645920"/>
            <a:ext cx="1600200" cy="822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59" y="201168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18CF8"/>
                </a:solidFill>
                <a:latin typeface="Orbitron"/>
                <a:ea typeface="微软雅黑"/>
                <a:cs typeface="微软雅黑"/>
              </a:rPr>
              <a:t>12%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59" y="2743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生态与开源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59" y="338328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60 亿元 · 社区与开发者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95559" y="1645920"/>
            <a:ext cx="1600200" cy="2926080"/>
          </a:xfrm>
          <a:prstGeom prst="roundRect">
            <a:avLst/>
          </a:prstGeom>
          <a:solidFill>
            <a:srgbClr val="141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95559" y="1645920"/>
            <a:ext cx="1600200" cy="822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78439" y="201168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2D3EE"/>
                </a:solidFill>
                <a:latin typeface="Orbitron"/>
                <a:ea typeface="微软雅黑"/>
                <a:cs typeface="微软雅黑"/>
              </a:rPr>
              <a:t>13%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39" y="2743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商业化与人才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78439" y="338328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65 亿元 · 团队翻倍至 2,000 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估值对标全球顶级基座模型 B 轮区间 · 拟引入战略产业资本与长线财务投资人 · 聚焦算力、研发、生态三大战场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3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3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7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0411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5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58599" y="0"/>
            <a:ext cx="4572" cy="6858000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7772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5448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3172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4067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17919"/>
            <a:ext cx="12191695" cy="4572"/>
          </a:xfrm>
          <a:prstGeom prst="rect">
            <a:avLst/>
          </a:prstGeom>
          <a:solidFill>
            <a:srgbClr val="2A3650">
              <a:alpha val="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Orbitron"/>
                <a:ea typeface="微软雅黑"/>
                <a:cs typeface="微软雅黑"/>
              </a:rPr>
              <a:t>资金用途分配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86868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  <a:ea typeface="微软雅黑"/>
                <a:cs typeface="微软雅黑"/>
              </a:rPr>
              <a:t>ALLOCATION — 500 亿元用途占比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1143000"/>
            <a:ext cx="10545775" cy="3657"/>
          </a:xfrm>
          <a:prstGeom prst="rect">
            <a:avLst/>
          </a:prstGeom>
          <a:solidFill>
            <a:srgbClr val="2A3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1737359" y="1280159"/>
          <a:ext cx="63093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Rectangle 31"/>
          <p:cNvSpPr/>
          <p:nvPr/>
        </p:nvSpPr>
        <p:spPr>
          <a:xfrm>
            <a:off x="7498079" y="1554480"/>
            <a:ext cx="128016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1554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算力基建 · 225 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0116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自建 3 个智算中心，新增 10 万卡集群；国产芯片多路线适配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2971800"/>
            <a:ext cx="128016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29718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研发与生态 · 185 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4290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V4/R2 下一代基模、多模态与持续学习；开源社区与人才引进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4389120"/>
            <a:ext cx="128016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43891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商业化 · 90 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463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全球化部署、头部客户拓展、开发者增长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6888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9184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3776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5256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848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21440" y="0"/>
            <a:ext cx="4572" cy="6858000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82296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64592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46888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29184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11480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76072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4572"/>
          </a:xfrm>
          <a:prstGeom prst="rect">
            <a:avLst/>
          </a:prstGeom>
          <a:solidFill>
            <a:srgbClr val="2A3650">
              <a:alpha val="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0" y="-1371600"/>
            <a:ext cx="4114800" cy="411480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glow rad="228600">
              <a:srgbClr val="22D3EE">
                <a:alpha val="3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glow rad="228600">
              <a:srgbClr val="4F46E5">
                <a:alpha val="3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D3EE"/>
                </a:solidFill>
                <a:latin typeface="JetBrains Mono"/>
                <a:ea typeface="微软雅黑"/>
                <a:cs typeface="微软雅黑"/>
              </a:rPr>
              <a:t>// 用最低的成本，赢得最宽的生态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latin typeface="Orbitron"/>
                <a:ea typeface="微软雅黑"/>
                <a:cs typeface="微软雅黑"/>
                <a:gradFill>
                  <a:gsLst>
                    <a:gs pos="0">
                      <a:srgbClr val="22D3EE"/>
                    </a:gs>
                    <a:gs pos="100">
                      <a:srgbClr val="818CF8"/>
                    </a:gs>
                  </a:gsLst>
                  <a:lin ang="5400000" scaled="1"/>
                </a:gradFill>
              </a:rPr>
              <a:t>让智能普惠到每一个人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3566160"/>
            <a:ext cx="14630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500 亿元融资 · 联合主承销 / 战略投资人开放洽谈中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我们怀着对这个世界非常大的善意做这件事——这是金钱以外的事情。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212080"/>
            <a:ext cx="3108960" cy="64008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0E1E"/>
                </a:solidFill>
                <a:latin typeface="微软雅黑"/>
                <a:ea typeface="微软雅黑"/>
                <a:cs typeface="微软雅黑"/>
              </a:rPr>
              <a:t>进入尽调环节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E2E8F0"/>
      </a:dk1>
      <a:lt1>
        <a:srgbClr val="0B102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