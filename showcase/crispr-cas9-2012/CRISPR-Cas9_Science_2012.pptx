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相对切割效率</c:v>
                </c:pt>
              </c:strCache>
            </c:strRef>
          </c:tx>
          <c:spPr>
            <a:solidFill>
              <a:srgbClr val="C0392B"/>
            </a:solidFill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PAM端1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14远端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0.95</c:v>
                </c:pt>
                <c:pt idx="1">
                  <c:v>0.88</c:v>
                </c:pt>
                <c:pt idx="2">
                  <c:v>0.75</c:v>
                </c:pt>
                <c:pt idx="3">
                  <c:v>0.6</c:v>
                </c:pt>
                <c:pt idx="4">
                  <c:v>0.4</c:v>
                </c:pt>
                <c:pt idx="5">
                  <c:v>0.25</c:v>
                </c:pt>
                <c:pt idx="6">
                  <c:v>0.1</c:v>
                </c:pt>
                <c:pt idx="7">
                  <c:v>0.05</c:v>
                </c:pt>
                <c:pt idx="8">
                  <c:v>0.08</c:v>
                </c:pt>
                <c:pt idx="9">
                  <c:v>0.12</c:v>
                </c:pt>
                <c:pt idx="10">
                  <c:v>0.2</c:v>
                </c:pt>
                <c:pt idx="11">
                  <c:v>0.35</c:v>
                </c:pt>
                <c:pt idx="12">
                  <c:v>0.5</c:v>
                </c:pt>
                <c:pt idx="13">
                  <c:v>0.7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F2937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>
                    <a:solidFill>
                      <a:srgbClr val="1F2937"/>
                    </a:solidFill>
                  </a:rPr>
                  <a:t>相对切割效率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F2937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>
          <a:solidFill>
            <a:srgbClr val="1F2937"/>
          </a:solidFill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ea typeface="微软雅黑"/>
                <a:cs typeface="微软雅黑"/>
              </a:rPr>
              <a:t>FRONTIERS IN BIOLOGY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C3E50"/>
                </a:solidFill>
                <a:ea typeface="微软雅黑"/>
                <a:cs typeface="微软雅黑"/>
              </a:rPr>
              <a:t>CRISPR-Cas9 基因编辑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4495E"/>
                </a:solidFill>
                <a:ea typeface="微软雅黑"/>
                <a:cs typeface="微软雅黑"/>
              </a:rPr>
              <a:t>从分子机制到技术应用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3E50"/>
                </a:solidFill>
                <a:ea typeface="微软雅黑"/>
                <a:cs typeface="微软雅黑"/>
              </a:rPr>
              <a:t>Target DNA: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834640"/>
            <a:ext cx="256031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2880725"/>
            <a:ext cx="256031" cy="26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834640"/>
            <a:ext cx="256031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2880725"/>
            <a:ext cx="256031" cy="26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2834640"/>
            <a:ext cx="256031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2880725"/>
            <a:ext cx="256031" cy="26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2834640"/>
            <a:ext cx="256031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2880725"/>
            <a:ext cx="256031" cy="26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2834640"/>
            <a:ext cx="256031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2880725"/>
            <a:ext cx="256031" cy="26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2834640"/>
            <a:ext cx="256031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0" y="2880725"/>
            <a:ext cx="256031" cy="26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2834640"/>
            <a:ext cx="256031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880725"/>
            <a:ext cx="256031" cy="26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2834640"/>
            <a:ext cx="256031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2880725"/>
            <a:ext cx="256031" cy="26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0" y="2834640"/>
            <a:ext cx="256031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0" y="2880725"/>
            <a:ext cx="256031" cy="26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12079" y="2834640"/>
            <a:ext cx="256031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79" y="2880725"/>
            <a:ext cx="256031" cy="26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0" y="2834640"/>
            <a:ext cx="256031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0" y="2880725"/>
            <a:ext cx="256031" cy="26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60720" y="2834640"/>
            <a:ext cx="256031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720" y="2880725"/>
            <a:ext cx="256031" cy="26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834640"/>
            <a:ext cx="256031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0" y="2880725"/>
            <a:ext cx="256031" cy="26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2834640"/>
            <a:ext cx="256031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2880725"/>
            <a:ext cx="256031" cy="26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2834640"/>
            <a:ext cx="256031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2880725"/>
            <a:ext cx="256031" cy="26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2834640"/>
            <a:ext cx="256031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2880725"/>
            <a:ext cx="256031" cy="26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0" y="2834640"/>
            <a:ext cx="256031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0" y="2880725"/>
            <a:ext cx="256031" cy="26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0" y="2834640"/>
            <a:ext cx="256031" cy="38404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0" y="2880725"/>
            <a:ext cx="256031" cy="26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17520" y="2834640"/>
            <a:ext cx="256031" cy="38404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17520" y="2880725"/>
            <a:ext cx="256031" cy="26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91840" y="2834640"/>
            <a:ext cx="256031" cy="38404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91840" y="2880725"/>
            <a:ext cx="256031" cy="26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66160" y="2834640"/>
            <a:ext cx="256031" cy="38404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66160" y="2880725"/>
            <a:ext cx="256031" cy="26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40480" y="2834640"/>
            <a:ext cx="256031" cy="38404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40480" y="2880725"/>
            <a:ext cx="256031" cy="26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0" y="2834640"/>
            <a:ext cx="256031" cy="38404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0" y="2880725"/>
            <a:ext cx="256031" cy="26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89120" y="2834640"/>
            <a:ext cx="256031" cy="38404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89120" y="2880725"/>
            <a:ext cx="256031" cy="26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C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63440" y="2834640"/>
            <a:ext cx="256031" cy="38404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63440" y="2880725"/>
            <a:ext cx="256031" cy="26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37760" y="2834640"/>
            <a:ext cx="256031" cy="38404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37760" y="2880725"/>
            <a:ext cx="256031" cy="26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12079" y="2834640"/>
            <a:ext cx="256031" cy="38404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212079" y="2880725"/>
            <a:ext cx="256031" cy="26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0" y="2834640"/>
            <a:ext cx="256031" cy="38404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0" y="2880725"/>
            <a:ext cx="256031" cy="26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760720" y="2834640"/>
            <a:ext cx="256031" cy="38404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760720" y="2880725"/>
            <a:ext cx="256031" cy="26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35040" y="2834640"/>
            <a:ext cx="256031" cy="38404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35040" y="2880725"/>
            <a:ext cx="256031" cy="26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834640"/>
            <a:ext cx="256031" cy="38404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09360" y="2880725"/>
            <a:ext cx="256031" cy="26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G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583680" y="2834640"/>
            <a:ext cx="256031" cy="38404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583680" y="2880725"/>
            <a:ext cx="256031" cy="26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858000" y="2834640"/>
            <a:ext cx="256031" cy="38404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858000" y="2880725"/>
            <a:ext cx="256031" cy="26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C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132320" y="2834640"/>
            <a:ext cx="256031" cy="38404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32320" y="2880725"/>
            <a:ext cx="256031" cy="26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4400" y="6035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F8C8D"/>
                </a:solidFill>
                <a:ea typeface="微软雅黑"/>
                <a:cs typeface="微软雅黑"/>
              </a:rPr>
              <a:t>Jinek M, et al. Science 2012; 337:816-821  |  doi:10.1126/science.1225829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459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  <a:ea typeface="微软雅黑"/>
                <a:cs typeface="微软雅黑"/>
              </a:rPr>
              <a:t>Figure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6459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C3E50"/>
                </a:solidFill>
                <a:ea typeface="微软雅黑"/>
                <a:cs typeface="微软雅黑"/>
              </a:rPr>
              <a:t>Cas9 切割依赖双 RNA 引导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10881360" cy="13716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3E50"/>
                </a:solidFill>
                <a:ea typeface="微软雅黑"/>
                <a:cs typeface="微软雅黑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19" y="685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  <a:ea typeface="微软雅黑"/>
                <a:cs typeface="微软雅黑"/>
              </a:rPr>
              <a:t>sgRNA-DNA 序列比对与 Cas9 切割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ea typeface="微软雅黑"/>
                <a:cs typeface="微软雅黑"/>
              </a:rPr>
              <a:t>5'→3' Target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1005840"/>
            <a:ext cx="292608" cy="32918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1045342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31136" y="1005840"/>
            <a:ext cx="292608" cy="32918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31136" y="1045342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2032" y="1005840"/>
            <a:ext cx="292608" cy="32918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42032" y="1045342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2928" y="1005840"/>
            <a:ext cx="292608" cy="32918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2928" y="1045342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63824" y="1005840"/>
            <a:ext cx="292608" cy="32918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63824" y="1045342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0" y="1005840"/>
            <a:ext cx="292608" cy="32918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1045342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85616" y="1005840"/>
            <a:ext cx="292608" cy="32918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5616" y="1045342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96512" y="1005840"/>
            <a:ext cx="292608" cy="32918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96512" y="1045342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07408" y="1005840"/>
            <a:ext cx="292608" cy="32918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07408" y="1045342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18304" y="1005840"/>
            <a:ext cx="292608" cy="32918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18304" y="1045342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1005840"/>
            <a:ext cx="292608" cy="32918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0" y="1045342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40096" y="1005840"/>
            <a:ext cx="292608" cy="32918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40096" y="1045342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50992" y="1005840"/>
            <a:ext cx="292608" cy="32918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50992" y="1045342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61888" y="1005840"/>
            <a:ext cx="292608" cy="32918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61888" y="1045342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72784" y="1005840"/>
            <a:ext cx="292608" cy="32918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72784" y="1045342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0" y="1005840"/>
            <a:ext cx="292608" cy="32918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1045342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94576" y="1005840"/>
            <a:ext cx="292608" cy="32918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94576" y="1045342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1005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39C12"/>
                </a:solidFill>
                <a:ea typeface="微软雅黑"/>
                <a:cs typeface="微软雅黑"/>
              </a:rPr>
              <a:t>PAM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14813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ea typeface="微软雅黑"/>
                <a:cs typeface="微软雅黑"/>
              </a:rPr>
              <a:t>3'→5' Non-target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20240" y="1444752"/>
            <a:ext cx="292608" cy="32918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920240" y="1484254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31136" y="1444752"/>
            <a:ext cx="292608" cy="32918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31136" y="1484254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42032" y="1444752"/>
            <a:ext cx="292608" cy="32918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42032" y="1484254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52928" y="1444752"/>
            <a:ext cx="292608" cy="32918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52928" y="1484254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63824" y="1444752"/>
            <a:ext cx="292608" cy="32918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163824" y="1484254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474720" y="1444752"/>
            <a:ext cx="292608" cy="32918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74720" y="1484254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785616" y="1444752"/>
            <a:ext cx="292608" cy="32918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785616" y="1484254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096512" y="1444752"/>
            <a:ext cx="292608" cy="32918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096512" y="1484254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C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407408" y="1444752"/>
            <a:ext cx="292608" cy="32918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407408" y="1484254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18304" y="1444752"/>
            <a:ext cx="292608" cy="32918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1484254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0" y="1444752"/>
            <a:ext cx="292608" cy="32918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29200" y="1484254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340096" y="1444752"/>
            <a:ext cx="292608" cy="32918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40096" y="1484254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650992" y="1444752"/>
            <a:ext cx="292608" cy="32918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650992" y="1484254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C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961888" y="1444752"/>
            <a:ext cx="292608" cy="32918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961888" y="1484254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C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72784" y="1444752"/>
            <a:ext cx="292608" cy="32918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72784" y="1484254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C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583680" y="1444752"/>
            <a:ext cx="292608" cy="32918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83680" y="1484254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0080" y="1920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ea typeface="微软雅黑"/>
                <a:cs typeface="微软雅黑"/>
              </a:rPr>
              <a:t>5'→3' sgRNA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920240" y="1883664"/>
            <a:ext cx="292608" cy="32918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920240" y="1923166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231136" y="1883664"/>
            <a:ext cx="292608" cy="32918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231136" y="1923166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U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542032" y="1883664"/>
            <a:ext cx="292608" cy="32918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542032" y="1923166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C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852928" y="1883664"/>
            <a:ext cx="292608" cy="32918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852928" y="1923166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G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163824" y="1883664"/>
            <a:ext cx="292608" cy="32918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163824" y="1923166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U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474720" y="1883664"/>
            <a:ext cx="292608" cy="32918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474720" y="1923166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A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785616" y="1883664"/>
            <a:ext cx="292608" cy="32918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785616" y="1923166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C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096512" y="1883664"/>
            <a:ext cx="292608" cy="32918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096512" y="1923166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G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407408" y="1883664"/>
            <a:ext cx="292608" cy="32918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407408" y="1923166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U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718304" y="1883664"/>
            <a:ext cx="292608" cy="32918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718304" y="1923166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A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029200" y="1883664"/>
            <a:ext cx="292608" cy="32918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029200" y="1923166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A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340096" y="1883664"/>
            <a:ext cx="292608" cy="32918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340096" y="1923166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A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650992" y="1883664"/>
            <a:ext cx="292608" cy="32918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650992" y="1923166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G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961888" y="1883664"/>
            <a:ext cx="292608" cy="32918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961888" y="1923166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G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272784" y="1883664"/>
            <a:ext cx="292608" cy="329184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272784" y="1923166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G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583680" y="1883664"/>
            <a:ext cx="292608" cy="329184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583680" y="1923166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C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894576" y="1883664"/>
            <a:ext cx="292608" cy="329184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894576" y="1923166"/>
            <a:ext cx="292608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ea typeface="微软雅黑"/>
                <a:cs typeface="微软雅黑"/>
              </a:rPr>
              <a:t>G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760720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ea typeface="微软雅黑"/>
                <a:cs typeface="微软雅黑"/>
              </a:rPr>
              <a:t>✂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03504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0392B"/>
                </a:solidFill>
                <a:ea typeface="微软雅黑"/>
                <a:cs typeface="微软雅黑"/>
              </a:rPr>
              <a:t>DSB 切割位点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74320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ea typeface="微软雅黑"/>
                <a:cs typeface="微软雅黑"/>
              </a:rPr>
              <a:t>PAM 上游 3 bp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412480" y="685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3E50"/>
                </a:solidFill>
                <a:ea typeface="微软雅黑"/>
                <a:cs typeface="微软雅黑"/>
              </a:rPr>
              <a:t>b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732519" y="68580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  <a:ea typeface="微软雅黑"/>
                <a:cs typeface="微软雅黑"/>
              </a:rPr>
              <a:t>切割效率定量</a:t>
            </a:r>
          </a:p>
        </p:txBody>
      </p:sp>
      <p:grpSp>
        <p:nvGrpSpPr>
          <p:cNvPr id="116" name="Group 115"/>
          <p:cNvGrpSpPr/>
          <p:nvPr/>
        </p:nvGrpSpPr>
        <p:grpSpPr>
          <a:xfrm>
            <a:off x="7955279" y="1069848"/>
            <a:ext cx="4187953" cy="1490472"/>
            <a:chOff x="7955279" y="1069848"/>
            <a:chExt cx="4187953" cy="1490472"/>
          </a:xfrm>
        </p:grpSpPr>
        <p:sp>
          <p:nvSpPr>
            <p:cNvPr id="117" name="Rounded Rectangle 116"/>
            <p:cNvSpPr/>
            <p:nvPr/>
          </p:nvSpPr>
          <p:spPr>
            <a:xfrm>
              <a:off x="8778240" y="1097280"/>
              <a:ext cx="2743200" cy="365760"/>
            </a:xfrm>
            <a:prstGeom prst="roundRect">
              <a:avLst/>
            </a:prstGeom>
            <a:solidFill>
              <a:srgbClr val="F4F6F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" name="Rounded Rectangle 117"/>
            <p:cNvSpPr/>
            <p:nvPr/>
          </p:nvSpPr>
          <p:spPr>
            <a:xfrm>
              <a:off x="8778240" y="1097280"/>
              <a:ext cx="2606039" cy="365760"/>
            </a:xfrm>
            <a:prstGeom prst="roundRect">
              <a:avLst/>
            </a:prstGeom>
            <a:solidFill>
              <a:srgbClr val="1B5E2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7955279" y="1069848"/>
              <a:ext cx="77724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/>
              <a:r>
                <a:rPr sz="1200" b="0">
                  <a:solidFill>
                    <a:srgbClr val="34495E"/>
                  </a:solidFill>
                  <a:latin typeface="Arial"/>
                  <a:ea typeface="微软雅黑"/>
                  <a:cs typeface="微软雅黑"/>
                </a:rPr>
                <a:t>双 RNA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11594592" y="1069848"/>
              <a:ext cx="54864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200" b="1">
                  <a:solidFill>
                    <a:srgbClr val="2C3E50"/>
                  </a:solidFill>
                  <a:latin typeface="Arial"/>
                  <a:ea typeface="微软雅黑"/>
                  <a:cs typeface="微软雅黑"/>
                </a:rPr>
                <a:t>95%</a:t>
              </a:r>
            </a:p>
          </p:txBody>
        </p:sp>
        <p:sp>
          <p:nvSpPr>
            <p:cNvPr id="121" name="Rounded Rectangle 120"/>
            <p:cNvSpPr/>
            <p:nvPr/>
          </p:nvSpPr>
          <p:spPr>
            <a:xfrm>
              <a:off x="8778240" y="1645920"/>
              <a:ext cx="2743200" cy="365760"/>
            </a:xfrm>
            <a:prstGeom prst="roundRect">
              <a:avLst/>
            </a:prstGeom>
            <a:solidFill>
              <a:srgbClr val="F4F6F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" name="Rounded Rectangle 121"/>
            <p:cNvSpPr/>
            <p:nvPr/>
          </p:nvSpPr>
          <p:spPr>
            <a:xfrm>
              <a:off x="8778240" y="1645920"/>
              <a:ext cx="82296" cy="365760"/>
            </a:xfrm>
            <a:prstGeom prst="roundRect">
              <a:avLst/>
            </a:prstGeom>
            <a:solidFill>
              <a:srgbClr val="4CAF5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7955279" y="1618488"/>
              <a:ext cx="77724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/>
              <a:r>
                <a:rPr sz="1200" b="0">
                  <a:solidFill>
                    <a:srgbClr val="34495E"/>
                  </a:solidFill>
                  <a:latin typeface="Arial"/>
                  <a:ea typeface="微软雅黑"/>
                  <a:cs typeface="微软雅黑"/>
                </a:rPr>
                <a:t>仅 Cas9</a:t>
              </a: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11594592" y="1618488"/>
              <a:ext cx="54864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200" b="1">
                  <a:solidFill>
                    <a:srgbClr val="2C3E50"/>
                  </a:solidFill>
                  <a:latin typeface="Arial"/>
                  <a:ea typeface="微软雅黑"/>
                  <a:cs typeface="微软雅黑"/>
                </a:rPr>
                <a:t>3%</a:t>
              </a:r>
            </a:p>
          </p:txBody>
        </p:sp>
        <p:sp>
          <p:nvSpPr>
            <p:cNvPr id="125" name="Rounded Rectangle 124"/>
            <p:cNvSpPr/>
            <p:nvPr/>
          </p:nvSpPr>
          <p:spPr>
            <a:xfrm>
              <a:off x="8778240" y="2194560"/>
              <a:ext cx="2743200" cy="365760"/>
            </a:xfrm>
            <a:prstGeom prst="roundRect">
              <a:avLst/>
            </a:prstGeom>
            <a:solidFill>
              <a:srgbClr val="F4F6F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6" name="Rounded Rectangle 125"/>
            <p:cNvSpPr/>
            <p:nvPr/>
          </p:nvSpPr>
          <p:spPr>
            <a:xfrm>
              <a:off x="8778240" y="2194560"/>
              <a:ext cx="411479" cy="365760"/>
            </a:xfrm>
            <a:prstGeom prst="roundRect">
              <a:avLst/>
            </a:prstGeom>
            <a:solidFill>
              <a:srgbClr val="81C78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7955279" y="2167128"/>
              <a:ext cx="77724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/>
              <a:r>
                <a:rPr sz="1200" b="0">
                  <a:solidFill>
                    <a:srgbClr val="34495E"/>
                  </a:solidFill>
                  <a:latin typeface="Arial"/>
                  <a:ea typeface="微软雅黑"/>
                  <a:cs typeface="微软雅黑"/>
                </a:rPr>
                <a:t>单 RNA</a:t>
              </a: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11594592" y="2167128"/>
              <a:ext cx="54864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200" b="1">
                  <a:solidFill>
                    <a:srgbClr val="2C3E50"/>
                  </a:solidFill>
                  <a:latin typeface="Arial"/>
                  <a:ea typeface="微软雅黑"/>
                  <a:cs typeface="微软雅黑"/>
                </a:rPr>
                <a:t>15%</a:t>
              </a:r>
            </a:p>
          </p:txBody>
        </p:sp>
      </p:grpSp>
      <p:sp>
        <p:nvSpPr>
          <p:cNvPr id="129" name="TextBox 128"/>
          <p:cNvSpPr txBox="1"/>
          <p:nvPr/>
        </p:nvSpPr>
        <p:spPr>
          <a:xfrm>
            <a:off x="640080" y="3063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3E50"/>
                </a:solidFill>
                <a:ea typeface="微软雅黑"/>
                <a:cs typeface="微软雅黑"/>
              </a:rPr>
              <a:t>c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60119" y="3063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  <a:ea typeface="微软雅黑"/>
                <a:cs typeface="微软雅黑"/>
              </a:rPr>
              <a:t>双 RNA 引导组装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22960" y="3429000"/>
            <a:ext cx="2011680" cy="7315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22960" y="3520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ea typeface="微软雅黑"/>
                <a:cs typeface="微软雅黑"/>
              </a:rPr>
              <a:t>crRNA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22960" y="3794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ea typeface="微软雅黑"/>
                <a:cs typeface="微软雅黑"/>
              </a:rPr>
              <a:t>靶向信息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834640" y="36576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C3E50"/>
                </a:solidFill>
                <a:ea typeface="微软雅黑"/>
                <a:cs typeface="微软雅黑"/>
              </a:rPr>
              <a:t>+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3200400" y="3429000"/>
            <a:ext cx="201168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3200400" y="3520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ea typeface="微软雅黑"/>
                <a:cs typeface="微软雅黑"/>
              </a:rPr>
              <a:t>tracrRNA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200400" y="3794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ea typeface="微软雅黑"/>
                <a:cs typeface="微软雅黑"/>
              </a:rPr>
              <a:t>Cas9 结合骨架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577840" y="36576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C3E50"/>
                </a:solidFill>
                <a:ea typeface="微软雅黑"/>
                <a:cs typeface="微软雅黑"/>
              </a:rPr>
              <a:t>→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943600" y="3429000"/>
            <a:ext cx="2011680" cy="7315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943600" y="3520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ea typeface="微软雅黑"/>
                <a:cs typeface="微软雅黑"/>
              </a:rPr>
              <a:t>RNP 复合体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943600" y="3794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ea typeface="微软雅黑"/>
                <a:cs typeface="微软雅黑"/>
              </a:rPr>
              <a:t>Cas9 + 双 RNA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955279" y="36576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C3E50"/>
                </a:solidFill>
                <a:ea typeface="微软雅黑"/>
                <a:cs typeface="微软雅黑"/>
              </a:rPr>
              <a:t>→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321040" y="3429000"/>
            <a:ext cx="2011680" cy="7315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321040" y="3520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ea typeface="微软雅黑"/>
                <a:cs typeface="微软雅黑"/>
              </a:rPr>
              <a:t>靶 DNA 切割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412480" y="3063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3E50"/>
                </a:solidFill>
                <a:ea typeface="微软雅黑"/>
                <a:cs typeface="微软雅黑"/>
              </a:rPr>
              <a:t>d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732519" y="306324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  <a:ea typeface="微软雅黑"/>
                <a:cs typeface="微软雅黑"/>
              </a:rPr>
              <a:t>关键参数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778240" y="3429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ea typeface="微软雅黑"/>
                <a:cs typeface="微软雅黑"/>
              </a:rPr>
              <a:t>95.3±2.1%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607040" y="35021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ea typeface="微软雅黑"/>
                <a:cs typeface="微软雅黑"/>
              </a:rPr>
              <a:t>双 RNA 切割效率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778240" y="4114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E44AD"/>
                </a:solidFill>
                <a:ea typeface="微软雅黑"/>
                <a:cs typeface="微软雅黑"/>
              </a:rPr>
              <a:t>15.1±3.4%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0607040" y="4187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ea typeface="微软雅黑"/>
                <a:cs typeface="微软雅黑"/>
              </a:rPr>
              <a:t>单 RNA 切割效率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778240" y="4800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CC71"/>
                </a:solidFill>
                <a:ea typeface="微软雅黑"/>
                <a:cs typeface="微软雅黑"/>
              </a:rPr>
              <a:t>20 nt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607040" y="48737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ea typeface="微软雅黑"/>
                <a:cs typeface="微软雅黑"/>
              </a:rPr>
              <a:t>sgRNA 引导序列长度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778240" y="5486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39C12"/>
                </a:solidFill>
                <a:ea typeface="微软雅黑"/>
                <a:cs typeface="微软雅黑"/>
              </a:rPr>
              <a:t>3 bp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607040" y="55595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ea typeface="微软雅黑"/>
                <a:cs typeface="微软雅黑"/>
              </a:rPr>
              <a:t>PAM 上游切割位点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40080" y="5806440"/>
            <a:ext cx="164592" cy="16459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859536" y="57607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ea typeface="微软雅黑"/>
                <a:cs typeface="微软雅黑"/>
              </a:rPr>
              <a:t>靶 DNA 链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3017520" y="5806440"/>
            <a:ext cx="164592" cy="164592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3236976" y="57607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ea typeface="微软雅黑"/>
                <a:cs typeface="微软雅黑"/>
              </a:rPr>
              <a:t>非靶 DNA 链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5394960" y="5806440"/>
            <a:ext cx="164592" cy="1645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5614416" y="57607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ea typeface="微软雅黑"/>
                <a:cs typeface="微软雅黑"/>
              </a:rPr>
              <a:t>sgRNA 引导链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7772400" y="5806440"/>
            <a:ext cx="164592" cy="16459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7991856" y="57607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ea typeface="微软雅黑"/>
                <a:cs typeface="微软雅黑"/>
              </a:rPr>
              <a:t>PAM (5'-NGG-3')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40080" y="608076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F8C8D"/>
                </a:solidFill>
                <a:ea typeface="微软雅黑"/>
                <a:cs typeface="微软雅黑"/>
              </a:rPr>
              <a:t>Note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143000" y="6080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F8C8D"/>
                </a:solidFill>
                <a:ea typeface="微软雅黑"/>
                <a:cs typeface="微软雅黑"/>
              </a:rPr>
              <a:t>Cas9 是可编程核酸内切酶：sgRNA 20nt 决定靶点，PAM 决定可编辑范围。双 RNA 引导下切割效率显著高于单 RNA。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143000" y="62819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ea typeface="微软雅黑"/>
                <a:cs typeface="微软雅黑"/>
              </a:rPr>
              <a:t>Jinek M, et al. Science 2012; 337:816-821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459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  <a:ea typeface="微软雅黑"/>
                <a:cs typeface="微软雅黑"/>
              </a:rPr>
              <a:t>Figure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6459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C3E50"/>
                </a:solidFill>
                <a:ea typeface="微软雅黑"/>
                <a:cs typeface="微软雅黑"/>
              </a:rPr>
              <a:t>PAM (5'-NGG-3') 与切割位点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10881360" cy="13716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3E50"/>
                </a:solidFill>
                <a:ea typeface="微软雅黑"/>
                <a:cs typeface="微软雅黑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19" y="685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  <a:ea typeface="微软雅黑"/>
                <a:cs typeface="微软雅黑"/>
              </a:rPr>
              <a:t>PAM 变异对切割的影响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3E50"/>
                </a:solidFill>
                <a:ea typeface="微软雅黑"/>
                <a:cs typeface="微软雅黑"/>
              </a:rPr>
              <a:t>PAM 变体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0972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3E50"/>
                </a:solidFill>
                <a:ea typeface="微软雅黑"/>
                <a:cs typeface="微软雅黑"/>
              </a:rPr>
              <a:t>序列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0972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3E50"/>
                </a:solidFill>
                <a:ea typeface="微软雅黑"/>
                <a:cs typeface="微软雅黑"/>
              </a:rPr>
              <a:t>切割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10972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3E50"/>
                </a:solidFill>
                <a:ea typeface="微软雅黑"/>
                <a:cs typeface="微软雅黑"/>
              </a:rPr>
              <a:t>效率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444752"/>
            <a:ext cx="5760720" cy="3657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19" y="149961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ea typeface="微软雅黑"/>
                <a:cs typeface="微软雅黑"/>
              </a:rPr>
              <a:t>NGG (野生型)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4996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0392B"/>
                </a:solidFill>
                <a:ea typeface="微软雅黑"/>
                <a:cs typeface="微软雅黑"/>
              </a:rPr>
              <a:t>5'-NGG-3'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14996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0392B"/>
                </a:solidFill>
                <a:ea typeface="微软雅黑"/>
                <a:cs typeface="微软雅黑"/>
              </a:rPr>
              <a:t>切割 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149961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0392B"/>
                </a:solidFill>
                <a:ea typeface="微软雅黑"/>
                <a:cs typeface="微软雅黑"/>
              </a:rPr>
              <a:t>100%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1901952"/>
            <a:ext cx="57607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19" y="195681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ea typeface="微软雅黑"/>
                <a:cs typeface="微软雅黑"/>
              </a:rPr>
              <a:t>NAG (错配)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19568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E44AD"/>
                </a:solidFill>
                <a:ea typeface="微软雅黑"/>
                <a:cs typeface="微软雅黑"/>
              </a:rPr>
              <a:t>5'-NAG-3'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1956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E44AD"/>
                </a:solidFill>
                <a:ea typeface="微软雅黑"/>
                <a:cs typeface="微软雅黑"/>
              </a:rPr>
              <a:t>弱切割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195681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E44AD"/>
                </a:solidFill>
                <a:ea typeface="微软雅黑"/>
                <a:cs typeface="微软雅黑"/>
              </a:rPr>
              <a:t>38%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2359152"/>
            <a:ext cx="5760720" cy="3657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" y="241401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ea typeface="微软雅黑"/>
                <a:cs typeface="微软雅黑"/>
              </a:rPr>
              <a:t>NGA (错配)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24140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  <a:ea typeface="微软雅黑"/>
                <a:cs typeface="微软雅黑"/>
              </a:rPr>
              <a:t>5'-NGA-3'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24140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  <a:ea typeface="微软雅黑"/>
                <a:cs typeface="微软雅黑"/>
              </a:rPr>
              <a:t>无切割 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241401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  <a:ea typeface="微软雅黑"/>
                <a:cs typeface="微软雅黑"/>
              </a:rPr>
              <a:t>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2816352"/>
            <a:ext cx="57607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19" y="287121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ea typeface="微软雅黑"/>
                <a:cs typeface="微软雅黑"/>
              </a:rPr>
              <a:t>NGG (截短)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28712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  <a:ea typeface="微软雅黑"/>
                <a:cs typeface="微软雅黑"/>
              </a:rPr>
              <a:t>截短 PAM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28712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  <a:ea typeface="微软雅黑"/>
                <a:cs typeface="微软雅黑"/>
              </a:rPr>
              <a:t>无切割 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60" y="287121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  <a:ea typeface="微软雅黑"/>
                <a:cs typeface="微软雅黑"/>
              </a:rPr>
              <a:t>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3E50"/>
                </a:solidFill>
                <a:ea typeface="微软雅黑"/>
                <a:cs typeface="微软雅黑"/>
              </a:rPr>
              <a:t>相对切割效率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0" y="3630168"/>
            <a:ext cx="4187952" cy="1746504"/>
            <a:chOff x="0" y="3630168"/>
            <a:chExt cx="4187952" cy="1746504"/>
          </a:xfrm>
        </p:grpSpPr>
        <p:sp>
          <p:nvSpPr>
            <p:cNvPr id="33" name="Rounded Rectangle 32"/>
            <p:cNvSpPr/>
            <p:nvPr/>
          </p:nvSpPr>
          <p:spPr>
            <a:xfrm>
              <a:off x="822960" y="3657600"/>
              <a:ext cx="2743200" cy="292608"/>
            </a:xfrm>
            <a:prstGeom prst="roundRect">
              <a:avLst/>
            </a:prstGeom>
            <a:solidFill>
              <a:srgbClr val="F4F6F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822960" y="3657600"/>
              <a:ext cx="2743200" cy="292608"/>
            </a:xfrm>
            <a:prstGeom prst="roundRect">
              <a:avLst/>
            </a:prstGeom>
            <a:solidFill>
              <a:srgbClr val="1B5E2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0" y="3630168"/>
              <a:ext cx="77724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/>
              <a:r>
                <a:rPr sz="1200" b="0">
                  <a:solidFill>
                    <a:srgbClr val="34495E"/>
                  </a:solidFill>
                  <a:latin typeface="Arial"/>
                  <a:ea typeface="微软雅黑"/>
                  <a:cs typeface="微软雅黑"/>
                </a:rPr>
                <a:t>NGG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639312" y="3630168"/>
              <a:ext cx="54864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200" b="1">
                  <a:solidFill>
                    <a:srgbClr val="2C3E50"/>
                  </a:solidFill>
                  <a:latin typeface="Arial"/>
                  <a:ea typeface="微软雅黑"/>
                  <a:cs typeface="微软雅黑"/>
                </a:rPr>
                <a:t>100%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822960" y="4133087"/>
              <a:ext cx="2743200" cy="292608"/>
            </a:xfrm>
            <a:prstGeom prst="roundRect">
              <a:avLst/>
            </a:prstGeom>
            <a:solidFill>
              <a:srgbClr val="F4F6F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822960" y="4133087"/>
              <a:ext cx="1042416" cy="292608"/>
            </a:xfrm>
            <a:prstGeom prst="roundRect">
              <a:avLst/>
            </a:prstGeom>
            <a:solidFill>
              <a:srgbClr val="4CAF5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0" y="4105655"/>
              <a:ext cx="77724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/>
              <a:r>
                <a:rPr sz="1200" b="0">
                  <a:solidFill>
                    <a:srgbClr val="34495E"/>
                  </a:solidFill>
                  <a:latin typeface="Arial"/>
                  <a:ea typeface="微软雅黑"/>
                  <a:cs typeface="微软雅黑"/>
                </a:rPr>
                <a:t>NAG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639312" y="4105655"/>
              <a:ext cx="54864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200" b="1">
                  <a:solidFill>
                    <a:srgbClr val="2C3E50"/>
                  </a:solidFill>
                  <a:latin typeface="Arial"/>
                  <a:ea typeface="微软雅黑"/>
                  <a:cs typeface="微软雅黑"/>
                </a:rPr>
                <a:t>38%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822960" y="4608576"/>
              <a:ext cx="2743200" cy="292608"/>
            </a:xfrm>
            <a:prstGeom prst="roundRect">
              <a:avLst/>
            </a:prstGeom>
            <a:solidFill>
              <a:srgbClr val="F4F6F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822960" y="4608576"/>
              <a:ext cx="54864" cy="292608"/>
            </a:xfrm>
            <a:prstGeom prst="roundRect">
              <a:avLst/>
            </a:prstGeom>
            <a:solidFill>
              <a:srgbClr val="81C78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0" y="4581144"/>
              <a:ext cx="77724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/>
              <a:r>
                <a:rPr sz="1200" b="0">
                  <a:solidFill>
                    <a:srgbClr val="34495E"/>
                  </a:solidFill>
                  <a:latin typeface="Arial"/>
                  <a:ea typeface="微软雅黑"/>
                  <a:cs typeface="微软雅黑"/>
                </a:rPr>
                <a:t>NGA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639312" y="4581144"/>
              <a:ext cx="54864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200" b="1">
                  <a:solidFill>
                    <a:srgbClr val="2C3E50"/>
                  </a:solidFill>
                  <a:latin typeface="Arial"/>
                  <a:ea typeface="微软雅黑"/>
                  <a:cs typeface="微软雅黑"/>
                </a:rPr>
                <a:t>2%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822960" y="5084064"/>
              <a:ext cx="2743200" cy="292608"/>
            </a:xfrm>
            <a:prstGeom prst="roundRect">
              <a:avLst/>
            </a:prstGeom>
            <a:solidFill>
              <a:srgbClr val="F4F6F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822960" y="5084064"/>
              <a:ext cx="27432" cy="292608"/>
            </a:xfrm>
            <a:prstGeom prst="roundRect">
              <a:avLst/>
            </a:prstGeom>
            <a:solidFill>
              <a:srgbClr val="C8E6C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0" y="5056632"/>
              <a:ext cx="77724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/>
              <a:r>
                <a:rPr sz="1200" b="0">
                  <a:solidFill>
                    <a:srgbClr val="34495E"/>
                  </a:solidFill>
                  <a:latin typeface="Arial"/>
                  <a:ea typeface="微软雅黑"/>
                  <a:cs typeface="微软雅黑"/>
                </a:rPr>
                <a:t>截短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3639312" y="5056632"/>
              <a:ext cx="54864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200" b="1">
                  <a:solidFill>
                    <a:srgbClr val="2C3E50"/>
                  </a:solidFill>
                  <a:latin typeface="Arial"/>
                  <a:ea typeface="微软雅黑"/>
                  <a:cs typeface="微软雅黑"/>
                </a:rPr>
                <a:t>1%</a:t>
              </a: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822960" y="5394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0392B"/>
                </a:solidFill>
                <a:ea typeface="微软雅黑"/>
                <a:cs typeface="微软雅黑"/>
              </a:rPr>
              <a:t>NGG→NAG 效率降至 38%；NGA 完全失活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685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3E50"/>
                </a:solidFill>
                <a:ea typeface="微软雅黑"/>
                <a:cs typeface="微软雅黑"/>
              </a:rPr>
              <a:t>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03720" y="685800"/>
            <a:ext cx="4709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  <a:ea typeface="微软雅黑"/>
                <a:cs typeface="微软雅黑"/>
              </a:rPr>
              <a:t>切割位点定位于 PAM 上游 3 bp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1280160"/>
            <a:ext cx="219456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0" y="1335024"/>
            <a:ext cx="219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ea typeface="微软雅黑"/>
                <a:cs typeface="微软雅黑"/>
              </a:rPr>
              <a:t>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21424" y="1280160"/>
            <a:ext cx="219456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21424" y="1335024"/>
            <a:ext cx="219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ea typeface="微软雅黑"/>
                <a:cs typeface="微软雅黑"/>
              </a:rPr>
              <a:t>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59168" y="1280160"/>
            <a:ext cx="219456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059168" y="1335024"/>
            <a:ext cx="219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ea typeface="微软雅黑"/>
                <a:cs typeface="微软雅黑"/>
              </a:rPr>
              <a:t>C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296912" y="1280160"/>
            <a:ext cx="219456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1335024"/>
            <a:ext cx="219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ea typeface="微软雅黑"/>
                <a:cs typeface="微软雅黑"/>
              </a:rPr>
              <a:t>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34656" y="1280160"/>
            <a:ext cx="219456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34656" y="1335024"/>
            <a:ext cx="219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ea typeface="微软雅黑"/>
                <a:cs typeface="微软雅黑"/>
              </a:rPr>
              <a:t>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772400" y="1280160"/>
            <a:ext cx="219456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72400" y="1335024"/>
            <a:ext cx="219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ea typeface="微软雅黑"/>
                <a:cs typeface="微软雅黑"/>
              </a:rPr>
              <a:t>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10144" y="1280160"/>
            <a:ext cx="219456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010144" y="1335024"/>
            <a:ext cx="219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ea typeface="微软雅黑"/>
                <a:cs typeface="微软雅黑"/>
              </a:rPr>
              <a:t>C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47888" y="1280160"/>
            <a:ext cx="219456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47888" y="1335024"/>
            <a:ext cx="219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ea typeface="微软雅黑"/>
                <a:cs typeface="微软雅黑"/>
              </a:rPr>
              <a:t>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85632" y="1280160"/>
            <a:ext cx="219456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85632" y="1335024"/>
            <a:ext cx="219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ea typeface="微软雅黑"/>
                <a:cs typeface="微软雅黑"/>
              </a:rPr>
              <a:t>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723376" y="1280160"/>
            <a:ext cx="219456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723376" y="1335024"/>
            <a:ext cx="219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ea typeface="微软雅黑"/>
                <a:cs typeface="微软雅黑"/>
              </a:rPr>
              <a:t>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961120" y="1280160"/>
            <a:ext cx="219456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961120" y="1335024"/>
            <a:ext cx="219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ea typeface="微软雅黑"/>
                <a:cs typeface="微软雅黑"/>
              </a:rPr>
              <a:t>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98864" y="1280160"/>
            <a:ext cx="219456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198864" y="1335024"/>
            <a:ext cx="219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ea typeface="微软雅黑"/>
                <a:cs typeface="微软雅黑"/>
              </a:rPr>
              <a:t>G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436608" y="1280160"/>
            <a:ext cx="219456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436608" y="1335024"/>
            <a:ext cx="219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ea typeface="微软雅黑"/>
                <a:cs typeface="微软雅黑"/>
              </a:rPr>
              <a:t>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674352" y="1280160"/>
            <a:ext cx="219456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674352" y="1335024"/>
            <a:ext cx="219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ea typeface="微软雅黑"/>
                <a:cs typeface="微软雅黑"/>
              </a:rPr>
              <a:t>G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912096" y="1280160"/>
            <a:ext cx="219456" cy="34747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912096" y="1335024"/>
            <a:ext cx="219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ea typeface="微软雅黑"/>
                <a:cs typeface="微软雅黑"/>
              </a:rPr>
              <a:t>G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149840" y="1280160"/>
            <a:ext cx="219456" cy="34747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149840" y="1335024"/>
            <a:ext cx="219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ea typeface="微软雅黑"/>
                <a:cs typeface="微软雅黑"/>
              </a:rPr>
              <a:t>G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387584" y="1280160"/>
            <a:ext cx="219456" cy="34747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387584" y="1335024"/>
            <a:ext cx="219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ea typeface="微软雅黑"/>
                <a:cs typeface="微软雅黑"/>
              </a:rPr>
              <a:t>C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625328" y="1280160"/>
            <a:ext cx="219456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625328" y="1335024"/>
            <a:ext cx="219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ea typeface="微软雅黑"/>
                <a:cs typeface="微软雅黑"/>
              </a:rPr>
              <a:t>T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863072" y="1280160"/>
            <a:ext cx="219456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863072" y="1335024"/>
            <a:ext cx="219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ea typeface="微软雅黑"/>
                <a:cs typeface="微软雅黑"/>
              </a:rPr>
              <a:t>G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1100816" y="1280160"/>
            <a:ext cx="219456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100816" y="1335024"/>
            <a:ext cx="219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ea typeface="微软雅黑"/>
                <a:cs typeface="微软雅黑"/>
              </a:rPr>
              <a:t>C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1338560" y="1280160"/>
            <a:ext cx="219456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1338560" y="1335024"/>
            <a:ext cx="219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ea typeface="微软雅黑"/>
                <a:cs typeface="微软雅黑"/>
              </a:rPr>
              <a:t>G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912096" y="16916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39C12"/>
                </a:solidFill>
                <a:ea typeface="微软雅黑"/>
                <a:cs typeface="微软雅黑"/>
              </a:rPr>
              <a:t>PAM (NGG)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198864" y="100583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0392B"/>
                </a:solidFill>
                <a:ea typeface="微软雅黑"/>
                <a:cs typeface="微软雅黑"/>
              </a:rPr>
              <a:t>▲ 切割 (PAM 上游 3bp)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290304" y="1234439"/>
            <a:ext cx="13716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583680" y="2286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3E50"/>
                </a:solidFill>
                <a:ea typeface="微软雅黑"/>
                <a:cs typeface="微软雅黑"/>
              </a:rPr>
              <a:t>切割产物：平末端 (blunt ends)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583680" y="265176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1000" b="0">
                <a:solidFill>
                  <a:srgbClr val="34495E"/>
                </a:solidFill>
                <a:ea typeface="微软雅黑"/>
                <a:cs typeface="微软雅黑"/>
              </a:rPr>
              <a:t>靶标链与非靶标链在相同位置切断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1000" b="0">
                <a:solidFill>
                  <a:srgbClr val="34495E"/>
                </a:solidFill>
                <a:ea typeface="微软雅黑"/>
                <a:cs typeface="微软雅黑"/>
              </a:rPr>
              <a:t>变性 PAGE 显示两条等长产物带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1000" b="0">
                <a:solidFill>
                  <a:srgbClr val="34495E"/>
                </a:solidFill>
                <a:ea typeface="微软雅黑"/>
                <a:cs typeface="微软雅黑"/>
              </a:rPr>
              <a:t>与 ZFN/TALEN 的粘性末端不同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40080" y="43891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3E50"/>
                </a:solidFill>
                <a:ea typeface="微软雅黑"/>
                <a:cs typeface="微软雅黑"/>
              </a:rPr>
              <a:t>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60119" y="43891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  <a:ea typeface="微软雅黑"/>
                <a:cs typeface="微软雅黑"/>
              </a:rPr>
              <a:t>SpCas9 功能域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22960" y="4846320"/>
            <a:ext cx="146304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22960" y="491947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ea typeface="微软雅黑"/>
                <a:cs typeface="微软雅黑"/>
              </a:rPr>
              <a:t>REC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22960" y="54406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F8C8D"/>
                </a:solidFill>
                <a:ea typeface="微软雅黑"/>
                <a:cs typeface="微软雅黑"/>
              </a:rPr>
              <a:t>识别螺旋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395728" y="4846320"/>
            <a:ext cx="1463040" cy="5029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395728" y="491947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ea typeface="微软雅黑"/>
                <a:cs typeface="微软雅黑"/>
              </a:rPr>
              <a:t>Bridge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395728" y="54406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F8C8D"/>
                </a:solidFill>
                <a:ea typeface="微软雅黑"/>
                <a:cs typeface="微软雅黑"/>
              </a:rPr>
              <a:t>桥接螺旋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968496" y="4846320"/>
            <a:ext cx="146304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968496" y="491947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ea typeface="微软雅黑"/>
                <a:cs typeface="微软雅黑"/>
              </a:rPr>
              <a:t>RuvC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968496" y="54406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F8C8D"/>
                </a:solidFill>
                <a:ea typeface="微软雅黑"/>
                <a:cs typeface="微软雅黑"/>
              </a:rPr>
              <a:t>非靶链切割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541264" y="4846320"/>
            <a:ext cx="1463040" cy="5029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541264" y="491947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ea typeface="微软雅黑"/>
                <a:cs typeface="微软雅黑"/>
              </a:rPr>
              <a:t>HNH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541264" y="54406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F8C8D"/>
                </a:solidFill>
                <a:ea typeface="微软雅黑"/>
                <a:cs typeface="微软雅黑"/>
              </a:rPr>
              <a:t>靶链切割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114032" y="4846320"/>
            <a:ext cx="146304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114032" y="491947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ea typeface="微软雅黑"/>
                <a:cs typeface="微软雅黑"/>
              </a:rPr>
              <a:t>PI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114032" y="54406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F8C8D"/>
                </a:solidFill>
                <a:ea typeface="微软雅黑"/>
                <a:cs typeface="微软雅黑"/>
              </a:rPr>
              <a:t>PAM 识别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22960" y="5760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F8C8D"/>
                </a:solidFill>
                <a:ea typeface="微软雅黑"/>
                <a:cs typeface="微软雅黑"/>
              </a:rPr>
              <a:t>SpCas9 全长 1,368 aa，RuvC/HNH 双结构域切割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583680" y="43891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3E50"/>
                </a:solidFill>
                <a:ea typeface="微软雅黑"/>
                <a:cs typeface="微软雅黑"/>
              </a:rPr>
              <a:t>d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903720" y="4389120"/>
            <a:ext cx="4709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  <a:ea typeface="微软雅黑"/>
                <a:cs typeface="微软雅黑"/>
              </a:rPr>
              <a:t>关键统计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583680" y="4846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ea typeface="微软雅黑"/>
                <a:cs typeface="微软雅黑"/>
              </a:rPr>
              <a:t>约每 8 bp 出现一次 NGG (统计)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583680" y="5257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ea typeface="微软雅黑"/>
                <a:cs typeface="微软雅黑"/>
              </a:rPr>
              <a:t>60-90% 体外编辑效率 (细胞系典型范围)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583680" y="5623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  <a:ea typeface="微软雅黑"/>
                <a:cs typeface="微软雅黑"/>
              </a:rPr>
              <a:t>PAM 频率高 → 全基因组可编辑位点丰富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40080" y="608076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F8C8D"/>
                </a:solidFill>
                <a:ea typeface="微软雅黑"/>
                <a:cs typeface="微软雅黑"/>
              </a:rPr>
              <a:t>Note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143000" y="6080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F8C8D"/>
                </a:solidFill>
                <a:ea typeface="微软雅黑"/>
                <a:cs typeface="微软雅黑"/>
              </a:rPr>
              <a:t>PAM 第三位必须为 G (NGG)；NGA 变异完全丧失活性。PAM 使 Cas9 区分自我 DNA 与非自我 DNA。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143000" y="62819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ea typeface="微软雅黑"/>
                <a:cs typeface="微软雅黑"/>
              </a:rPr>
              <a:t>Jinek M, et al. Science 2012; 337:816-821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459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  <a:ea typeface="微软雅黑"/>
                <a:cs typeface="微软雅黑"/>
              </a:rPr>
              <a:t>Figure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6459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C3E50"/>
                </a:solidFill>
                <a:ea typeface="微软雅黑"/>
                <a:cs typeface="微软雅黑"/>
              </a:rPr>
              <a:t>Cas9 切割机制与 DNA 修复路径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10881360" cy="13716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3E50"/>
                </a:solidFill>
                <a:ea typeface="微软雅黑"/>
                <a:cs typeface="微软雅黑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19" y="685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  <a:ea typeface="微软雅黑"/>
                <a:cs typeface="微软雅黑"/>
              </a:rPr>
              <a:t>Cas9 双结构域切割机制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828800"/>
            <a:ext cx="2743200" cy="16459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3E50"/>
                </a:solidFill>
                <a:ea typeface="微软雅黑"/>
                <a:cs typeface="微软雅黑"/>
              </a:rPr>
              <a:t>Cas9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2377440"/>
            <a:ext cx="1097280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688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ea typeface="微软雅黑"/>
                <a:cs typeface="微软雅黑"/>
              </a:rPr>
              <a:t>RuvC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2377440"/>
            <a:ext cx="1097280" cy="5486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24688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ea typeface="微软雅黑"/>
                <a:cs typeface="微软雅黑"/>
              </a:rPr>
              <a:t>HNH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08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4495E"/>
                </a:solidFill>
                <a:ea typeface="微软雅黑"/>
                <a:cs typeface="微软雅黑"/>
              </a:rPr>
              <a:t>RuvC→非靶链  HNH→靶链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74C3C"/>
                </a:solidFill>
                <a:ea typeface="微软雅黑"/>
                <a:cs typeface="微软雅黑"/>
              </a:rPr>
              <a:t>靶标链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1828800"/>
            <a:ext cx="5029200" cy="10972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2240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498DB"/>
                </a:solidFill>
                <a:ea typeface="微软雅黑"/>
                <a:cs typeface="微软雅黑"/>
              </a:rPr>
              <a:t>非靶标链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514600"/>
            <a:ext cx="5029200" cy="10972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1508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ea typeface="微软雅黑"/>
                <a:cs typeface="微软雅黑"/>
              </a:rPr>
              <a:t>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1783080"/>
            <a:ext cx="13716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1508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0392B"/>
                </a:solidFill>
                <a:ea typeface="微软雅黑"/>
                <a:cs typeface="微软雅黑"/>
              </a:rPr>
              <a:t>切割位点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685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3E50"/>
                </a:solidFill>
                <a:ea typeface="微软雅黑"/>
                <a:cs typeface="微软雅黑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685800"/>
            <a:ext cx="4709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  <a:ea typeface="微软雅黑"/>
                <a:cs typeface="微软雅黑"/>
              </a:rPr>
              <a:t>DNA 修复路径分叉: NHEJ vs HDR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14630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0392B"/>
                </a:solidFill>
                <a:ea typeface="微软雅黑"/>
                <a:cs typeface="微软雅黑"/>
              </a:rPr>
              <a:t>DSB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1920240"/>
            <a:ext cx="2560320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2011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ea typeface="微软雅黑"/>
                <a:cs typeface="微软雅黑"/>
              </a:rPr>
              <a:t>NHEJ — 非同源末端连接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46888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"/>
              </a:spcBef>
              <a:spcAft>
                <a:spcPts val="140"/>
              </a:spcAft>
            </a:pPr>
            <a:r>
              <a:rPr sz="900" b="0">
                <a:solidFill>
                  <a:srgbClr val="34495E"/>
                </a:solidFill>
                <a:ea typeface="微软雅黑"/>
                <a:cs typeface="微软雅黑"/>
              </a:rPr>
              <a:t>Ku70/80 结合断端</a:t>
            </a:r>
          </a:p>
          <a:p>
            <a:pPr algn="l">
              <a:spcBef>
                <a:spcPts val="140"/>
              </a:spcBef>
              <a:spcAft>
                <a:spcPts val="140"/>
              </a:spcAft>
            </a:pPr>
            <a:r>
              <a:rPr sz="900" b="0">
                <a:solidFill>
                  <a:srgbClr val="34495E"/>
                </a:solidFill>
                <a:ea typeface="微软雅黑"/>
                <a:cs typeface="微软雅黑"/>
              </a:rPr>
              <a:t>Lig4/XRCC4 连接</a:t>
            </a:r>
          </a:p>
          <a:p>
            <a:pPr algn="l">
              <a:spcBef>
                <a:spcPts val="140"/>
              </a:spcBef>
              <a:spcAft>
                <a:spcPts val="140"/>
              </a:spcAft>
            </a:pPr>
            <a:r>
              <a:rPr sz="900" b="0">
                <a:solidFill>
                  <a:srgbClr val="34495E"/>
                </a:solidFill>
                <a:ea typeface="微软雅黑"/>
                <a:cs typeface="微软雅黑"/>
              </a:rPr>
              <a:t>结果: indel 突变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0" y="1920240"/>
            <a:ext cx="237744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2011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ea typeface="微软雅黑"/>
                <a:cs typeface="微软雅黑"/>
              </a:rPr>
              <a:t>HDR — 同源定向修复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24688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"/>
              </a:spcBef>
              <a:spcAft>
                <a:spcPts val="140"/>
              </a:spcAft>
            </a:pPr>
            <a:r>
              <a:rPr sz="900" b="0">
                <a:solidFill>
                  <a:srgbClr val="34495E"/>
                </a:solidFill>
                <a:ea typeface="微软雅黑"/>
                <a:cs typeface="微软雅黑"/>
              </a:rPr>
              <a:t>Rad51 链侵入</a:t>
            </a:r>
          </a:p>
          <a:p>
            <a:pPr algn="l">
              <a:spcBef>
                <a:spcPts val="140"/>
              </a:spcBef>
              <a:spcAft>
                <a:spcPts val="140"/>
              </a:spcAft>
            </a:pPr>
            <a:r>
              <a:rPr sz="900" b="0">
                <a:solidFill>
                  <a:srgbClr val="34495E"/>
                </a:solidFill>
                <a:ea typeface="微软雅黑"/>
                <a:cs typeface="微软雅黑"/>
              </a:rPr>
              <a:t>同源模板合成</a:t>
            </a:r>
          </a:p>
          <a:p>
            <a:pPr algn="l">
              <a:spcBef>
                <a:spcPts val="140"/>
              </a:spcBef>
              <a:spcAft>
                <a:spcPts val="140"/>
              </a:spcAft>
            </a:pPr>
            <a:r>
              <a:rPr sz="900" b="0">
                <a:solidFill>
                  <a:srgbClr val="34495E"/>
                </a:solidFill>
                <a:ea typeface="微软雅黑"/>
                <a:cs typeface="微软雅黑"/>
              </a:rPr>
              <a:t>结果: 精准修复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0233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F8C8D"/>
                </a:solidFill>
                <a:ea typeface="微软雅黑"/>
                <a:cs typeface="微软雅黑"/>
              </a:rPr>
              <a:t>应用：NHEJ→基因敲除 (KO)；HDR→基因敲入 (KI)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206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3E50"/>
                </a:solidFill>
                <a:ea typeface="微软雅黑"/>
                <a:cs typeface="微软雅黑"/>
              </a:rPr>
              <a:t>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19" y="4206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  <a:ea typeface="微软雅黑"/>
                <a:cs typeface="微软雅黑"/>
              </a:rPr>
              <a:t>编辑效率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754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  <a:ea typeface="微软雅黑"/>
                <a:cs typeface="微软雅黑"/>
              </a:rPr>
              <a:t>95%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166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F8C8D"/>
                </a:solidFill>
                <a:ea typeface="微软雅黑"/>
                <a:cs typeface="微软雅黑"/>
              </a:rPr>
              <a:t>双 RNA 切割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79" y="4754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  <a:ea typeface="微软雅黑"/>
                <a:cs typeface="微软雅黑"/>
              </a:rPr>
              <a:t>60-90%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79" y="5166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F8C8D"/>
                </a:solidFill>
                <a:ea typeface="微软雅黑"/>
                <a:cs typeface="微软雅黑"/>
              </a:rPr>
              <a:t>细胞系编辑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754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  <a:ea typeface="微软雅黑"/>
                <a:cs typeface="微软雅黑"/>
              </a:rPr>
              <a:t>38%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5166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F8C8D"/>
                </a:solidFill>
                <a:ea typeface="微软雅黑"/>
                <a:cs typeface="微软雅黑"/>
              </a:rPr>
              <a:t>NAG 弱切割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206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3E50"/>
                </a:solidFill>
                <a:ea typeface="微软雅黑"/>
                <a:cs typeface="微软雅黑"/>
              </a:rPr>
              <a:t>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4206240"/>
            <a:ext cx="4709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  <a:ea typeface="微软雅黑"/>
                <a:cs typeface="微软雅黑"/>
              </a:rPr>
              <a:t>基因编辑应用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466344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1000" b="0">
                <a:solidFill>
                  <a:srgbClr val="34495E"/>
                </a:solidFill>
                <a:ea typeface="微软雅黑"/>
                <a:cs typeface="微软雅黑"/>
              </a:rPr>
              <a:t>敲除 (KO): NHEJ 引入 indel → 移码失活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1000" b="0">
                <a:solidFill>
                  <a:srgbClr val="34495E"/>
                </a:solidFill>
                <a:ea typeface="微软雅黑"/>
                <a:cs typeface="微软雅黑"/>
              </a:rPr>
              <a:t>敲入 (KI): HDR 供体模板 → 精确替换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1000" b="0">
                <a:solidFill>
                  <a:srgbClr val="34495E"/>
                </a:solidFill>
                <a:ea typeface="微软雅黑"/>
                <a:cs typeface="微软雅黑"/>
              </a:rPr>
              <a:t>碱基编辑 (BE): 无需 DSB，C→T 单碱基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08076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F8C8D"/>
                </a:solidFill>
                <a:ea typeface="微软雅黑"/>
                <a:cs typeface="微软雅黑"/>
              </a:rPr>
              <a:t>Note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" y="6080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F8C8D"/>
                </a:solidFill>
                <a:ea typeface="微软雅黑"/>
                <a:cs typeface="微软雅黑"/>
              </a:rPr>
              <a:t>Cas9 通过 RuvC (非靶链) 与 HNH (靶链) 双结构域切割双链，产生平末端 DSB。细胞通过 NHEJ 或 HDR 修复，决定编辑类型。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62819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ea typeface="微软雅黑"/>
                <a:cs typeface="微软雅黑"/>
              </a:rPr>
              <a:t>Jinek M, et al. Science 2012; 337:816-821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459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  <a:ea typeface="微软雅黑"/>
                <a:cs typeface="微软雅黑"/>
              </a:rPr>
              <a:t>Figure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6459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C3E50"/>
                </a:solidFill>
                <a:ea typeface="微软雅黑"/>
                <a:cs typeface="微软雅黑"/>
              </a:rPr>
              <a:t>靶向特异性：种子区错配最敏感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10881360" cy="13716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3E50"/>
                </a:solidFill>
                <a:ea typeface="微软雅黑"/>
                <a:cs typeface="微软雅黑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19" y="685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  <a:ea typeface="微软雅黑"/>
                <a:cs typeface="微软雅黑"/>
              </a:rPr>
              <a:t>错配位置 vs 相对切割效率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22960" y="1005840"/>
          <a:ext cx="676656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97280" y="52120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0392B"/>
                </a:solidFill>
                <a:ea typeface="微软雅黑"/>
                <a:cs typeface="微软雅黑"/>
              </a:rPr>
              <a:t>种子区 (PAM 邻近) → 错配最敏感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685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3E50"/>
                </a:solidFill>
                <a:ea typeface="微软雅黑"/>
                <a:cs typeface="微软雅黑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19" y="68580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  <a:ea typeface="微软雅黑"/>
                <a:cs typeface="微软雅黑"/>
              </a:rPr>
              <a:t>错配抑制效应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1887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3E50"/>
                </a:solidFill>
                <a:ea typeface="微软雅黑"/>
                <a:cs typeface="微软雅黑"/>
              </a:rPr>
              <a:t>种子区单碱基错配：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5544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ea typeface="微软雅黑"/>
                <a:cs typeface="微软雅黑"/>
              </a:rPr>
              <a:t>切割效率降低 &gt;90%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1031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ea typeface="微软雅黑"/>
                <a:cs typeface="微软雅黑"/>
              </a:rPr>
              <a:t>远端错配：容忍度较高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2560320"/>
            <a:ext cx="3840480" cy="13716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274320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1000" b="0">
                <a:solidFill>
                  <a:srgbClr val="34495E"/>
                </a:solidFill>
                <a:ea typeface="微软雅黑"/>
                <a:cs typeface="微软雅黑"/>
              </a:rPr>
              <a:t>Cas9 先通过 PAM 识别锚定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1000" b="0">
                <a:solidFill>
                  <a:srgbClr val="34495E"/>
                </a:solidFill>
                <a:ea typeface="微软雅黑"/>
                <a:cs typeface="微软雅黑"/>
              </a:rPr>
              <a:t>crRNA:DNA 配对沿 5'→3' 检查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1000" b="0">
                <a:solidFill>
                  <a:srgbClr val="34495E"/>
                </a:solidFill>
                <a:ea typeface="微软雅黑"/>
                <a:cs typeface="微软雅黑"/>
              </a:rPr>
              <a:t>种子区决定 R-loop 稳定性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54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3E50"/>
                </a:solidFill>
                <a:ea typeface="微软雅黑"/>
                <a:cs typeface="微软雅黑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19" y="4754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  <a:ea typeface="微软雅黑"/>
                <a:cs typeface="微软雅黑"/>
              </a:rPr>
              <a:t>特异性指标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91439" y="5093207"/>
            <a:ext cx="5102353" cy="1746505"/>
            <a:chOff x="91439" y="5093207"/>
            <a:chExt cx="5102353" cy="1746505"/>
          </a:xfrm>
        </p:grpSpPr>
        <p:sp>
          <p:nvSpPr>
            <p:cNvPr id="19" name="Rounded Rectangle 18"/>
            <p:cNvSpPr/>
            <p:nvPr/>
          </p:nvSpPr>
          <p:spPr>
            <a:xfrm>
              <a:off x="914400" y="5120640"/>
              <a:ext cx="3657600" cy="292608"/>
            </a:xfrm>
            <a:prstGeom prst="roundRect">
              <a:avLst/>
            </a:prstGeom>
            <a:solidFill>
              <a:srgbClr val="F4F6F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914400" y="5120640"/>
              <a:ext cx="292608" cy="292608"/>
            </a:xfrm>
            <a:prstGeom prst="roundRect">
              <a:avLst/>
            </a:prstGeom>
            <a:solidFill>
              <a:srgbClr val="1B5E2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1439" y="5093207"/>
              <a:ext cx="77724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/>
              <a:r>
                <a:rPr sz="1200" b="0">
                  <a:solidFill>
                    <a:srgbClr val="34495E"/>
                  </a:solidFill>
                  <a:latin typeface="Arial"/>
                  <a:ea typeface="微软雅黑"/>
                  <a:cs typeface="微软雅黑"/>
                </a:rPr>
                <a:t>种子区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645152" y="5093207"/>
              <a:ext cx="54864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200" b="1">
                  <a:solidFill>
                    <a:srgbClr val="2C3E50"/>
                  </a:solidFill>
                  <a:latin typeface="Arial"/>
                  <a:ea typeface="微软雅黑"/>
                  <a:cs typeface="微软雅黑"/>
                </a:rPr>
                <a:t>8%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14400" y="5596127"/>
              <a:ext cx="3657600" cy="292608"/>
            </a:xfrm>
            <a:prstGeom prst="roundRect">
              <a:avLst/>
            </a:prstGeom>
            <a:solidFill>
              <a:srgbClr val="F4F6F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914400" y="5596127"/>
              <a:ext cx="1645920" cy="292608"/>
            </a:xfrm>
            <a:prstGeom prst="roundRect">
              <a:avLst/>
            </a:prstGeom>
            <a:solidFill>
              <a:srgbClr val="4CAF5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91439" y="5568695"/>
              <a:ext cx="77724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/>
              <a:r>
                <a:rPr sz="1200" b="0">
                  <a:solidFill>
                    <a:srgbClr val="34495E"/>
                  </a:solidFill>
                  <a:latin typeface="Arial"/>
                  <a:ea typeface="微软雅黑"/>
                  <a:cs typeface="微软雅黑"/>
                </a:rPr>
                <a:t>中间区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645152" y="5568695"/>
              <a:ext cx="54864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200" b="1">
                  <a:solidFill>
                    <a:srgbClr val="2C3E50"/>
                  </a:solidFill>
                  <a:latin typeface="Arial"/>
                  <a:ea typeface="微软雅黑"/>
                  <a:cs typeface="微软雅黑"/>
                </a:rPr>
                <a:t>45%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14400" y="6071616"/>
              <a:ext cx="3657600" cy="292608"/>
            </a:xfrm>
            <a:prstGeom prst="roundRect">
              <a:avLst/>
            </a:prstGeom>
            <a:solidFill>
              <a:srgbClr val="F4F6F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914400" y="6071616"/>
              <a:ext cx="2633472" cy="292608"/>
            </a:xfrm>
            <a:prstGeom prst="roundRect">
              <a:avLst/>
            </a:prstGeom>
            <a:solidFill>
              <a:srgbClr val="81C78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1439" y="6044183"/>
              <a:ext cx="77724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/>
              <a:r>
                <a:rPr sz="1200" b="0">
                  <a:solidFill>
                    <a:srgbClr val="34495E"/>
                  </a:solidFill>
                  <a:latin typeface="Arial"/>
                  <a:ea typeface="微软雅黑"/>
                  <a:cs typeface="微软雅黑"/>
                </a:rPr>
                <a:t>远端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645152" y="6044183"/>
              <a:ext cx="54864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200" b="1">
                  <a:solidFill>
                    <a:srgbClr val="2C3E50"/>
                  </a:solidFill>
                  <a:latin typeface="Arial"/>
                  <a:ea typeface="微软雅黑"/>
                  <a:cs typeface="微软雅黑"/>
                </a:rPr>
                <a:t>72%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914400" y="6547104"/>
              <a:ext cx="3657600" cy="292608"/>
            </a:xfrm>
            <a:prstGeom prst="roundRect">
              <a:avLst/>
            </a:prstGeom>
            <a:solidFill>
              <a:srgbClr val="F4F6F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914400" y="6547104"/>
              <a:ext cx="3657600" cy="292608"/>
            </a:xfrm>
            <a:prstGeom prst="roundRect">
              <a:avLst/>
            </a:prstGeom>
            <a:solidFill>
              <a:srgbClr val="C8E6C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91439" y="6519672"/>
              <a:ext cx="77724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/>
              <a:r>
                <a:rPr sz="1200" b="0">
                  <a:solidFill>
                    <a:srgbClr val="34495E"/>
                  </a:solidFill>
                  <a:latin typeface="Arial"/>
                  <a:ea typeface="微软雅黑"/>
                  <a:cs typeface="微软雅黑"/>
                </a:rPr>
                <a:t>完全匹配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645152" y="6519672"/>
              <a:ext cx="54864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200" b="1">
                  <a:solidFill>
                    <a:srgbClr val="2C3E50"/>
                  </a:solidFill>
                  <a:latin typeface="Arial"/>
                  <a:ea typeface="微软雅黑"/>
                  <a:cs typeface="微软雅黑"/>
                </a:rPr>
                <a:t>100%</a:t>
              </a: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7955279" y="4754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3E50"/>
                </a:solidFill>
                <a:ea typeface="微软雅黑"/>
                <a:cs typeface="微软雅黑"/>
              </a:rPr>
              <a:t>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19" y="475488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  <a:ea typeface="微软雅黑"/>
                <a:cs typeface="微软雅黑"/>
              </a:rPr>
              <a:t>结论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512064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1000" b="0">
                <a:solidFill>
                  <a:srgbClr val="34495E"/>
                </a:solidFill>
                <a:ea typeface="微软雅黑"/>
                <a:cs typeface="微软雅黑"/>
              </a:rPr>
              <a:t>种子区 (PAM 邻近 10-12 nt) 是特异性核心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1000" b="0">
                <a:solidFill>
                  <a:srgbClr val="34495E"/>
                </a:solidFill>
                <a:ea typeface="微软雅黑"/>
                <a:cs typeface="微软雅黑"/>
              </a:rPr>
              <a:t>该区错配阻止 R-loop 形成，切割被抑制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08076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F8C8D"/>
                </a:solidFill>
                <a:ea typeface="微软雅黑"/>
                <a:cs typeface="微软雅黑"/>
              </a:rPr>
              <a:t>Note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6080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F8C8D"/>
                </a:solidFill>
                <a:ea typeface="微软雅黑"/>
                <a:cs typeface="微软雅黑"/>
              </a:rPr>
              <a:t>错配敏感性随位置变化：PAM 邻近的种子区对错配最敏感，决定 Cas9 靶向特异性。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62819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ea typeface="微软雅黑"/>
                <a:cs typeface="微软雅黑"/>
              </a:rPr>
              <a:t>Jinek M, et al. Science 2012; 337:816-821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