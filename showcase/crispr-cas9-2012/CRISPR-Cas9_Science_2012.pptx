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切割效率 (%)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Sheet1!$A$2:$A$6</c:f>
              <c:strCache>
                <c:ptCount val="5"/>
                <c:pt idx="0">
                  <c:v>双RNA
+Cas9</c:v>
                </c:pt>
                <c:pt idx="1">
                  <c:v>仅Cas9</c:v>
                </c:pt>
                <c:pt idx="2">
                  <c:v>仅crRNA</c:v>
                </c:pt>
                <c:pt idx="3">
                  <c:v>仅tracrRNA</c:v>
                </c:pt>
                <c:pt idx="4">
                  <c:v>单RNA
+Cas9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>
                  <a:solidFill>
                    <a:srgbClr val="1F293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1F2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>
                    <a:solidFill>
                      <a:srgbClr val="1F2937"/>
                    </a:solidFill>
                  </a:rPr>
                  <a:t>切割效率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1F2937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rgbClr val="1F2937"/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ea typeface="思源宋体"/>
                <a:cs typeface="思源宋体"/>
              </a:rPr>
              <a:t>Science   VOL 337  |  RESEARCH ARTICLE  |  17 AUG 2012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C3E50"/>
                </a:solidFill>
                <a:ea typeface="思源宋体"/>
                <a:cs typeface="思源宋体"/>
              </a:rPr>
              <a:t>A Programmable Dual-RNA-Guided DNA Endonuclease in Adaptive Bacterial Immunity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  <a:ea typeface="思源宋体"/>
                <a:cs typeface="思源宋体"/>
              </a:rPr>
              <a:t>Martin Jinek, Krzysztof Chylinski, Ines Fonfara, Michael Hauer, Jennifer A. Doudna, Emmanuelle Charpentier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ea typeface="思源宋体"/>
                <a:cs typeface="思源宋体"/>
              </a:rPr>
              <a:t>Howard Hughes Medical Institute  ·  University of California, Berkeley  ·  Helmholtz Centre for Infection Research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931920"/>
            <a:ext cx="10332720" cy="27432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科学背景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200" b="0">
                <a:solidFill>
                  <a:srgbClr val="34495E"/>
                </a:solidFill>
                <a:ea typeface="思源宋体"/>
                <a:cs typeface="思源宋体"/>
              </a:rPr>
              <a:t>CRISPR (clustered regularly interspaced short palindromic repeats) 是细菌的适应性免疫系统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200" b="0">
                <a:solidFill>
                  <a:srgbClr val="34495E"/>
                </a:solidFill>
                <a:ea typeface="思源宋体"/>
                <a:cs typeface="思源宋体"/>
              </a:rPr>
              <a:t>Cas9 核酸内切酶在 crRNA 与 tracrRNA 双 RNA 引导下，靶向切割外源 DNA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200" b="0">
                <a:solidFill>
                  <a:srgbClr val="34495E"/>
                </a:solidFill>
                <a:ea typeface="思源宋体"/>
                <a:cs typeface="思源宋体"/>
              </a:rPr>
              <a:t>本研究首次证明双 RNA 可编程引导 Cas9 进行序列特异性 DNA 切割（Jinek et al., 2012）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30936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F8C8D"/>
                </a:solidFill>
                <a:ea typeface="思源宋体"/>
                <a:cs typeface="思源宋体"/>
              </a:rPr>
              <a:t>基金项目: NIH Grant · 供图许可已获 ©2012 American Association for the Advancement of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Figure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  <a:ea typeface="思源宋体"/>
                <a:cs typeface="思源宋体"/>
              </a:rPr>
              <a:t>CRISPR 适应性免疫的三阶段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3291840" cy="23774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29184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ea typeface="思源宋体"/>
                <a:cs typeface="思源宋体"/>
              </a:rPr>
              <a:t>① 适应 (Adaptation)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捕获外源 DNA 片段插入 CRISPR 阵列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40" y="2468879"/>
            <a:ext cx="32004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371600"/>
            <a:ext cx="3291840" cy="23774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371600"/>
            <a:ext cx="3291840" cy="6400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6459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ea typeface="思源宋体"/>
                <a:cs typeface="思源宋体"/>
              </a:rPr>
              <a:t>② 表达 (Expression)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945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转录为 pre-crRNA 并加工成成熟 crRNA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498079" y="2468879"/>
            <a:ext cx="32004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1371600"/>
            <a:ext cx="3291840" cy="23774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371600"/>
            <a:ext cx="3291840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6459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ea typeface="思源宋体"/>
                <a:cs typeface="思源宋体"/>
              </a:rPr>
              <a:t>③ 干扰 (Interference)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1945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Cas9 在 crRNA 引导下切割外源 DNA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细菌通过三步将外源 DNA 记忆为免疫记忆，并在再次入侵时启动序列特异性切割（Jinek et al., 2012, Fig.1）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Figure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  <a:ea typeface="思源宋体"/>
                <a:cs typeface="思源宋体"/>
              </a:rPr>
              <a:t>研究问题与核心假设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7373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73152" cy="1737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ea typeface="思源宋体"/>
                <a:cs typeface="思源宋体"/>
              </a:rPr>
              <a:t>Q1: 双 RNA 是否必需？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此前已知 crRNA 与 tracrRNA 参与免疫，但二者是否同时引导 Cas9 切割外源 DNA 尚未证实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383280"/>
            <a:ext cx="10698480" cy="17373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73152" cy="17373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11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ea typeface="思源宋体"/>
                <a:cs typeface="思源宋体"/>
              </a:rPr>
              <a:t>Q2: 靶向如何确定？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Cas9 如何识别靶位点？是否存在 PAM (protospacer adjacent motif) 序列要求？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  <a:ea typeface="思源宋体"/>
                <a:cs typeface="思源宋体"/>
              </a:rPr>
              <a:t>核心假设：Cas9 由双 RNA (crRNA + tracrRNA) 引导，识别 PAM 后切割靶 DNA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研究设计：体外重建化脓链球菌 Cas9 切割系统，系统验证 RNA 组分与 PAM 需求（Jinek et al., 2012, Fig.2）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Figure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  <a:ea typeface="思源宋体"/>
                <a:cs typeface="思源宋体"/>
              </a:rPr>
              <a:t>方法：体外重建 CRISPR-Cas9 切割系统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188720"/>
            <a:ext cx="2011680" cy="5029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ea typeface="思源宋体"/>
                <a:cs typeface="思源宋体"/>
              </a:rPr>
              <a:t>1. 表达纯化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39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大肠杆菌中表达重组 Cas9 蛋白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121408"/>
            <a:ext cx="2011680" cy="5029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311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ea typeface="思源宋体"/>
                <a:cs typeface="思源宋体"/>
              </a:rPr>
              <a:t>2. 制备 RNA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39" y="221284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体外转录 crRNA / tracrRNA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054096"/>
            <a:ext cx="201168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638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ea typeface="思源宋体"/>
                <a:cs typeface="思源宋体"/>
              </a:rPr>
              <a:t>3. 组装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314553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Cas9 + crRNA + tracrRNA 预孵育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986784"/>
            <a:ext cx="201168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0965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ea typeface="思源宋体"/>
                <a:cs typeface="思源宋体"/>
              </a:rPr>
              <a:t>4. 切割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39" y="40782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加入靶 DNA 底物，37°C 反应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4919472"/>
            <a:ext cx="201168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ea typeface="思源宋体"/>
                <a:cs typeface="思源宋体"/>
              </a:rPr>
              <a:t>5. 检测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39" y="501091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琼脂糖凝胶电泳分析切割产物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所有组分体外重组，排除细胞内其他因子干扰，直接验证 Cas9 切割机制（Jinek et al., 2012, Fig.3）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Figure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  <a:ea typeface="思源宋体"/>
                <a:cs typeface="思源宋体"/>
              </a:rPr>
              <a:t>结果 1：Cas9 切割依赖双 RNA 引导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3657600" cy="4206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琼脂糖凝胶电泳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737360"/>
            <a:ext cx="3657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194560"/>
            <a:ext cx="274320" cy="201168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737360"/>
            <a:ext cx="3657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0" y="2194560"/>
            <a:ext cx="274320" cy="201168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5029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1737360"/>
            <a:ext cx="3657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8840" y="2194560"/>
            <a:ext cx="274320" cy="201168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03120" y="5029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1737360"/>
            <a:ext cx="3657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1760" y="2194560"/>
            <a:ext cx="274320" cy="201168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5029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737360"/>
            <a:ext cx="3657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54680" y="2194560"/>
            <a:ext cx="274320" cy="201168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5029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737360"/>
            <a:ext cx="3657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0" y="2377439"/>
            <a:ext cx="27432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0" y="3474720"/>
            <a:ext cx="27432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5029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1737360"/>
            <a:ext cx="3657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2560320"/>
            <a:ext cx="27432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5029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3716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ea typeface="思源宋体"/>
                <a:cs typeface="思源宋体"/>
              </a:rPr>
              <a:t>关键观察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182880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仅当 Cas9 与 crRNA、tracrRNA 三者同时存在时才能切割靶 DNA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单独加入任一 RNA 或仅 Cas9 均无切割活性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单 RNA (crRNA 或 tracrRNA) 无法引导 Cas9 有效切割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4023360"/>
            <a:ext cx="6858000" cy="27432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42062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ea typeface="思源宋体"/>
                <a:cs typeface="思源宋体"/>
              </a:rPr>
              <a:t>结论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45720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crRNA 与 tracrRNA 形成双 RNA 复合体，共同引导 Cas9 靶向切割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Cas9 需要 crRNA 与 tracrRNA 双 RNA 引导才能完成序列特异性 DNA 切割（Jinek et al., 2012, Fig.4）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Figure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  <a:ea typeface="思源宋体"/>
                <a:cs typeface="思源宋体"/>
              </a:rPr>
              <a:t>结果 2：切割效率定量分析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280160"/>
          <a:ext cx="1069848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212080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反应条件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双 RNA 引导下切割效率达 95%，显著高于单 RNA 条件（15%）—— 证实双 RNA 的可编程引导性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切割效率通过凝胶条带灰度定量（ImageJ），误差线 = 3 次独立实验 SD（Jinek et al., 2012, Fig.5）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Figure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  <a:ea typeface="思源宋体"/>
                <a:cs typeface="思源宋体"/>
              </a:rPr>
              <a:t>结果 3：PAM (5'-NGG-3') 序列决定靶向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  <a:ea typeface="思源宋体"/>
                <a:cs typeface="思源宋体"/>
              </a:rPr>
              <a:t>靶序列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  <a:ea typeface="思源宋体"/>
                <a:cs typeface="思源宋体"/>
              </a:rPr>
              <a:t>序列 (5'-3')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13716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  <a:ea typeface="思源宋体"/>
                <a:cs typeface="思源宋体"/>
              </a:rPr>
              <a:t>PAM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3716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  <a:ea typeface="思源宋体"/>
                <a:cs typeface="思源宋体"/>
              </a:rPr>
              <a:t>切割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1115568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protospacer A (NGG)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4495E"/>
                </a:solidFill>
                <a:latin typeface="Consolas"/>
                <a:ea typeface="思源宋体"/>
                <a:cs typeface="思源宋体"/>
              </a:rPr>
              <a:t>...ATCGTACGTTTAAGGGCTAGCGAGAGTGGCGTGC...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920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ea typeface="思源宋体"/>
                <a:cs typeface="思源宋体"/>
              </a:rPr>
              <a:t>5' - N G G - 3'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1920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0392B"/>
                </a:solidFill>
                <a:ea typeface="思源宋体"/>
                <a:cs typeface="思源宋体"/>
              </a:rPr>
              <a:t>切割 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23160"/>
            <a:ext cx="11155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0320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protospacer B (NAG)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560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4495E"/>
                </a:solidFill>
                <a:latin typeface="Consolas"/>
                <a:ea typeface="思源宋体"/>
                <a:cs typeface="思源宋体"/>
              </a:rPr>
              <a:t>...ATCGTACGTTTAAGGGCTAGCGAGAGTGGAGTGC...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560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E44AD"/>
                </a:solidFill>
                <a:ea typeface="思源宋体"/>
                <a:cs typeface="思源宋体"/>
              </a:rPr>
              <a:t>5' - N A G - 3'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25603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E44AD"/>
                </a:solidFill>
                <a:ea typeface="思源宋体"/>
                <a:cs typeface="思源宋体"/>
              </a:rPr>
              <a:t>切割 ✓ (弱)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63239"/>
            <a:ext cx="1115568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00399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protospacer C (NGA)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20039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4495E"/>
                </a:solidFill>
                <a:latin typeface="Consolas"/>
                <a:ea typeface="思源宋体"/>
                <a:cs typeface="思源宋体"/>
              </a:rPr>
              <a:t>...ATCGTACGTTTAAGGGCTAGCGAGAGTGGAGTGC...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20039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  <a:ea typeface="思源宋体"/>
                <a:cs typeface="思源宋体"/>
              </a:rPr>
              <a:t>5' - N G A - 3'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3200399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ea typeface="思源宋体"/>
                <a:cs typeface="思源宋体"/>
              </a:rPr>
              <a:t>无切割 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937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ea typeface="思源宋体"/>
                <a:cs typeface="思源宋体"/>
              </a:rPr>
              <a:t>关键发现：PAM 第三位必须是 G (NGG)；NGA 变异导致切割活性完全丧失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PAM 序列位于靶位点下游，Cas9 通过识别 PAM 区分自身 DNA 与外源 DNA（Jinek et al., 2012, Fig.6）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Figure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  <a:ea typeface="思源宋体"/>
                <a:cs typeface="思源宋体"/>
              </a:rPr>
              <a:t>结果 4：Cas9 双核酸酶结构域的切割机制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  <a:ea typeface="思源宋体"/>
                <a:cs typeface="思源宋体"/>
              </a:rPr>
              <a:t>Cas9 蛋白结构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743200" cy="14630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ea typeface="思源宋体"/>
                <a:cs typeface="思源宋体"/>
              </a:rPr>
              <a:t>RuvC 结构域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切割非靶标链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00400"/>
            <a:ext cx="2743200" cy="14630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HNH 结构域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切割靶标链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  <a:ea typeface="思源宋体"/>
                <a:cs typeface="思源宋体"/>
              </a:rPr>
              <a:t>双链 DNA 底物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2011680"/>
            <a:ext cx="7315200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286000"/>
            <a:ext cx="7315200" cy="10972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45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0392B"/>
                </a:solidFill>
                <a:ea typeface="思源宋体"/>
                <a:cs typeface="思源宋体"/>
              </a:rPr>
              <a:t>▲ 切割位点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1874519"/>
            <a:ext cx="18288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0" y="2743200"/>
            <a:ext cx="7315200" cy="27432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3017520"/>
            <a:ext cx="7315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crRNA 通过碱基互补配对识别靶标序列 (protospacer)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PAM 识别确保 Cas9 仅在正确位点切割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HNH 切割靶标链，RuvC 切割非靶标链，产生平末端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100" b="0">
                <a:solidFill>
                  <a:srgbClr val="34495E"/>
                </a:solidFill>
                <a:ea typeface="思源宋体"/>
                <a:cs typeface="思源宋体"/>
              </a:rPr>
              <a:t>切割位点位于 PAM 上游 3 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Cas9 通过两个独立的核酸酶结构域 (RuvC + HNH) 切割 DNA 双链（Jinek et al., 2012, Fig.7）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Figure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  <a:ea typeface="思源宋体"/>
                <a:cs typeface="思源宋体"/>
              </a:rPr>
              <a:t>讨论与科学意义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468880" cy="2926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2468880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ea typeface="思源宋体"/>
                <a:cs typeface="思源宋体"/>
              </a:rPr>
              <a:t>可编程性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103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改变 crRNA 序列即可重定向 Cas9 到任意靶位点 —— 奠定基因编辑基础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371600"/>
            <a:ext cx="2468880" cy="2926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246888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ea typeface="思源宋体"/>
                <a:cs typeface="思源宋体"/>
              </a:rPr>
              <a:t>双 RNA 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94560"/>
            <a:ext cx="2103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crRNA 提供靶向信息，tracrRNA 提供 Cas9 结合骨架，可融合为单向导 RNA (sgRNA)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468880" cy="2926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468880" cy="6400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ea typeface="思源宋体"/>
                <a:cs typeface="思源宋体"/>
              </a:rPr>
              <a:t>PAM 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94560"/>
            <a:ext cx="2103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5'-NGG-3' PAM 需求决定靶向范围，为后续工程化改造指明方向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468880" cy="2926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61120" y="1371600"/>
            <a:ext cx="2468880" cy="6400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ea typeface="思源宋体"/>
                <a:cs typeface="思源宋体"/>
              </a:rPr>
              <a:t>技术影响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194560"/>
            <a:ext cx="2103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1000" b="0">
                <a:solidFill>
                  <a:srgbClr val="34495E"/>
                </a:solidFill>
                <a:ea typeface="思源宋体"/>
                <a:cs typeface="思源宋体"/>
              </a:rPr>
              <a:t>直接催生 CRISPR-Cas9 基因组编辑技术，获 2020 年诺贝尔化学奖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206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本研究首次实现双 RNA 引导的可编程 DNA 切割，是 CRISPR 基因编辑技术的奠基工作（Jinek et al., 2012）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ea typeface="思源宋体"/>
                <a:cs typeface="思源宋体"/>
              </a:rPr>
              <a:t>后续发展：sgRNA 融合体 (Jinek et al., 2012) → 哺乳动物基因编辑 (Cong et al., 2013) → 临床治疗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  <a:ea typeface="思源宋体"/>
                <a:cs typeface="思源宋体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  <a:ea typeface="思源宋体"/>
                <a:cs typeface="思源宋体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300" b="0">
                <a:solidFill>
                  <a:srgbClr val="34495E"/>
                </a:solidFill>
                <a:ea typeface="思源宋体"/>
                <a:cs typeface="思源宋体"/>
              </a:rPr>
              <a:t>Cas9 是一种可编程的双 RNA 引导 DNA 内切酶</a:t>
            </a:r>
          </a:p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300" b="0">
                <a:solidFill>
                  <a:srgbClr val="34495E"/>
                </a:solidFill>
                <a:ea typeface="思源宋体"/>
                <a:cs typeface="思源宋体"/>
              </a:rPr>
              <a:t>crRNA + tracrRNA 双 RNA 复合体决定靶向特异性</a:t>
            </a:r>
          </a:p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300" b="0">
                <a:solidFill>
                  <a:srgbClr val="34495E"/>
                </a:solidFill>
                <a:ea typeface="思源宋体"/>
                <a:cs typeface="思源宋体"/>
              </a:rPr>
              <a:t>PAM (5'-NGG-3') 识别是靶向的前提条件</a:t>
            </a:r>
          </a:p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300" b="0">
                <a:solidFill>
                  <a:srgbClr val="34495E"/>
                </a:solidFill>
                <a:ea typeface="思源宋体"/>
                <a:cs typeface="思源宋体"/>
              </a:rPr>
              <a:t>RuvC + HNH 双结构域协同切割双链 DNA，产生平末端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834640"/>
            <a:ext cx="10698480" cy="27432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ea typeface="思源宋体"/>
                <a:cs typeface="思源宋体"/>
              </a:rPr>
              <a:t>参考文献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1. Jinek M, et al. Science 337(6096): 816-821 (2012). doi:10.1126/science.1225829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2. Cong L, et al. Science 339(6121): 819-823 (2013). 哺乳动物基因组编辑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3. Mali P, et al. Science 339(6121): 823-826 (2013). 人类细胞基因组编辑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4. Mojica FJM, et al. Microbiology 151: 2551-2561 (2005). PAM 预测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5. Doudna JA &amp; Charpentier E. Science 346: 1258096 (2014). CRISPR 综述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  <a:ea typeface="思源宋体"/>
                <a:cs typeface="思源宋体"/>
              </a:rPr>
              <a:t>本案例演示科学论文 PPT 范式：Figure 编号 · 语义色 · 引用 · 无动画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