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6528148" y="909995"/>
            <a:ext cx="11332584" cy="1288928"/>
            <a:chOff x="1772300" y="306306"/>
            <a:chExt cx="5667768" cy="644632"/>
          </a:xfrm>
        </p:grpSpPr>
        <p:sp>
          <p:nvSpPr>
            <p:cNvPr id="3" name="Comp 3"/>
            <p:cNvSpPr>
              <a:spLocks noChangeArrowheads="1"/>
            </p:cNvSpPr>
            <p:nvPr/>
          </p:nvSpPr>
          <p:spPr bwMode="auto">
            <a:xfrm>
              <a:off x="3067816" y="306306"/>
              <a:ext cx="3076741" cy="492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id-ID" sz="6400" b="0" i="0" u="none" strike="noStrike" cap="none" normalizeH="0" baseline="0" smtClean="0">
                  <a:ln>
                    <a:noFill/>
                  </a:ln>
                  <a:effectLst/>
                  <a:latin typeface="Lato Light" charset="0"/>
                  <a:cs typeface="Arial" panose="020B0604020202020204" pitchFamily="34" charset="0"/>
                </a:rPr>
                <a:t>SWOT Analysis</a:t>
              </a:r>
              <a:endParaRPr kumimoji="0" lang="en-US" sz="6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772300" y="751496"/>
              <a:ext cx="5667768" cy="19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Lato Light" charset="0"/>
                </a:rPr>
                <a:t>This is example  for a </a:t>
              </a:r>
              <a:r>
                <a:rPr lang="en-US" sz="2000" dirty="0" smtClean="0">
                  <a:latin typeface="Lato Light" charset="0"/>
                </a:rPr>
                <a:t>subtitle</a:t>
              </a:r>
              <a:endParaRPr lang="en-US" sz="2000" dirty="0">
                <a:latin typeface="Lato Light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8145982" y="3390563"/>
            <a:ext cx="3237681" cy="2699111"/>
            <a:chOff x="3711791" y="1384659"/>
            <a:chExt cx="1619262" cy="1349907"/>
          </a:xfrm>
        </p:grpSpPr>
        <p:sp>
          <p:nvSpPr>
            <p:cNvPr id="3" name="Comp 3"/>
            <p:cNvSpPr txBox="1"/>
            <p:nvPr/>
          </p:nvSpPr>
          <p:spPr>
            <a:xfrm>
              <a:off x="3711791" y="1919331"/>
              <a:ext cx="1619262" cy="81523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3200" b="1" dirty="0">
                  <a:solidFill>
                    <a:schemeClr val="bg1"/>
                  </a:solidFill>
                </a:rPr>
                <a:t>Strength:</a:t>
              </a:r>
            </a:p>
            <a:p>
              <a:pPr algn="ctr" rtl="0"/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Lorem</a:t>
              </a:r>
              <a:r>
                <a:rPr lang="en-US" sz="2000" dirty="0">
                  <a:solidFill>
                    <a:schemeClr val="bg1"/>
                  </a:solidFill>
                </a:rPr>
                <a:t> episode </a:t>
              </a:r>
              <a:r>
                <a:rPr lang="en-US" sz="2000" dirty="0" err="1">
                  <a:solidFill>
                    <a:schemeClr val="bg1"/>
                  </a:solidFill>
                </a:rPr>
                <a:t>khor</a:t>
              </a:r>
              <a:r>
                <a:rPr lang="en-US" sz="2000" dirty="0">
                  <a:solidFill>
                    <a:schemeClr val="bg1"/>
                  </a:solidFill>
                </a:rPr>
                <a:t> man </a:t>
              </a:r>
              <a:r>
                <a:rPr lang="en-US" sz="2000" dirty="0" err="1">
                  <a:solidFill>
                    <a:schemeClr val="bg1"/>
                  </a:solidFill>
                </a:rPr>
                <a:t>episide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italia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miandn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lorem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manchori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khor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ke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nashi</a:t>
              </a:r>
              <a:r>
                <a:rPr lang="en-US" sz="20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4" name="Comp 4"/>
            <p:cNvSpPr/>
            <p:nvPr/>
          </p:nvSpPr>
          <p:spPr>
            <a:xfrm>
              <a:off x="4133403" y="1384659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6400">
                  <a:latin typeface="Sosa" pitchFamily="2" charset="0"/>
                </a:rPr>
                <a:t>E</a:t>
              </a:r>
              <a:endParaRPr lang="en-US" sz="6400" dirty="0">
                <a:solidFill>
                  <a:schemeClr val="bg1"/>
                </a:solidFill>
                <a:latin typeface="Sosa" pitchFamily="2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3304992" y="3240740"/>
            <a:ext cx="3237681" cy="2736105"/>
            <a:chOff x="6791928" y="1361669"/>
            <a:chExt cx="1619262" cy="1368409"/>
          </a:xfrm>
        </p:grpSpPr>
        <p:sp>
          <p:nvSpPr>
            <p:cNvPr id="3" name="Comp 3"/>
            <p:cNvSpPr txBox="1"/>
            <p:nvPr/>
          </p:nvSpPr>
          <p:spPr>
            <a:xfrm>
              <a:off x="6791928" y="1914843"/>
              <a:ext cx="1619262" cy="81523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3200" b="1" dirty="0">
                  <a:solidFill>
                    <a:schemeClr val="bg1"/>
                  </a:solidFill>
                </a:rPr>
                <a:t>Weakness:</a:t>
              </a:r>
            </a:p>
            <a:p>
              <a:pPr algn="ctr" rtl="0"/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Lorem</a:t>
              </a:r>
              <a:r>
                <a:rPr lang="en-US" sz="2000" dirty="0">
                  <a:solidFill>
                    <a:schemeClr val="bg1"/>
                  </a:solidFill>
                </a:rPr>
                <a:t> episode </a:t>
              </a:r>
              <a:r>
                <a:rPr lang="en-US" sz="2000" dirty="0" err="1">
                  <a:solidFill>
                    <a:schemeClr val="bg1"/>
                  </a:solidFill>
                </a:rPr>
                <a:t>khor</a:t>
              </a:r>
              <a:r>
                <a:rPr lang="en-US" sz="2000" dirty="0">
                  <a:solidFill>
                    <a:schemeClr val="bg1"/>
                  </a:solidFill>
                </a:rPr>
                <a:t> man </a:t>
              </a:r>
              <a:r>
                <a:rPr lang="en-US" sz="2000" dirty="0" err="1">
                  <a:solidFill>
                    <a:schemeClr val="bg1"/>
                  </a:solidFill>
                </a:rPr>
                <a:t>episide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italia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miandn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lorem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manchori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khor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ke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nashi</a:t>
              </a:r>
              <a:r>
                <a:rPr lang="en-US" sz="20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4" name="Comp 4"/>
            <p:cNvSpPr/>
            <p:nvPr/>
          </p:nvSpPr>
          <p:spPr>
            <a:xfrm>
              <a:off x="7306331" y="1361669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330" dirty="0">
                  <a:latin typeface="Sosa" pitchFamily="2" charset="0"/>
                </a:rPr>
                <a:t>Ĥ</a:t>
              </a:r>
              <a:endParaRPr lang="en-US" sz="5330" dirty="0">
                <a:solidFill>
                  <a:schemeClr val="bg1"/>
                </a:solidFill>
                <a:latin typeface="Sosa" pitchFamily="2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3255053" y="8381753"/>
            <a:ext cx="3237681" cy="2768703"/>
            <a:chOff x="6771267" y="4598274"/>
            <a:chExt cx="1619262" cy="1384712"/>
          </a:xfrm>
        </p:grpSpPr>
        <p:sp>
          <p:nvSpPr>
            <p:cNvPr id="3" name="Comp 3"/>
            <p:cNvSpPr txBox="1"/>
            <p:nvPr/>
          </p:nvSpPr>
          <p:spPr>
            <a:xfrm>
              <a:off x="6771267" y="5167751"/>
              <a:ext cx="1619262" cy="81523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3200" b="1" dirty="0" err="1">
                  <a:solidFill>
                    <a:schemeClr val="bg1"/>
                  </a:solidFill>
                </a:rPr>
                <a:t>Oppurtunities</a:t>
              </a:r>
              <a:r>
                <a:rPr lang="en-US" sz="3200" b="1" dirty="0">
                  <a:solidFill>
                    <a:schemeClr val="bg1"/>
                  </a:solidFill>
                </a:rPr>
                <a:t>:</a:t>
              </a:r>
            </a:p>
            <a:p>
              <a:pPr algn="ctr" rtl="0"/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Lorem</a:t>
              </a:r>
              <a:r>
                <a:rPr lang="en-US" sz="2000" dirty="0">
                  <a:solidFill>
                    <a:schemeClr val="bg1"/>
                  </a:solidFill>
                </a:rPr>
                <a:t> episode </a:t>
              </a:r>
              <a:r>
                <a:rPr lang="en-US" sz="2000" dirty="0" err="1">
                  <a:solidFill>
                    <a:schemeClr val="bg1"/>
                  </a:solidFill>
                </a:rPr>
                <a:t>khor</a:t>
              </a:r>
              <a:r>
                <a:rPr lang="en-US" sz="2000" dirty="0">
                  <a:solidFill>
                    <a:schemeClr val="bg1"/>
                  </a:solidFill>
                </a:rPr>
                <a:t> man </a:t>
              </a:r>
              <a:r>
                <a:rPr lang="en-US" sz="2000" dirty="0" err="1">
                  <a:solidFill>
                    <a:schemeClr val="bg1"/>
                  </a:solidFill>
                </a:rPr>
                <a:t>episide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italia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miandn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lorem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manchori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khor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ke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nashi</a:t>
              </a:r>
              <a:r>
                <a:rPr lang="en-US" sz="20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4" name="Comp 4"/>
            <p:cNvSpPr/>
            <p:nvPr/>
          </p:nvSpPr>
          <p:spPr>
            <a:xfrm>
              <a:off x="7231767" y="4598274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6400">
                  <a:latin typeface="Sosa" pitchFamily="2" charset="0"/>
                </a:rPr>
                <a:t>7</a:t>
              </a:r>
              <a:endParaRPr lang="en-US" sz="6400" dirty="0">
                <a:solidFill>
                  <a:schemeClr val="bg1"/>
                </a:solidFill>
                <a:latin typeface="Sosa" pitchFamily="2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8123332" y="8381753"/>
            <a:ext cx="3237681" cy="2667727"/>
            <a:chOff x="3611569" y="4654592"/>
            <a:chExt cx="1619262" cy="1334211"/>
          </a:xfrm>
        </p:grpSpPr>
        <p:sp>
          <p:nvSpPr>
            <p:cNvPr id="3" name="Comp 3"/>
            <p:cNvSpPr txBox="1"/>
            <p:nvPr/>
          </p:nvSpPr>
          <p:spPr>
            <a:xfrm>
              <a:off x="3611569" y="5235179"/>
              <a:ext cx="1619262" cy="75362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0"/>
              <a:r>
                <a:rPr lang="en-US" sz="3200" b="1" dirty="0">
                  <a:solidFill>
                    <a:schemeClr val="bg1"/>
                  </a:solidFill>
                </a:rPr>
                <a:t>Threads:</a:t>
              </a:r>
            </a:p>
            <a:p>
              <a:pPr algn="ctr" rtl="0"/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Lorem</a:t>
              </a:r>
              <a:r>
                <a:rPr lang="en-US" sz="2000" dirty="0">
                  <a:solidFill>
                    <a:schemeClr val="bg1"/>
                  </a:solidFill>
                </a:rPr>
                <a:t> episode </a:t>
              </a:r>
              <a:r>
                <a:rPr lang="en-US" sz="2000" dirty="0" err="1">
                  <a:solidFill>
                    <a:schemeClr val="bg1"/>
                  </a:solidFill>
                </a:rPr>
                <a:t>khor</a:t>
              </a:r>
              <a:r>
                <a:rPr lang="en-US" sz="2000" dirty="0">
                  <a:solidFill>
                    <a:schemeClr val="bg1"/>
                  </a:solidFill>
                </a:rPr>
                <a:t> man </a:t>
              </a:r>
              <a:r>
                <a:rPr lang="en-US" sz="2000" dirty="0" err="1">
                  <a:solidFill>
                    <a:schemeClr val="bg1"/>
                  </a:solidFill>
                </a:rPr>
                <a:t>episide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italia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miandn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lorem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manchori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khor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ke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</a:rPr>
                <a:t>nashi</a:t>
              </a:r>
              <a:r>
                <a:rPr lang="en-US" sz="20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4" name="Comp 4"/>
            <p:cNvSpPr/>
            <p:nvPr/>
          </p:nvSpPr>
          <p:spPr>
            <a:xfrm>
              <a:off x="4197653" y="4654592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d-ID" sz="5330">
                  <a:latin typeface="Sosa" pitchFamily="2" charset="0"/>
                </a:rPr>
                <a:t>a</a:t>
              </a:r>
              <a:endParaRPr lang="en-US" sz="5330" dirty="0">
                <a:solidFill>
                  <a:schemeClr val="bg1"/>
                </a:solidFill>
                <a:latin typeface="Sosa" pitchFamily="2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8181557" y="3657270"/>
            <a:ext cx="8140130" cy="8140130"/>
            <a:chOff x="3386666" y="719666"/>
            <a:chExt cx="5418667" cy="5418667"/>
          </a:xfrm>
        </p:grpSpPr>
        <p:sp>
          <p:nvSpPr>
            <p:cNvPr id="3" name="Comp 3"/>
            <p:cNvSpPr/>
            <p:nvPr/>
          </p:nvSpPr>
          <p:spPr>
            <a:xfrm>
              <a:off x="3386666" y="719666"/>
              <a:ext cx="5418667" cy="5418667"/>
            </a:xfrm>
            <a:prstGeom prst="diamond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" name="Comp 4"/>
            <p:cNvSpPr/>
            <p:nvPr/>
          </p:nvSpPr>
          <p:spPr>
            <a:xfrm>
              <a:off x="3901439" y="123443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995" kern="1200">
                  <a:latin typeface="+mj-lt"/>
                </a:rPr>
                <a:t>S</a:t>
              </a:r>
            </a:p>
          </p:txBody>
        </p:sp>
        <p:sp>
          <p:nvSpPr>
            <p:cNvPr id="5" name="Comp 5"/>
            <p:cNvSpPr/>
            <p:nvPr/>
          </p:nvSpPr>
          <p:spPr>
            <a:xfrm>
              <a:off x="6177280" y="123443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GB" sz="15995" kern="1200">
                  <a:latin typeface="+mj-lt"/>
                </a:rPr>
                <a:t>V</a:t>
              </a:r>
            </a:p>
          </p:txBody>
        </p:sp>
        <p:sp>
          <p:nvSpPr>
            <p:cNvPr id="6" name="Comp 6"/>
            <p:cNvSpPr/>
            <p:nvPr/>
          </p:nvSpPr>
          <p:spPr>
            <a:xfrm>
              <a:off x="3901439" y="351027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GB" sz="15995" kern="1200">
                  <a:latin typeface="+mj-lt"/>
                </a:rPr>
                <a:t>R</a:t>
              </a:r>
            </a:p>
          </p:txBody>
        </p:sp>
        <p:sp>
          <p:nvSpPr>
            <p:cNvPr id="7" name="Comp 7"/>
            <p:cNvSpPr/>
            <p:nvPr/>
          </p:nvSpPr>
          <p:spPr>
            <a:xfrm>
              <a:off x="6177280" y="351027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995" kern="1200" smtClean="0"/>
                <a:t>O</a:t>
              </a:r>
              <a:endParaRPr lang="en-GB" sz="15995" kern="12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125599" y="4314722"/>
            <a:ext cx="6138443" cy="1937351"/>
            <a:chOff x="8716043" y="2853384"/>
            <a:chExt cx="3070021" cy="968928"/>
          </a:xfrm>
        </p:grpSpPr>
        <p:sp>
          <p:nvSpPr>
            <p:cNvPr id="3" name="Comp 3"/>
            <p:cNvSpPr txBox="1"/>
            <p:nvPr/>
          </p:nvSpPr>
          <p:spPr>
            <a:xfrm>
              <a:off x="8716043" y="3222716"/>
              <a:ext cx="3070021" cy="599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400" smtClean="0"/>
                <a:t>Lorem </a:t>
              </a:r>
              <a:r>
                <a:rPr lang="en-GB" sz="2400"/>
                <a:t>ipsum dolor sit amet, consectetur adipiscing elit, sed do eiusmod tempor incididunt ut labore et dolore magna </a:t>
              </a:r>
              <a:r>
                <a:rPr lang="en-GB" sz="2400" smtClean="0"/>
                <a:t>aliqua</a:t>
              </a:r>
              <a:endParaRPr lang="en-GB" sz="2400"/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0483657" y="2853384"/>
              <a:ext cx="1302407" cy="322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smtClean="0">
                  <a:solidFill>
                    <a:schemeClr val="accent1"/>
                  </a:solidFill>
                </a:rPr>
                <a:t>Web Analysis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125599" y="8993290"/>
            <a:ext cx="6138443" cy="1937351"/>
            <a:chOff x="8716043" y="2853384"/>
            <a:chExt cx="3070021" cy="968928"/>
          </a:xfrm>
        </p:grpSpPr>
        <p:sp>
          <p:nvSpPr>
            <p:cNvPr id="3" name="Comp 3"/>
            <p:cNvSpPr txBox="1"/>
            <p:nvPr/>
          </p:nvSpPr>
          <p:spPr>
            <a:xfrm>
              <a:off x="8716043" y="3222716"/>
              <a:ext cx="3070021" cy="599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400" smtClean="0"/>
                <a:t>Lorem </a:t>
              </a:r>
              <a:r>
                <a:rPr lang="en-GB" sz="2400"/>
                <a:t>ipsum dolor sit amet, consectetur adipiscing elit, sed do eiusmod tempor incididunt ut labore et dolore magna </a:t>
              </a:r>
              <a:r>
                <a:rPr lang="en-GB" sz="2400" smtClean="0"/>
                <a:t>aliqua</a:t>
              </a:r>
              <a:endParaRPr lang="en-GB" sz="2400"/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0483657" y="2853384"/>
              <a:ext cx="1302407" cy="322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smtClean="0">
                  <a:solidFill>
                    <a:schemeClr val="accent4"/>
                  </a:solidFill>
                </a:rPr>
                <a:t>Web Analysis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