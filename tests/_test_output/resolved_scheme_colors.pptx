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8181557" y="3657270"/>
            <a:ext cx="8140130" cy="8140130"/>
            <a:chOff x="3386666" y="719666"/>
            <a:chExt cx="5418667" cy="5418667"/>
          </a:xfrm>
        </p:grpSpPr>
        <p:sp>
          <p:nvSpPr>
            <p:cNvPr id="3" name="Comp 3"/>
            <p:cNvSpPr/>
            <p:nvPr/>
          </p:nvSpPr>
          <p:spPr>
            <a:xfrm>
              <a:off x="3386666" y="719666"/>
              <a:ext cx="5418667" cy="5418667"/>
            </a:xfrm>
            <a:prstGeom prst="diamond">
              <a:avLst/>
            </a:prstGeom>
            <a:solidFill>
              <a:srgbClr val="44546A">
                <a:lumMod val="20000"/>
                <a:lumOff val="80000"/>
              </a:srgbClr>
            </a:solidFill>
          </p:spPr>
          <p:style>
            <a:lnRef idx="0">
              <a:srgbClr val="00A39E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tint val="40000"/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tint val="40000"/>
                <a:hueOff val="0"/>
                <a:satOff val="0"/>
                <a:lumOff val="0"/>
                <a:alphaOff val="0"/>
              </a:srgbClr>
            </a:effectRef>
            <a:fontRef idx="minor">
              <a:srgbClr val="5C5C5C">
                <a:hueOff val="0"/>
                <a:satOff val="0"/>
                <a:lumOff val="0"/>
                <a:alphaOff val="0"/>
              </a:srgbClr>
            </a:fontRef>
          </p:style>
        </p:sp>
        <p:sp>
          <p:nvSpPr>
            <p:cNvPr id="4" name="Comp 4"/>
            <p:cNvSpPr/>
            <p:nvPr/>
          </p:nvSpPr>
          <p:spPr>
            <a:xfrm>
              <a:off x="3901439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>
                  <a:latin typeface="+mj-lt"/>
                </a:rPr>
                <a:t>S</a:t>
              </a:r>
            </a:p>
          </p:txBody>
        </p:sp>
        <p:sp>
          <p:nvSpPr>
            <p:cNvPr id="5" name="Comp 5"/>
            <p:cNvSpPr/>
            <p:nvPr/>
          </p:nvSpPr>
          <p:spPr>
            <a:xfrm>
              <a:off x="6177280" y="123443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2C3E50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V</a:t>
              </a:r>
            </a:p>
          </p:txBody>
        </p:sp>
        <p:sp>
          <p:nvSpPr>
            <p:cNvPr id="6" name="Comp 6"/>
            <p:cNvSpPr/>
            <p:nvPr/>
          </p:nvSpPr>
          <p:spPr>
            <a:xfrm>
              <a:off x="3901439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E23761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altLang="en-GB" sz="15995" kern="1200">
                  <a:latin typeface="+mj-lt"/>
                </a:rPr>
                <a:t>R</a:t>
              </a:r>
            </a:p>
          </p:txBody>
        </p:sp>
        <p:sp>
          <p:nvSpPr>
            <p:cNvPr id="7" name="Comp 7"/>
            <p:cNvSpPr/>
            <p:nvPr/>
          </p:nvSpPr>
          <p:spPr>
            <a:xfrm>
              <a:off x="6177280" y="3510279"/>
              <a:ext cx="2113280" cy="2113280"/>
            </a:xfrm>
            <a:custGeom>
              <a:avLst/>
              <a:gdLst>
                <a:gd name="connsiteX0" fmla="*/ 0 w 2113280"/>
                <a:gd name="connsiteY0" fmla="*/ 352220 h 2113280"/>
                <a:gd name="connsiteX1" fmla="*/ 352220 w 2113280"/>
                <a:gd name="connsiteY1" fmla="*/ 0 h 2113280"/>
                <a:gd name="connsiteX2" fmla="*/ 1761060 w 2113280"/>
                <a:gd name="connsiteY2" fmla="*/ 0 h 2113280"/>
                <a:gd name="connsiteX3" fmla="*/ 2113280 w 2113280"/>
                <a:gd name="connsiteY3" fmla="*/ 352220 h 2113280"/>
                <a:gd name="connsiteX4" fmla="*/ 2113280 w 2113280"/>
                <a:gd name="connsiteY4" fmla="*/ 1761060 h 2113280"/>
                <a:gd name="connsiteX5" fmla="*/ 1761060 w 2113280"/>
                <a:gd name="connsiteY5" fmla="*/ 2113280 h 2113280"/>
                <a:gd name="connsiteX6" fmla="*/ 352220 w 2113280"/>
                <a:gd name="connsiteY6" fmla="*/ 2113280 h 2113280"/>
                <a:gd name="connsiteX7" fmla="*/ 0 w 2113280"/>
                <a:gd name="connsiteY7" fmla="*/ 1761060 h 2113280"/>
                <a:gd name="connsiteX8" fmla="*/ 0 w 2113280"/>
                <a:gd name="connsiteY8" fmla="*/ 352220 h 2113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13280" h="2113280">
                  <a:moveTo>
                    <a:pt x="0" y="352220"/>
                  </a:moveTo>
                  <a:cubicBezTo>
                    <a:pt x="0" y="157694"/>
                    <a:pt x="157694" y="0"/>
                    <a:pt x="352220" y="0"/>
                  </a:cubicBezTo>
                  <a:lnTo>
                    <a:pt x="1761060" y="0"/>
                  </a:lnTo>
                  <a:cubicBezTo>
                    <a:pt x="1955586" y="0"/>
                    <a:pt x="2113280" y="157694"/>
                    <a:pt x="2113280" y="352220"/>
                  </a:cubicBezTo>
                  <a:lnTo>
                    <a:pt x="2113280" y="1761060"/>
                  </a:lnTo>
                  <a:cubicBezTo>
                    <a:pt x="2113280" y="1955586"/>
                    <a:pt x="1955586" y="2113280"/>
                    <a:pt x="1761060" y="2113280"/>
                  </a:cubicBezTo>
                  <a:lnTo>
                    <a:pt x="352220" y="2113280"/>
                  </a:lnTo>
                  <a:cubicBezTo>
                    <a:pt x="157694" y="2113280"/>
                    <a:pt x="0" y="1955586"/>
                    <a:pt x="0" y="1761060"/>
                  </a:cubicBezTo>
                  <a:lnTo>
                    <a:pt x="0" y="352220"/>
                  </a:lnTo>
                  <a:close/>
                </a:path>
              </a:pathLst>
            </a:custGeom>
            <a:solidFill>
              <a:srgbClr val="F39C11"/>
            </a:solidFill>
            <a:ln>
              <a:noFill/>
            </a:ln>
          </p:spPr>
          <p:style>
            <a:lnRef idx="2">
              <a:srgbClr val="FFFFFF">
                <a:hueOff val="0"/>
                <a:satOff val="0"/>
                <a:lumOff val="0"/>
                <a:alphaOff val="0"/>
              </a:srgbClr>
            </a:lnRef>
            <a:fillRef idx="1">
              <a:srgbClr val="00A39E">
                <a:hueOff val="0"/>
                <a:satOff val="0"/>
                <a:lumOff val="0"/>
                <a:alphaOff val="0"/>
              </a:srgbClr>
            </a:fillRef>
            <a:effectRef idx="0">
              <a:srgbClr val="00A39E">
                <a:hueOff val="0"/>
                <a:satOff val="0"/>
                <a:lumOff val="0"/>
                <a:alphaOff val="0"/>
              </a:srgbClr>
            </a:effectRef>
            <a:fontRef idx="minor">
              <a:srgbClr val="FFFFFF"/>
            </a:fontRef>
          </p:style>
          <p:txBody>
            <a:bodyPr spcFirstLastPara="0" vert="horz" wrap="square" lIns="602407" tIns="602407" rIns="602407" bIns="602407" numCol="1" spcCol="1270" anchor="ctr" anchorCtr="0">
              <a:noAutofit/>
            </a:bodyPr>
            <a:lstStyle/>
            <a:p>
              <a:pPr lvl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5995" kern="1200" smtClean="0"/>
                <a:t>O</a:t>
              </a:r>
              <a:endParaRPr lang="en-GB" sz="15995" kern="12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5395006" y="4448566"/>
            <a:ext cx="6564822" cy="1674080"/>
            <a:chOff x="7699508" y="2223969"/>
            <a:chExt cx="3283266" cy="837258"/>
          </a:xfrm>
        </p:grpSpPr>
        <p:sp>
          <p:nvSpPr>
            <p:cNvPr id="3" name="Comp 3"/>
            <p:cNvSpPr/>
            <p:nvPr/>
          </p:nvSpPr>
          <p:spPr>
            <a:xfrm rot="5400000">
              <a:off x="9371697" y="1378195"/>
              <a:ext cx="765300" cy="2456854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2C3E50"/>
            </a:solidFill>
            <a:ln>
              <a:noFill/>
            </a:ln>
          </p:spPr>
          <p:style>
            <a:lnRef idx="2">
              <a:srgbClr val="3A3838">
                <a:shade val="50000"/>
              </a:srgbClr>
            </a:lnRef>
            <a:fillRef idx="1">
              <a:srgbClr val="3A3838"/>
            </a:fillRef>
            <a:effectRef idx="0">
              <a:srgbClr val="3A383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7699508" y="2223969"/>
              <a:ext cx="826412" cy="765300"/>
              <a:chOff x="7699508" y="2223969"/>
              <a:chExt cx="826412" cy="765300"/>
            </a:xfrm>
          </p:grpSpPr>
          <p:sp>
            <p:nvSpPr>
              <p:cNvPr id="5" name="Comp 5"/>
              <p:cNvSpPr/>
              <p:nvPr/>
            </p:nvSpPr>
            <p:spPr>
              <a:xfrm rot="16200000">
                <a:off x="7730064" y="2193413"/>
                <a:ext cx="765300" cy="82641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rgbClr val="FFFFFF">
                  <a:lumMod val="75000"/>
                </a:srgbClr>
              </a:solidFill>
              <a:ln>
                <a:noFill/>
              </a:ln>
            </p:spPr>
            <p:style>
              <a:lnRef idx="2">
                <a:srgbClr val="3A3838">
                  <a:shade val="50000"/>
                </a:srgbClr>
              </a:lnRef>
              <a:fillRef idx="1">
                <a:srgbClr val="3A3838"/>
              </a:fillRef>
              <a:effectRef idx="0">
                <a:srgbClr val="3A3838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Comp 6"/>
              <p:cNvSpPr txBox="1"/>
              <p:nvPr/>
            </p:nvSpPr>
            <p:spPr>
              <a:xfrm>
                <a:off x="7831419" y="2413875"/>
                <a:ext cx="673100" cy="456087"/>
              </a:xfrm>
              <a:prstGeom prst="rect">
                <a:avLst/>
              </a:prstGeom>
            </p:spPr>
            <p:txBody>
              <a:bodyPr vert="horz" lIns="0" tIns="0" rIns="182832" bIns="0" rtlCol="0" anchor="ctr">
                <a:noAutofit/>
              </a:bodyPr>
              <a:lstStyle>
                <a:defPPr>
                  <a:defRPr lang="en-US"/>
                </a:defPPr>
                <a:lvl1pPr marL="0" algn="r" defTabSz="914400" rtl="0" eaLnBrk="1" latinLnBrk="0" hangingPunct="1">
                  <a:defRPr sz="1200" kern="1200">
                    <a:solidFill>
                      <a:srgbClr val="000000">
                        <a:tint val="75000"/>
                      </a:srgb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GB" sz="9600" b="1" dirty="0" smtClean="0">
                    <a:solidFill>
                      <a:srgbClr val="FFFFFF"/>
                    </a:solidFill>
                    <a:latin typeface="Lato Black" panose="020F0A02020204030203" pitchFamily="34" charset="0"/>
                    <a:cs typeface="Clear Sans Medium" panose="020B0603030202020304" pitchFamily="34" charset="0"/>
                  </a:rPr>
                  <a:t>W</a:t>
                </a:r>
                <a:endParaRPr lang="en-GB" sz="9600" b="1" dirty="0">
                  <a:solidFill>
                    <a:srgbClr val="FFFFFF"/>
                  </a:solidFill>
                  <a:latin typeface="Lato Black" panose="020F0A02020204030203" pitchFamily="34" charset="0"/>
                  <a:cs typeface="Clear Sans Medium" panose="020B0603030202020304" pitchFamily="34" charset="0"/>
                </a:endParaRPr>
              </a:p>
            </p:txBody>
          </p:sp>
        </p:grpSp>
        <p:sp>
          <p:nvSpPr>
            <p:cNvPr id="7" name="Comp 7"/>
            <p:cNvSpPr txBox="1"/>
            <p:nvPr/>
          </p:nvSpPr>
          <p:spPr>
            <a:xfrm>
              <a:off x="8593885" y="2322530"/>
              <a:ext cx="2266352" cy="738697"/>
            </a:xfrm>
            <a:prstGeom prst="rect">
              <a:avLst/>
            </a:prstGeom>
            <a:solidFill>
              <a:srgbClr val="2C3E5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Porem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ipsum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dolome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,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conetetur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adipiscing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elit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.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Seimpediet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tincidun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velit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laoreet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facilisis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400" dirty="0" err="1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raesent</a:t>
              </a:r>
              <a:r>
                <a:rPr lang="en-US" sz="2400" dirty="0" smtClean="0">
                  <a:solidFill>
                    <a:srgbClr val="FFFFFF"/>
                  </a:solidFill>
                  <a:latin typeface="Lato Light" charset="0"/>
                  <a:cs typeface="Clear Sans Light" panose="020B0303030202020304" pitchFamily="34" charset="0"/>
                </a:rPr>
                <a:t>.</a:t>
              </a:r>
              <a:endParaRPr lang="en-US" sz="2400" dirty="0">
                <a:solidFill>
                  <a:srgbClr val="FFFFFF"/>
                </a:solidFill>
                <a:latin typeface="Lato Light" charset="0"/>
                <a:cs typeface="Clear Sans Light" panose="020B0303030202020304" pitchFamily="34" charset="0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6528148" y="909995"/>
            <a:ext cx="11332584" cy="1288928"/>
            <a:chOff x="1772300" y="306306"/>
            <a:chExt cx="5667768" cy="644632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3067816" y="306306"/>
              <a:ext cx="3076741" cy="492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id-ID" sz="6400" b="0" i="0" u="none" strike="noStrike" cap="none" normalizeH="0" baseline="0" smtClean="0">
                  <a:ln>
                    <a:noFill/>
                  </a:ln>
                  <a:effectLst/>
                  <a:latin typeface="Lato Light" charset="0"/>
                  <a:cs typeface="Arial" panose="020B0604020202020204" pitchFamily="34" charset="0"/>
                </a:rPr>
                <a:t>SWOT Analysis</a:t>
              </a:r>
              <a:endParaRPr kumimoji="0" lang="en-US" sz="64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772300" y="751496"/>
              <a:ext cx="5667768" cy="199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Lato Light" charset="0"/>
                </a:rPr>
                <a:t>This is example  for a </a:t>
              </a:r>
              <a:r>
                <a:rPr lang="en-US" sz="2000" dirty="0" smtClean="0">
                  <a:latin typeface="Lato Light" charset="0"/>
                </a:rPr>
                <a:t>subtitle</a:t>
              </a:r>
              <a:endParaRPr lang="en-US" sz="2000" dirty="0"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095491" y="2264487"/>
            <a:ext cx="10541370" cy="10025050"/>
            <a:chOff x="6549451" y="1131645"/>
            <a:chExt cx="5272058" cy="5013831"/>
          </a:xfrm>
        </p:grpSpPr>
        <p:grpSp>
          <p:nvGrpSpPr>
            <p:cNvPr id="3" name="Comp 3"/>
            <p:cNvGrpSpPr/>
            <p:nvPr/>
          </p:nvGrpSpPr>
          <p:grpSpPr>
            <a:xfrm>
              <a:off x="6549451" y="1131645"/>
              <a:ext cx="5272058" cy="5013831"/>
              <a:chOff x="2862276" y="644943"/>
              <a:chExt cx="3954043" cy="3760374"/>
            </a:xfrm>
          </p:grpSpPr>
          <p:sp>
            <p:nvSpPr>
              <p:cNvPr id="4" name="Comp 4"/>
              <p:cNvSpPr/>
              <p:nvPr/>
            </p:nvSpPr>
            <p:spPr>
              <a:xfrm>
                <a:off x="2990279" y="704277"/>
                <a:ext cx="1345213" cy="1226352"/>
              </a:xfrm>
              <a:prstGeom prst="rect">
                <a:avLst/>
              </a:prstGeom>
              <a:solidFill>
                <a:srgbClr val="1D9A78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5453069" y="690641"/>
                <a:ext cx="1226352" cy="1250074"/>
              </a:xfrm>
              <a:prstGeom prst="rect">
                <a:avLst/>
              </a:prstGeom>
              <a:solidFill>
                <a:srgbClr val="1D6FA9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6" name="Comp 6"/>
              <p:cNvSpPr/>
              <p:nvPr/>
            </p:nvSpPr>
            <p:spPr>
              <a:xfrm>
                <a:off x="4238627" y="700073"/>
                <a:ext cx="1337506" cy="1232444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8BC145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7" name="Comp 7"/>
              <p:cNvSpPr/>
              <p:nvPr/>
            </p:nvSpPr>
            <p:spPr>
              <a:xfrm rot="16200000">
                <a:off x="2940287" y="1872427"/>
                <a:ext cx="1349417" cy="1247263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ED423A">
                  <a:lumMod val="75000"/>
                </a:srgbClr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8" name="Comp 8"/>
              <p:cNvSpPr/>
              <p:nvPr/>
            </p:nvSpPr>
            <p:spPr>
              <a:xfrm>
                <a:off x="2990279" y="3167067"/>
                <a:ext cx="1251530" cy="1233485"/>
              </a:xfrm>
              <a:prstGeom prst="rect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9" name="Comp 9"/>
              <p:cNvSpPr/>
              <p:nvPr/>
            </p:nvSpPr>
            <p:spPr>
              <a:xfrm>
                <a:off x="5453069" y="3167067"/>
                <a:ext cx="1226352" cy="1238250"/>
              </a:xfrm>
              <a:prstGeom prst="rect">
                <a:avLst/>
              </a:prstGeom>
              <a:solidFill>
                <a:srgbClr val="ED423A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0" name="Comp 10"/>
              <p:cNvSpPr/>
              <p:nvPr/>
            </p:nvSpPr>
            <p:spPr>
              <a:xfrm rot="10800000">
                <a:off x="4119311" y="3162301"/>
                <a:ext cx="1349417" cy="1243015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4B2C50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1" name="Comp 11"/>
              <p:cNvSpPr/>
              <p:nvPr/>
            </p:nvSpPr>
            <p:spPr>
              <a:xfrm rot="5400000">
                <a:off x="5402423" y="2003318"/>
                <a:ext cx="1349417" cy="1216808"/>
              </a:xfrm>
              <a:prstGeom prst="rightArrowCallout">
                <a:avLst>
                  <a:gd name="adj1" fmla="val 3048"/>
                  <a:gd name="adj2" fmla="val 6105"/>
                  <a:gd name="adj3" fmla="val 8906"/>
                  <a:gd name="adj4" fmla="val 91837"/>
                </a:avLst>
              </a:prstGeom>
              <a:solidFill>
                <a:srgbClr val="F19D19"/>
              </a:solidFill>
              <a:ln>
                <a:noFill/>
              </a:ln>
            </p:spPr>
            <p:style>
              <a:lnRef idx="2">
                <a:srgbClr val="1D9A78">
                  <a:shade val="50000"/>
                </a:srgbClr>
              </a:lnRef>
              <a:fillRef idx="1">
                <a:srgbClr val="1D9A78"/>
              </a:fillRef>
              <a:effectRef idx="0">
                <a:srgbClr val="1D9A78"/>
              </a:effectRef>
              <a:fontRef idx="minor">
                <a:srgbClr val="FFFFFF"/>
              </a:fontRef>
            </p:style>
            <p:txBody>
              <a:bodyPr rtlCol="1" anchor="ctr"/>
              <a:lstStyle/>
              <a:p>
                <a:pPr algn="ctr"/>
                <a:endParaRPr lang="ar-SA" sz="6400"/>
              </a:p>
            </p:txBody>
          </p:sp>
          <p:sp>
            <p:nvSpPr>
              <p:cNvPr id="12" name="Comp 12"/>
              <p:cNvSpPr txBox="1"/>
              <p:nvPr/>
            </p:nvSpPr>
            <p:spPr>
              <a:xfrm>
                <a:off x="3042202" y="1175019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Strength: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3" name="Comp 13"/>
              <p:cNvSpPr txBox="1"/>
              <p:nvPr/>
            </p:nvSpPr>
            <p:spPr>
              <a:xfrm>
                <a:off x="5471090" y="1165406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Weakness: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4" name="Comp 14"/>
              <p:cNvSpPr txBox="1"/>
              <p:nvPr/>
            </p:nvSpPr>
            <p:spPr>
              <a:xfrm>
                <a:off x="3021816" y="3698470"/>
                <a:ext cx="1214446" cy="56521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>
                    <a:solidFill>
                      <a:srgbClr val="FFFFFF"/>
                    </a:solidFill>
                  </a:rPr>
                  <a:t>Threads:</a:t>
                </a:r>
              </a:p>
              <a:p>
                <a:pPr algn="ctr" rtl="0"/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5" name="Comp 15"/>
              <p:cNvSpPr txBox="1"/>
              <p:nvPr/>
            </p:nvSpPr>
            <p:spPr>
              <a:xfrm>
                <a:off x="5471090" y="3698470"/>
                <a:ext cx="1214446" cy="61142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3200" b="1" dirty="0" err="1">
                    <a:solidFill>
                      <a:srgbClr val="FFFFFF"/>
                    </a:solidFill>
                  </a:rPr>
                  <a:t>Oppurtunities</a:t>
                </a:r>
                <a:r>
                  <a:rPr lang="en-US" sz="3200" b="1" dirty="0">
                    <a:solidFill>
                      <a:srgbClr val="FFFFFF"/>
                    </a:solidFill>
                  </a:rPr>
                  <a:t>:</a:t>
                </a:r>
              </a:p>
              <a:p>
                <a:pPr algn="ctr" rtl="0"/>
                <a:r>
                  <a:rPr lang="en-US" sz="28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episode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man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episide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italia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miandn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lorem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manchori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khor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ke</a:t>
                </a:r>
                <a:r>
                  <a:rPr lang="en-US" sz="2000" dirty="0">
                    <a:solidFill>
                      <a:srgbClr val="FFFFFF"/>
                    </a:solidFill>
                  </a:rPr>
                  <a:t> </a:t>
                </a:r>
                <a:r>
                  <a:rPr lang="en-US" sz="2000" dirty="0" err="1">
                    <a:solidFill>
                      <a:srgbClr val="FFFFFF"/>
                    </a:solidFill>
                  </a:rPr>
                  <a:t>nashi</a:t>
                </a:r>
                <a:r>
                  <a:rPr lang="en-US" sz="2000" dirty="0">
                    <a:solidFill>
                      <a:srgbClr val="FFFFFF"/>
                    </a:solidFill>
                  </a:rPr>
                  <a:t>.</a:t>
                </a:r>
              </a:p>
            </p:txBody>
          </p:sp>
          <p:sp>
            <p:nvSpPr>
              <p:cNvPr id="16" name="Comp 16"/>
              <p:cNvSpPr txBox="1"/>
              <p:nvPr/>
            </p:nvSpPr>
            <p:spPr>
              <a:xfrm>
                <a:off x="4057847" y="644943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S</a:t>
                </a:r>
              </a:p>
            </p:txBody>
          </p:sp>
          <p:sp>
            <p:nvSpPr>
              <p:cNvPr id="17" name="Comp 17"/>
              <p:cNvSpPr txBox="1"/>
              <p:nvPr/>
            </p:nvSpPr>
            <p:spPr>
              <a:xfrm>
                <a:off x="4252386" y="3120808"/>
                <a:ext cx="131763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O</a:t>
                </a:r>
              </a:p>
            </p:txBody>
          </p:sp>
          <p:sp>
            <p:nvSpPr>
              <p:cNvPr id="18" name="Comp 18"/>
              <p:cNvSpPr txBox="1"/>
              <p:nvPr/>
            </p:nvSpPr>
            <p:spPr>
              <a:xfrm>
                <a:off x="5282795" y="1890252"/>
                <a:ext cx="1533524" cy="1265488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W</a:t>
                </a:r>
              </a:p>
            </p:txBody>
          </p:sp>
          <p:sp>
            <p:nvSpPr>
              <p:cNvPr id="19" name="Comp 19"/>
              <p:cNvSpPr txBox="1"/>
              <p:nvPr/>
            </p:nvSpPr>
            <p:spPr>
              <a:xfrm>
                <a:off x="2862276" y="1883194"/>
                <a:ext cx="1533524" cy="1265488"/>
              </a:xfrm>
              <a:prstGeom prst="rect">
                <a:avLst/>
              </a:prstGeom>
              <a:solidFill>
                <a:srgbClr val="CB1B13"/>
              </a:solidFill>
            </p:spPr>
            <p:txBody>
              <a:bodyPr wrap="square" rtlCol="1">
                <a:spAutoFit/>
              </a:bodyPr>
              <a:lstStyle/>
              <a:p>
                <a:pPr algn="ctr" rtl="0"/>
                <a:r>
                  <a:rPr lang="en-US" sz="21325" b="1" dirty="0">
                    <a:solidFill>
                      <a:srgbClr val="FFFFFF"/>
                    </a:solidFill>
                  </a:rPr>
                  <a:t>T</a:t>
                </a:r>
              </a:p>
            </p:txBody>
          </p:sp>
        </p:grpSp>
        <p:sp>
          <p:nvSpPr>
            <p:cNvPr id="20" name="Comp 20"/>
            <p:cNvSpPr/>
            <p:nvPr/>
          </p:nvSpPr>
          <p:spPr>
            <a:xfrm>
              <a:off x="10542273" y="127242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en-US" sz="5330" dirty="0">
                  <a:latin typeface="Sosa" pitchFamily="2" charset="0"/>
                </a:rPr>
                <a:t>Ĥ</a:t>
              </a:r>
              <a:endParaRPr lang="en-US" sz="533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1" name="Comp 21"/>
            <p:cNvSpPr/>
            <p:nvPr/>
          </p:nvSpPr>
          <p:spPr>
            <a:xfrm>
              <a:off x="7210964" y="1303741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E</a:t>
              </a:r>
              <a:endParaRPr lang="en-US" sz="640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2" name="Comp 22"/>
            <p:cNvSpPr/>
            <p:nvPr/>
          </p:nvSpPr>
          <p:spPr>
            <a:xfrm>
              <a:off x="10488370" y="463353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6400">
                  <a:latin typeface="Sosa" pitchFamily="2" charset="0"/>
                </a:rPr>
                <a:t>7</a:t>
              </a:r>
              <a:endParaRPr lang="en-US" sz="640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  <p:sp>
          <p:nvSpPr>
            <p:cNvPr id="23" name="Comp 23"/>
            <p:cNvSpPr/>
            <p:nvPr/>
          </p:nvSpPr>
          <p:spPr>
            <a:xfrm>
              <a:off x="7348255" y="4622426"/>
              <a:ext cx="702068" cy="702069"/>
            </a:xfrm>
            <a:prstGeom prst="ellipse">
              <a:avLst/>
            </a:prstGeom>
            <a:noFill/>
            <a:ln w="6350">
              <a:noFill/>
            </a:ln>
          </p:spPr>
          <p:style>
            <a:lnRef idx="2">
              <a:srgbClr val="1D9A78">
                <a:shade val="50000"/>
              </a:srgbClr>
            </a:lnRef>
            <a:fillRef idx="1">
              <a:srgbClr val="1D9A78"/>
            </a:fillRef>
            <a:effectRef idx="0">
              <a:srgbClr val="1D9A78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r>
                <a:rPr lang="id-ID" sz="5330">
                  <a:latin typeface="Sosa" pitchFamily="2" charset="0"/>
                </a:rPr>
                <a:t>a</a:t>
              </a:r>
              <a:endParaRPr lang="en-US" sz="5330" dirty="0">
                <a:solidFill>
                  <a:srgbClr val="FFFFFF"/>
                </a:solidFill>
                <a:latin typeface="Sosa" pitchFamily="2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3495326" y="10133679"/>
            <a:ext cx="7335443" cy="2077387"/>
            <a:chOff x="1088140" y="5575698"/>
            <a:chExt cx="3923649" cy="1111171"/>
          </a:xfrm>
        </p:grpSpPr>
        <p:sp>
          <p:nvSpPr>
            <p:cNvPr id="3" name="Comp 3"/>
            <p:cNvSpPr txBox="1"/>
            <p:nvPr/>
          </p:nvSpPr>
          <p:spPr>
            <a:xfrm>
              <a:off x="3065003" y="5575698"/>
              <a:ext cx="1946786" cy="3450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GB" b="1" dirty="0">
                  <a:solidFill>
                    <a:srgbClr val="FF4F11"/>
                  </a:solidFill>
                  <a:latin typeface="Lato Black" panose="020F0A02020204030203" pitchFamily="34" charset="0"/>
                  <a:cs typeface="Clear Sans" panose="020B0503030202020304" pitchFamily="34" charset="0"/>
                </a:rPr>
                <a:t>Threats</a:t>
              </a:r>
            </a:p>
          </p:txBody>
        </p:sp>
        <p:sp>
          <p:nvSpPr>
            <p:cNvPr id="4" name="Comp 4"/>
            <p:cNvSpPr txBox="1"/>
            <p:nvPr/>
          </p:nvSpPr>
          <p:spPr>
            <a:xfrm>
              <a:off x="1088140" y="5946762"/>
              <a:ext cx="3912911" cy="740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Penime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estebup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manime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lvepa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ante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uka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imare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pimasa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quosm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santLrem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 </a:t>
              </a:r>
              <a:r>
                <a:rPr lang="en-US" sz="2800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pusamu</a:t>
              </a:r>
              <a:r>
                <a:rPr lang="en-US" sz="2800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Lato Light" charset="0"/>
                  <a:cs typeface="Clear Sans Light" panose="020B0303030202020304" pitchFamily="34" charset="0"/>
                </a:rPr>
                <a:t>.</a:t>
              </a:r>
              <a:endParaRPr lang="en-US" sz="2800" dirty="0">
                <a:solidFill>
                  <a:srgbClr val="000000">
                    <a:lumMod val="75000"/>
                    <a:lumOff val="25000"/>
                  </a:srgbClr>
                </a:solidFill>
                <a:latin typeface="Lato Light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246459" y="9276838"/>
            <a:ext cx="6849022" cy="1900517"/>
            <a:chOff x="623392" y="4638734"/>
            <a:chExt cx="3425403" cy="950506"/>
          </a:xfrm>
        </p:grpSpPr>
        <p:sp>
          <p:nvSpPr>
            <p:cNvPr id="3" name="Comp 3"/>
            <p:cNvSpPr txBox="1"/>
            <p:nvPr/>
          </p:nvSpPr>
          <p:spPr>
            <a:xfrm>
              <a:off x="623392" y="4638734"/>
              <a:ext cx="2846527" cy="950506"/>
            </a:xfrm>
            <a:prstGeom prst="rect">
              <a:avLst/>
            </a:prstGeom>
          </p:spPr>
          <p:txBody>
            <a:bodyPr vert="horz" lIns="182832" tIns="91416" rIns="182832" bIns="91416" rtlCol="0">
              <a:norm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1200" kern="1200">
                  <a:solidFill>
                    <a:srgbClr val="202F3E"/>
                  </a:solidFill>
                  <a:latin typeface="Roboto" panose="02000000000000000000" charset="0"/>
                  <a:ea typeface="Roboto" panose="02000000000000000000" charset="0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1200" kern="1200">
                  <a:solidFill>
                    <a:srgbClr val="202F3E"/>
                  </a:solidFill>
                  <a:latin typeface="Roboto" panose="02000000000000000000" charset="0"/>
                  <a:ea typeface="Roboto" panose="02000000000000000000" charset="0"/>
                  <a:cs typeface="+mn-cs"/>
                </a:defRPr>
              </a:lvl2pPr>
              <a:lvl3pPr marL="9144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1000" kern="1200">
                  <a:solidFill>
                    <a:srgbClr val="202F3E"/>
                  </a:solidFill>
                  <a:latin typeface="Roboto" panose="02000000000000000000" charset="0"/>
                  <a:ea typeface="Roboto" panose="02000000000000000000" charset="0"/>
                  <a:cs typeface="+mn-cs"/>
                </a:defRPr>
              </a:lvl3pPr>
              <a:lvl4pPr marL="13716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202F3E"/>
                  </a:solidFill>
                  <a:latin typeface="Roboto" panose="02000000000000000000" charset="0"/>
                  <a:ea typeface="Roboto" panose="02000000000000000000" charset="0"/>
                  <a:cs typeface="+mn-cs"/>
                </a:defRPr>
              </a:lvl4pPr>
              <a:lvl5pPr marL="18288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202F3E"/>
                  </a:solidFill>
                  <a:latin typeface="Roboto" panose="02000000000000000000" charset="0"/>
                  <a:ea typeface="Roboto" panose="02000000000000000000" charset="0"/>
                  <a:cs typeface="+mn-cs"/>
                </a:defRPr>
              </a:lvl5pPr>
              <a:lvl6pPr marL="22860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1EA185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1EA185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1EA185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 rtl="0" eaLnBrk="1" latinLnBrk="0" hangingPunct="1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rgbClr val="1EA185"/>
                </a:buClr>
                <a:buSzPct val="80000"/>
                <a:buFont typeface="Corbel" panose="020B0503020204020204" pitchFamily="34" charset="0"/>
                <a:buNone/>
                <a:defRPr sz="900" kern="1200">
                  <a:solidFill>
                    <a:srgbClr val="1EA185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spcBef>
                  <a:spcPts val="0"/>
                </a:spcBef>
              </a:pPr>
              <a:r>
                <a:rPr lang="en-AU" sz="3000" b="1" dirty="0" smtClean="0"/>
                <a:t>OPPORTUNITIES</a:t>
              </a:r>
            </a:p>
            <a:p>
              <a:pPr algn="r">
                <a:spcBef>
                  <a:spcPts val="0"/>
                </a:spcBef>
              </a:pPr>
              <a:r>
                <a:rPr lang="en-AU" sz="2000" dirty="0" smtClean="0"/>
                <a:t>Make us more competitive against our main rival.</a:t>
              </a:r>
              <a:r>
                <a:rPr lang="en-AU" sz="2000" dirty="0"/>
                <a:t> </a:t>
              </a:r>
              <a:r>
                <a:rPr lang="en-AU" sz="2000" dirty="0" smtClean="0"/>
                <a:t>Can move into new geographic markets</a:t>
              </a:r>
              <a:endParaRPr lang="en-AU" sz="2000" dirty="0"/>
            </a:p>
          </p:txBody>
        </p:sp>
        <p:grpSp>
          <p:nvGrpSpPr>
            <p:cNvPr id="4" name="Comp 4"/>
            <p:cNvGrpSpPr/>
            <p:nvPr/>
          </p:nvGrpSpPr>
          <p:grpSpPr>
            <a:xfrm>
              <a:off x="3575720" y="4725144"/>
              <a:ext cx="473075" cy="474663"/>
              <a:chOff x="4906963" y="2173288"/>
              <a:chExt cx="473075" cy="474663"/>
            </a:xfrm>
            <a:solidFill>
              <a:srgbClr val="1EA185"/>
            </a:solidFill>
          </p:grpSpPr>
          <p:sp>
            <p:nvSpPr>
              <p:cNvPr id="5" name="Comp 5"/>
              <p:cNvSpPr/>
              <p:nvPr/>
            </p:nvSpPr>
            <p:spPr bwMode="auto">
              <a:xfrm>
                <a:off x="4938713" y="2473325"/>
                <a:ext cx="142875" cy="141288"/>
              </a:xfrm>
              <a:custGeom>
                <a:avLst/>
                <a:gdLst>
                  <a:gd name="T0" fmla="*/ 40 w 67"/>
                  <a:gd name="T1" fmla="*/ 4 h 66"/>
                  <a:gd name="T2" fmla="*/ 35 w 67"/>
                  <a:gd name="T3" fmla="*/ 3 h 66"/>
                  <a:gd name="T4" fmla="*/ 9 w 67"/>
                  <a:gd name="T5" fmla="*/ 61 h 66"/>
                  <a:gd name="T6" fmla="*/ 64 w 67"/>
                  <a:gd name="T7" fmla="*/ 32 h 66"/>
                  <a:gd name="T8" fmla="*/ 63 w 67"/>
                  <a:gd name="T9" fmla="*/ 27 h 66"/>
                  <a:gd name="T10" fmla="*/ 40 w 67"/>
                  <a:gd name="T11" fmla="*/ 4 h 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" h="66">
                    <a:moveTo>
                      <a:pt x="40" y="4"/>
                    </a:moveTo>
                    <a:cubicBezTo>
                      <a:pt x="37" y="0"/>
                      <a:pt x="36" y="2"/>
                      <a:pt x="35" y="3"/>
                    </a:cubicBezTo>
                    <a:cubicBezTo>
                      <a:pt x="17" y="21"/>
                      <a:pt x="0" y="66"/>
                      <a:pt x="9" y="61"/>
                    </a:cubicBezTo>
                    <a:cubicBezTo>
                      <a:pt x="41" y="46"/>
                      <a:pt x="46" y="50"/>
                      <a:pt x="64" y="32"/>
                    </a:cubicBezTo>
                    <a:cubicBezTo>
                      <a:pt x="65" y="31"/>
                      <a:pt x="67" y="30"/>
                      <a:pt x="63" y="27"/>
                    </a:cubicBezTo>
                    <a:lnTo>
                      <a:pt x="4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/>
              <a:lstStyle/>
              <a:p>
                <a:endParaRPr lang="en-AU"/>
              </a:p>
            </p:txBody>
          </p:sp>
          <p:sp>
            <p:nvSpPr>
              <p:cNvPr id="6" name="Comp 6"/>
              <p:cNvSpPr>
                <a:spLocks noEditPoints="1"/>
              </p:cNvSpPr>
              <p:nvPr/>
            </p:nvSpPr>
            <p:spPr bwMode="auto">
              <a:xfrm>
                <a:off x="4906963" y="2173288"/>
                <a:ext cx="473075" cy="474663"/>
              </a:xfrm>
              <a:custGeom>
                <a:avLst/>
                <a:gdLst>
                  <a:gd name="T0" fmla="*/ 155 w 223"/>
                  <a:gd name="T1" fmla="*/ 145 h 224"/>
                  <a:gd name="T2" fmla="*/ 156 w 223"/>
                  <a:gd name="T3" fmla="*/ 141 h 224"/>
                  <a:gd name="T4" fmla="*/ 204 w 223"/>
                  <a:gd name="T5" fmla="*/ 19 h 224"/>
                  <a:gd name="T6" fmla="*/ 84 w 223"/>
                  <a:gd name="T7" fmla="*/ 67 h 224"/>
                  <a:gd name="T8" fmla="*/ 78 w 223"/>
                  <a:gd name="T9" fmla="*/ 69 h 224"/>
                  <a:gd name="T10" fmla="*/ 65 w 223"/>
                  <a:gd name="T11" fmla="*/ 65 h 224"/>
                  <a:gd name="T12" fmla="*/ 53 w 223"/>
                  <a:gd name="T13" fmla="*/ 69 h 224"/>
                  <a:gd name="T14" fmla="*/ 3 w 223"/>
                  <a:gd name="T15" fmla="*/ 119 h 224"/>
                  <a:gd name="T16" fmla="*/ 5 w 223"/>
                  <a:gd name="T17" fmla="*/ 125 h 224"/>
                  <a:gd name="T18" fmla="*/ 41 w 223"/>
                  <a:gd name="T19" fmla="*/ 131 h 224"/>
                  <a:gd name="T20" fmla="*/ 53 w 223"/>
                  <a:gd name="T21" fmla="*/ 127 h 224"/>
                  <a:gd name="T22" fmla="*/ 57 w 223"/>
                  <a:gd name="T23" fmla="*/ 127 h 224"/>
                  <a:gd name="T24" fmla="*/ 96 w 223"/>
                  <a:gd name="T25" fmla="*/ 167 h 224"/>
                  <a:gd name="T26" fmla="*/ 96 w 223"/>
                  <a:gd name="T27" fmla="*/ 170 h 224"/>
                  <a:gd name="T28" fmla="*/ 92 w 223"/>
                  <a:gd name="T29" fmla="*/ 182 h 224"/>
                  <a:gd name="T30" fmla="*/ 98 w 223"/>
                  <a:gd name="T31" fmla="*/ 219 h 224"/>
                  <a:gd name="T32" fmla="*/ 104 w 223"/>
                  <a:gd name="T33" fmla="*/ 221 h 224"/>
                  <a:gd name="T34" fmla="*/ 155 w 223"/>
                  <a:gd name="T35" fmla="*/ 170 h 224"/>
                  <a:gd name="T36" fmla="*/ 158 w 223"/>
                  <a:gd name="T37" fmla="*/ 159 h 224"/>
                  <a:gd name="T38" fmla="*/ 155 w 223"/>
                  <a:gd name="T39" fmla="*/ 145 h 224"/>
                  <a:gd name="T40" fmla="*/ 144 w 223"/>
                  <a:gd name="T41" fmla="*/ 80 h 224"/>
                  <a:gd name="T42" fmla="*/ 144 w 223"/>
                  <a:gd name="T43" fmla="*/ 50 h 224"/>
                  <a:gd name="T44" fmla="*/ 174 w 223"/>
                  <a:gd name="T45" fmla="*/ 50 h 224"/>
                  <a:gd name="T46" fmla="*/ 174 w 223"/>
                  <a:gd name="T47" fmla="*/ 80 h 224"/>
                  <a:gd name="T48" fmla="*/ 144 w 223"/>
                  <a:gd name="T49" fmla="*/ 80 h 2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223" h="224">
                    <a:moveTo>
                      <a:pt x="155" y="145"/>
                    </a:moveTo>
                    <a:cubicBezTo>
                      <a:pt x="154" y="143"/>
                      <a:pt x="156" y="141"/>
                      <a:pt x="156" y="141"/>
                    </a:cubicBezTo>
                    <a:cubicBezTo>
                      <a:pt x="197" y="97"/>
                      <a:pt x="223" y="38"/>
                      <a:pt x="204" y="19"/>
                    </a:cubicBezTo>
                    <a:cubicBezTo>
                      <a:pt x="185" y="0"/>
                      <a:pt x="128" y="26"/>
                      <a:pt x="84" y="67"/>
                    </a:cubicBezTo>
                    <a:cubicBezTo>
                      <a:pt x="83" y="68"/>
                      <a:pt x="81" y="69"/>
                      <a:pt x="78" y="69"/>
                    </a:cubicBezTo>
                    <a:cubicBezTo>
                      <a:pt x="65" y="65"/>
                      <a:pt x="65" y="65"/>
                      <a:pt x="65" y="65"/>
                    </a:cubicBezTo>
                    <a:cubicBezTo>
                      <a:pt x="61" y="64"/>
                      <a:pt x="56" y="66"/>
                      <a:pt x="53" y="69"/>
                    </a:cubicBezTo>
                    <a:cubicBezTo>
                      <a:pt x="3" y="119"/>
                      <a:pt x="3" y="119"/>
                      <a:pt x="3" y="119"/>
                    </a:cubicBezTo>
                    <a:cubicBezTo>
                      <a:pt x="0" y="122"/>
                      <a:pt x="1" y="124"/>
                      <a:pt x="5" y="125"/>
                    </a:cubicBezTo>
                    <a:cubicBezTo>
                      <a:pt x="41" y="131"/>
                      <a:pt x="41" y="131"/>
                      <a:pt x="41" y="131"/>
                    </a:cubicBezTo>
                    <a:cubicBezTo>
                      <a:pt x="45" y="131"/>
                      <a:pt x="50" y="130"/>
                      <a:pt x="53" y="127"/>
                    </a:cubicBezTo>
                    <a:cubicBezTo>
                      <a:pt x="53" y="127"/>
                      <a:pt x="55" y="125"/>
                      <a:pt x="57" y="127"/>
                    </a:cubicBezTo>
                    <a:cubicBezTo>
                      <a:pt x="67" y="137"/>
                      <a:pt x="86" y="157"/>
                      <a:pt x="96" y="167"/>
                    </a:cubicBezTo>
                    <a:cubicBezTo>
                      <a:pt x="98" y="168"/>
                      <a:pt x="96" y="170"/>
                      <a:pt x="96" y="170"/>
                    </a:cubicBezTo>
                    <a:cubicBezTo>
                      <a:pt x="94" y="173"/>
                      <a:pt x="92" y="179"/>
                      <a:pt x="92" y="182"/>
                    </a:cubicBezTo>
                    <a:cubicBezTo>
                      <a:pt x="98" y="219"/>
                      <a:pt x="98" y="219"/>
                      <a:pt x="98" y="219"/>
                    </a:cubicBezTo>
                    <a:cubicBezTo>
                      <a:pt x="99" y="223"/>
                      <a:pt x="102" y="224"/>
                      <a:pt x="104" y="221"/>
                    </a:cubicBezTo>
                    <a:cubicBezTo>
                      <a:pt x="155" y="170"/>
                      <a:pt x="155" y="170"/>
                      <a:pt x="155" y="170"/>
                    </a:cubicBezTo>
                    <a:cubicBezTo>
                      <a:pt x="157" y="168"/>
                      <a:pt x="159" y="162"/>
                      <a:pt x="158" y="159"/>
                    </a:cubicBezTo>
                    <a:lnTo>
                      <a:pt x="155" y="145"/>
                    </a:lnTo>
                    <a:close/>
                    <a:moveTo>
                      <a:pt x="144" y="80"/>
                    </a:moveTo>
                    <a:cubicBezTo>
                      <a:pt x="135" y="72"/>
                      <a:pt x="135" y="58"/>
                      <a:pt x="144" y="50"/>
                    </a:cubicBezTo>
                    <a:cubicBezTo>
                      <a:pt x="152" y="41"/>
                      <a:pt x="166" y="41"/>
                      <a:pt x="174" y="50"/>
                    </a:cubicBezTo>
                    <a:cubicBezTo>
                      <a:pt x="183" y="58"/>
                      <a:pt x="183" y="72"/>
                      <a:pt x="174" y="80"/>
                    </a:cubicBezTo>
                    <a:cubicBezTo>
                      <a:pt x="166" y="89"/>
                      <a:pt x="152" y="89"/>
                      <a:pt x="144" y="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182832" tIns="91416" rIns="182832" bIns="91416" numCol="1" anchor="t" anchorCtr="0" compatLnSpc="1"/>
              <a:lstStyle/>
              <a:p>
                <a:endParaRPr lang="en-AU"/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4495800" y="1700808"/>
            <a:ext cx="3200400" cy="3166067"/>
            <a:chOff x="6743700" y="3092801"/>
            <a:chExt cx="4800600" cy="4749099"/>
          </a:xfrm>
        </p:grpSpPr>
        <p:grpSp>
          <p:nvGrpSpPr>
            <p:cNvPr id="3" name="Comp 3"/>
            <p:cNvGrpSpPr/>
            <p:nvPr/>
          </p:nvGrpSpPr>
          <p:grpSpPr>
            <a:xfrm>
              <a:off x="6743700" y="3092801"/>
              <a:ext cx="2286000" cy="2286000"/>
              <a:chOff x="6743700" y="3092801"/>
              <a:chExt cx="2286000" cy="2286000"/>
            </a:xfrm>
          </p:grpSpPr>
          <p:sp>
            <p:nvSpPr>
              <p:cNvPr id="4" name="Comp 4"/>
              <p:cNvSpPr/>
              <p:nvPr/>
            </p:nvSpPr>
            <p:spPr>
              <a:xfrm rot="16200000">
                <a:off x="6743700" y="3092801"/>
                <a:ext cx="2286000" cy="2286000"/>
              </a:xfrm>
              <a:prstGeom prst="teardrop">
                <a:avLst/>
              </a:prstGeom>
              <a:ln>
                <a:noFill/>
              </a:ln>
            </p:spPr>
            <p:style>
              <a:lnRef idx="2">
                <a:srgbClr val="DDDDDD">
                  <a:shade val="50000"/>
                </a:srgbClr>
              </a:lnRef>
              <a:fillRef idx="1">
                <a:srgbClr val="DDDDDD"/>
              </a:fillRef>
              <a:effectRef idx="0">
                <a:srgbClr val="DDDDD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uk-UA" sz="2400">
                  <a:cs typeface="+mn-ea"/>
                  <a:sym typeface="+mn-lt"/>
                </a:endParaRPr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7324726" y="3574081"/>
                <a:ext cx="1123950" cy="136874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35" b="1">
                    <a:solidFill>
                      <a:srgbClr val="FFFFFF"/>
                    </a:solidFill>
                    <a:cs typeface="+mn-ea"/>
                    <a:sym typeface="+mn-lt"/>
                  </a:rPr>
                  <a:t>S</a:t>
                </a:r>
                <a:endParaRPr lang="uk-UA" sz="5335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Comp 6"/>
            <p:cNvGrpSpPr/>
            <p:nvPr/>
          </p:nvGrpSpPr>
          <p:grpSpPr>
            <a:xfrm>
              <a:off x="9258300" y="3092801"/>
              <a:ext cx="2286000" cy="2286000"/>
              <a:chOff x="9258300" y="3092801"/>
              <a:chExt cx="2286000" cy="2286000"/>
            </a:xfrm>
          </p:grpSpPr>
          <p:sp>
            <p:nvSpPr>
              <p:cNvPr id="7" name="Comp 7"/>
              <p:cNvSpPr/>
              <p:nvPr/>
            </p:nvSpPr>
            <p:spPr>
              <a:xfrm>
                <a:off x="9258300" y="3092801"/>
                <a:ext cx="2286000" cy="2286000"/>
              </a:xfrm>
              <a:prstGeom prst="teardrop">
                <a:avLst/>
              </a:prstGeom>
              <a:solidFill>
                <a:srgbClr val="969696"/>
              </a:solidFill>
              <a:ln>
                <a:noFill/>
              </a:ln>
            </p:spPr>
            <p:style>
              <a:lnRef idx="2">
                <a:srgbClr val="DDDDDD">
                  <a:shade val="50000"/>
                </a:srgbClr>
              </a:lnRef>
              <a:fillRef idx="1">
                <a:srgbClr val="DDDDDD"/>
              </a:fillRef>
              <a:effectRef idx="0">
                <a:srgbClr val="DDDDD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uk-UA" sz="2400">
                  <a:cs typeface="+mn-ea"/>
                  <a:sym typeface="+mn-lt"/>
                </a:endParaRPr>
              </a:p>
            </p:txBody>
          </p:sp>
          <p:sp>
            <p:nvSpPr>
              <p:cNvPr id="8" name="Comp 8"/>
              <p:cNvSpPr/>
              <p:nvPr/>
            </p:nvSpPr>
            <p:spPr>
              <a:xfrm>
                <a:off x="9839326" y="3574081"/>
                <a:ext cx="1123950" cy="136874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35" b="1">
                    <a:solidFill>
                      <a:srgbClr val="FFFFFF"/>
                    </a:solidFill>
                    <a:cs typeface="+mn-ea"/>
                    <a:sym typeface="+mn-lt"/>
                  </a:rPr>
                  <a:t>W</a:t>
                </a:r>
                <a:endParaRPr lang="uk-UA" sz="5335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9" name="Comp 9"/>
            <p:cNvGrpSpPr/>
            <p:nvPr/>
          </p:nvGrpSpPr>
          <p:grpSpPr>
            <a:xfrm>
              <a:off x="6743700" y="5555900"/>
              <a:ext cx="2286000" cy="2286000"/>
              <a:chOff x="6743700" y="5555900"/>
              <a:chExt cx="2286000" cy="2286000"/>
            </a:xfrm>
          </p:grpSpPr>
          <p:sp>
            <p:nvSpPr>
              <p:cNvPr id="10" name="Comp 10"/>
              <p:cNvSpPr/>
              <p:nvPr/>
            </p:nvSpPr>
            <p:spPr>
              <a:xfrm rot="10800000">
                <a:off x="6743700" y="5555900"/>
                <a:ext cx="2286000" cy="2286000"/>
              </a:xfrm>
              <a:prstGeom prst="teardrop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rgbClr val="DDDDDD">
                  <a:shade val="50000"/>
                </a:srgbClr>
              </a:lnRef>
              <a:fillRef idx="1">
                <a:srgbClr val="DDDDDD"/>
              </a:fillRef>
              <a:effectRef idx="0">
                <a:srgbClr val="DDDDD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uk-UA" sz="2400">
                  <a:cs typeface="+mn-ea"/>
                  <a:sym typeface="+mn-lt"/>
                </a:endParaRPr>
              </a:p>
            </p:txBody>
          </p:sp>
          <p:sp>
            <p:nvSpPr>
              <p:cNvPr id="11" name="Comp 11"/>
              <p:cNvSpPr/>
              <p:nvPr/>
            </p:nvSpPr>
            <p:spPr>
              <a:xfrm>
                <a:off x="7324726" y="6037180"/>
                <a:ext cx="1123950" cy="136874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35" b="1">
                    <a:solidFill>
                      <a:srgbClr val="FFFFFF"/>
                    </a:solidFill>
                    <a:cs typeface="+mn-ea"/>
                    <a:sym typeface="+mn-lt"/>
                  </a:rPr>
                  <a:t>O</a:t>
                </a:r>
                <a:endParaRPr lang="uk-UA" sz="5335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Comp 12"/>
            <p:cNvGrpSpPr/>
            <p:nvPr/>
          </p:nvGrpSpPr>
          <p:grpSpPr>
            <a:xfrm>
              <a:off x="9258300" y="5555900"/>
              <a:ext cx="2286000" cy="2286000"/>
              <a:chOff x="9258300" y="5555900"/>
              <a:chExt cx="2286000" cy="2286000"/>
            </a:xfrm>
          </p:grpSpPr>
          <p:sp>
            <p:nvSpPr>
              <p:cNvPr id="13" name="Comp 13"/>
              <p:cNvSpPr/>
              <p:nvPr/>
            </p:nvSpPr>
            <p:spPr>
              <a:xfrm rot="5400000">
                <a:off x="9258300" y="5555900"/>
                <a:ext cx="2286000" cy="2286000"/>
              </a:xfrm>
              <a:prstGeom prst="teardrop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rgbClr val="DDDDDD">
                  <a:shade val="50000"/>
                </a:srgbClr>
              </a:lnRef>
              <a:fillRef idx="1">
                <a:srgbClr val="DDDDDD"/>
              </a:fillRef>
              <a:effectRef idx="0">
                <a:srgbClr val="DDDDD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uk-UA" sz="2400">
                  <a:cs typeface="+mn-ea"/>
                  <a:sym typeface="+mn-lt"/>
                </a:endParaRPr>
              </a:p>
            </p:txBody>
          </p:sp>
          <p:sp>
            <p:nvSpPr>
              <p:cNvPr id="14" name="Comp 14"/>
              <p:cNvSpPr/>
              <p:nvPr/>
            </p:nvSpPr>
            <p:spPr>
              <a:xfrm>
                <a:off x="9839326" y="6037178"/>
                <a:ext cx="1123950" cy="136874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35" b="1">
                    <a:solidFill>
                      <a:srgbClr val="FFFFFF"/>
                    </a:solidFill>
                    <a:cs typeface="+mn-ea"/>
                    <a:sym typeface="+mn-lt"/>
                  </a:rPr>
                  <a:t>T</a:t>
                </a:r>
                <a:endParaRPr lang="uk-UA" sz="5335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1343797" y="3249149"/>
            <a:ext cx="4676004" cy="1524000"/>
            <a:chOff x="2015695" y="4526172"/>
            <a:chExt cx="7014005" cy="2286000"/>
          </a:xfrm>
        </p:grpSpPr>
        <p:grpSp>
          <p:nvGrpSpPr>
            <p:cNvPr id="3" name="Comp 3"/>
            <p:cNvGrpSpPr/>
            <p:nvPr/>
          </p:nvGrpSpPr>
          <p:grpSpPr>
            <a:xfrm>
              <a:off x="6743700" y="4526172"/>
              <a:ext cx="2286000" cy="2286000"/>
              <a:chOff x="6743700" y="4526172"/>
              <a:chExt cx="2286000" cy="2286000"/>
            </a:xfrm>
          </p:grpSpPr>
          <p:sp>
            <p:nvSpPr>
              <p:cNvPr id="4" name="Comp 4"/>
              <p:cNvSpPr/>
              <p:nvPr/>
            </p:nvSpPr>
            <p:spPr>
              <a:xfrm rot="10800000">
                <a:off x="6743700" y="4526172"/>
                <a:ext cx="2286000" cy="2286000"/>
              </a:xfrm>
              <a:prstGeom prst="rect">
                <a:avLst/>
              </a:prstGeom>
              <a:solidFill>
                <a:srgbClr val="B2B2B2"/>
              </a:solidFill>
              <a:ln>
                <a:noFill/>
              </a:ln>
            </p:spPr>
            <p:style>
              <a:lnRef idx="2">
                <a:srgbClr val="DDDDDD">
                  <a:shade val="50000"/>
                </a:srgbClr>
              </a:lnRef>
              <a:fillRef idx="1">
                <a:srgbClr val="DDDDDD"/>
              </a:fillRef>
              <a:effectRef idx="0">
                <a:srgbClr val="DDDDDD"/>
              </a:effectRef>
              <a:fontRef idx="minor">
                <a:srgbClr val="FFFFFF"/>
              </a:fontRef>
            </p:style>
            <p:txBody>
              <a:bodyPr rtlCol="0" anchor="ctr"/>
              <a:lstStyle/>
              <a:p>
                <a:pPr algn="ctr"/>
                <a:endParaRPr lang="uk-UA" sz="2400">
                  <a:cs typeface="+mn-ea"/>
                  <a:sym typeface="+mn-lt"/>
                </a:endParaRPr>
              </a:p>
            </p:txBody>
          </p:sp>
          <p:sp>
            <p:nvSpPr>
              <p:cNvPr id="5" name="Comp 5"/>
              <p:cNvSpPr/>
              <p:nvPr/>
            </p:nvSpPr>
            <p:spPr>
              <a:xfrm>
                <a:off x="7324726" y="5007452"/>
                <a:ext cx="1123950" cy="1368743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5335" b="1">
                    <a:solidFill>
                      <a:srgbClr val="FFFFFF"/>
                    </a:solidFill>
                    <a:cs typeface="+mn-ea"/>
                    <a:sym typeface="+mn-lt"/>
                  </a:rPr>
                  <a:t>O</a:t>
                </a:r>
                <a:endParaRPr lang="uk-UA" sz="5335" b="1">
                  <a:solidFill>
                    <a:srgbClr val="FFFFFF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6" name="Comp 6"/>
            <p:cNvGrpSpPr/>
            <p:nvPr/>
          </p:nvGrpSpPr>
          <p:grpSpPr>
            <a:xfrm>
              <a:off x="2015695" y="4817116"/>
              <a:ext cx="4648394" cy="1592481"/>
              <a:chOff x="1189851" y="3276105"/>
              <a:chExt cx="4648394" cy="1592481"/>
            </a:xfrm>
          </p:grpSpPr>
          <p:grpSp>
            <p:nvGrpSpPr>
              <p:cNvPr id="7" name="Comp 7"/>
              <p:cNvGrpSpPr/>
              <p:nvPr/>
            </p:nvGrpSpPr>
            <p:grpSpPr>
              <a:xfrm>
                <a:off x="2143752" y="3357360"/>
                <a:ext cx="3694493" cy="1511226"/>
                <a:chOff x="2143752" y="3357360"/>
                <a:chExt cx="3694493" cy="1511226"/>
              </a:xfrm>
            </p:grpSpPr>
            <p:sp>
              <p:nvSpPr>
                <p:cNvPr id="8" name="Comp 8"/>
                <p:cNvSpPr txBox="1"/>
                <p:nvPr/>
              </p:nvSpPr>
              <p:spPr>
                <a:xfrm>
                  <a:off x="2143752" y="3357360"/>
                  <a:ext cx="3694491" cy="5676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865" b="1">
                      <a:cs typeface="+mn-ea"/>
                      <a:sym typeface="+mn-lt"/>
                    </a:rPr>
                    <a:t>OPPORTUNITIES</a:t>
                  </a:r>
                </a:p>
              </p:txBody>
            </p:sp>
            <p:sp>
              <p:nvSpPr>
                <p:cNvPr id="9" name="Comp 9"/>
                <p:cNvSpPr txBox="1"/>
                <p:nvPr/>
              </p:nvSpPr>
              <p:spPr>
                <a:xfrm>
                  <a:off x="2143754" y="3805596"/>
                  <a:ext cx="3694491" cy="1062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335" dirty="0" smtClean="0">
                      <a:solidFill>
                        <a:srgbClr val="000000">
                          <a:lumMod val="60000"/>
                          <a:lumOff val="40000"/>
                        </a:srgbClr>
                      </a:solidFill>
                      <a:cs typeface="+mn-ea"/>
                      <a:sym typeface="+mn-lt"/>
                    </a:rPr>
                    <a:t>输入您精简的文字介绍</a:t>
                  </a:r>
                  <a:endParaRPr lang="en-US" altLang="zh-CN" sz="1335" dirty="0" smtClean="0">
                    <a:solidFill>
                      <a:srgbClr val="000000">
                        <a:lumMod val="60000"/>
                        <a:lumOff val="40000"/>
                      </a:srgbClr>
                    </a:solidFill>
                    <a:cs typeface="+mn-ea"/>
                    <a:sym typeface="+mn-lt"/>
                  </a:endParaRPr>
                </a:p>
                <a:p>
                  <a:r>
                    <a:rPr lang="zh-CN" altLang="en-US" sz="1335" dirty="0" smtClean="0">
                      <a:solidFill>
                        <a:srgbClr val="000000">
                          <a:lumMod val="60000"/>
                          <a:lumOff val="40000"/>
                        </a:srgbClr>
                      </a:solidFill>
                      <a:cs typeface="+mn-ea"/>
                      <a:sym typeface="+mn-lt"/>
                    </a:rPr>
                    <a:t>输入您精简的文字介绍</a:t>
                  </a:r>
                  <a:endParaRPr lang="uk-UA" altLang="zh-CN" sz="1335" dirty="0" smtClean="0">
                    <a:solidFill>
                      <a:srgbClr val="000000">
                        <a:lumMod val="60000"/>
                        <a:lumOff val="40000"/>
                      </a:srgbClr>
                    </a:solidFill>
                    <a:cs typeface="+mn-ea"/>
                    <a:sym typeface="+mn-lt"/>
                  </a:endParaRPr>
                </a:p>
                <a:p>
                  <a:r>
                    <a:rPr lang="zh-CN" altLang="en-US" sz="1335" dirty="0" smtClean="0">
                      <a:solidFill>
                        <a:srgbClr val="000000">
                          <a:lumMod val="60000"/>
                          <a:lumOff val="40000"/>
                        </a:srgbClr>
                      </a:solidFill>
                      <a:cs typeface="+mn-ea"/>
                      <a:sym typeface="+mn-lt"/>
                    </a:rPr>
                    <a:t>输入您精简的文字介绍</a:t>
                  </a:r>
                  <a:endParaRPr lang="uk-UA" altLang="zh-CN" sz="1335" dirty="0" smtClean="0">
                    <a:solidFill>
                      <a:srgbClr val="000000">
                        <a:lumMod val="60000"/>
                        <a:lumOff val="40000"/>
                      </a:srgbClr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0" name="Comp 10"/>
              <p:cNvSpPr/>
              <p:nvPr/>
            </p:nvSpPr>
            <p:spPr>
              <a:xfrm>
                <a:off x="1189851" y="3276105"/>
                <a:ext cx="953900" cy="941142"/>
              </a:xfrm>
              <a:prstGeom prst="rect">
                <a:avLst/>
              </a:prstGeom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uk-UA" sz="3600">
                    <a:solidFill>
                      <a:srgbClr val="B2B2B2"/>
                    </a:solidFill>
                    <a:cs typeface="+mn-ea"/>
                    <a:sym typeface="+mn-lt"/>
                  </a:rPr>
                  <a:t></a:t>
                </a: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4278245" y="1931711"/>
            <a:ext cx="3699491" cy="3488113"/>
            <a:chOff x="3208684" y="1448783"/>
            <a:chExt cx="2774618" cy="2616085"/>
          </a:xfrm>
        </p:grpSpPr>
        <p:sp>
          <p:nvSpPr>
            <p:cNvPr id="3" name="Comp 3"/>
            <p:cNvSpPr/>
            <p:nvPr/>
          </p:nvSpPr>
          <p:spPr>
            <a:xfrm>
              <a:off x="3265709" y="2766945"/>
              <a:ext cx="1282535" cy="1282535"/>
            </a:xfrm>
            <a:prstGeom prst="teardrop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4" name="Comp 4"/>
            <p:cNvSpPr/>
            <p:nvPr/>
          </p:nvSpPr>
          <p:spPr>
            <a:xfrm rot="5400000">
              <a:off x="3265708" y="1448783"/>
              <a:ext cx="1282535" cy="1282535"/>
            </a:xfrm>
            <a:prstGeom prst="teardrop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5" name="Comp 5"/>
            <p:cNvSpPr/>
            <p:nvPr/>
          </p:nvSpPr>
          <p:spPr>
            <a:xfrm rot="10800000">
              <a:off x="4593766" y="1448783"/>
              <a:ext cx="1282535" cy="1282535"/>
            </a:xfrm>
            <a:prstGeom prst="teardrop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6" name="Comp 6"/>
            <p:cNvSpPr/>
            <p:nvPr/>
          </p:nvSpPr>
          <p:spPr>
            <a:xfrm rot="16200000">
              <a:off x="4593766" y="2766945"/>
              <a:ext cx="1282535" cy="1282535"/>
            </a:xfrm>
            <a:prstGeom prst="teardrop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7" name="Comp 7"/>
            <p:cNvSpPr/>
            <p:nvPr/>
          </p:nvSpPr>
          <p:spPr>
            <a:xfrm rot="16200000">
              <a:off x="4617516" y="2790695"/>
              <a:ext cx="508658" cy="508658"/>
            </a:xfrm>
            <a:prstGeom prst="teardrop">
              <a:avLst/>
            </a:prstGeom>
            <a:solidFill>
              <a:srgbClr val="4D4D4D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8" name="Comp 8"/>
            <p:cNvSpPr/>
            <p:nvPr/>
          </p:nvSpPr>
          <p:spPr>
            <a:xfrm rot="5400000">
              <a:off x="4027710" y="2210785"/>
              <a:ext cx="508658" cy="508658"/>
            </a:xfrm>
            <a:prstGeom prst="teardrop">
              <a:avLst/>
            </a:prstGeom>
            <a:solidFill>
              <a:srgbClr val="969696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9" name="Comp 9"/>
            <p:cNvSpPr/>
            <p:nvPr/>
          </p:nvSpPr>
          <p:spPr>
            <a:xfrm rot="10800000">
              <a:off x="4605641" y="2215730"/>
              <a:ext cx="508658" cy="508658"/>
            </a:xfrm>
            <a:prstGeom prst="teardrop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0" name="Comp 10"/>
            <p:cNvSpPr/>
            <p:nvPr/>
          </p:nvSpPr>
          <p:spPr>
            <a:xfrm>
              <a:off x="4027711" y="2781782"/>
              <a:ext cx="508658" cy="508658"/>
            </a:xfrm>
            <a:prstGeom prst="teardrop">
              <a:avLst/>
            </a:prstGeom>
            <a:solidFill>
              <a:srgbClr val="B2B2B2"/>
            </a:solidFill>
            <a:ln>
              <a:noFill/>
            </a:ln>
          </p:spPr>
          <p:style>
            <a:lnRef idx="2">
              <a:srgbClr val="DDDDDD">
                <a:shade val="50000"/>
              </a:srgbClr>
            </a:lnRef>
            <a:fillRef idx="1">
              <a:srgbClr val="DDDDDD"/>
            </a:fillRef>
            <a:effectRef idx="0">
              <a:srgbClr val="DDDDDD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cs typeface="+mn-ea"/>
                <a:sym typeface="+mn-lt"/>
              </a:endParaRPr>
            </a:p>
          </p:txBody>
        </p:sp>
        <p:sp>
          <p:nvSpPr>
            <p:cNvPr id="11" name="Comp 11"/>
            <p:cNvSpPr>
              <a:spLocks noChangeArrowheads="1"/>
            </p:cNvSpPr>
            <p:nvPr/>
          </p:nvSpPr>
          <p:spPr bwMode="auto">
            <a:xfrm>
              <a:off x="3208684" y="1563590"/>
              <a:ext cx="404515" cy="404515"/>
            </a:xfrm>
            <a:prstGeom prst="ellipse">
              <a:avLst/>
            </a:prstGeom>
            <a:solidFill>
              <a:srgbClr val="5F5F5F">
                <a:lumMod val="50000"/>
              </a:srgbClr>
            </a:solidFill>
            <a:ln>
              <a:solidFill>
                <a:srgbClr val="FFFFFF"/>
              </a:solidFill>
            </a:ln>
          </p:spPr>
          <p:txBody>
            <a:bodyPr/>
            <a:lstStyle>
              <a:lvl1pPr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2135"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2" name="Comp 12"/>
            <p:cNvSpPr/>
            <p:nvPr/>
          </p:nvSpPr>
          <p:spPr>
            <a:xfrm>
              <a:off x="3274496" y="1611959"/>
              <a:ext cx="272891" cy="3152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2135" dirty="0" smtClean="0">
                  <a:solidFill>
                    <a:srgbClr val="FFFFFF"/>
                  </a:solidFill>
                  <a:cs typeface="+mn-ea"/>
                  <a:sym typeface="+mn-lt"/>
                </a:rPr>
                <a:t>S</a:t>
              </a:r>
              <a:endParaRPr kumimoji="0" lang="en-US" altLang="zh-CN" sz="2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3" name="Comp 13"/>
            <p:cNvSpPr>
              <a:spLocks noChangeArrowheads="1"/>
            </p:cNvSpPr>
            <p:nvPr/>
          </p:nvSpPr>
          <p:spPr bwMode="auto">
            <a:xfrm>
              <a:off x="3299088" y="3644965"/>
              <a:ext cx="404515" cy="404515"/>
            </a:xfrm>
            <a:prstGeom prst="ellipse">
              <a:avLst/>
            </a:prstGeom>
            <a:solidFill>
              <a:srgbClr val="5F5F5F">
                <a:lumMod val="50000"/>
              </a:srgbClr>
            </a:solidFill>
            <a:ln>
              <a:solidFill>
                <a:srgbClr val="FFFFFF"/>
              </a:solidFill>
            </a:ln>
          </p:spPr>
          <p:txBody>
            <a:bodyPr/>
            <a:lstStyle>
              <a:lvl1pPr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2135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Comp 14"/>
            <p:cNvSpPr/>
            <p:nvPr/>
          </p:nvSpPr>
          <p:spPr>
            <a:xfrm>
              <a:off x="3336564" y="3693334"/>
              <a:ext cx="329565" cy="3152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2135" dirty="0" smtClean="0">
                  <a:solidFill>
                    <a:srgbClr val="FFFFFF"/>
                  </a:solidFill>
                  <a:cs typeface="+mn-ea"/>
                  <a:sym typeface="+mn-lt"/>
                </a:rPr>
                <a:t>W</a:t>
              </a:r>
              <a:endParaRPr kumimoji="0" lang="en-US" altLang="zh-CN" sz="2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5" name="Comp 15"/>
            <p:cNvSpPr>
              <a:spLocks noChangeArrowheads="1"/>
            </p:cNvSpPr>
            <p:nvPr/>
          </p:nvSpPr>
          <p:spPr bwMode="auto">
            <a:xfrm>
              <a:off x="5578787" y="1563590"/>
              <a:ext cx="404515" cy="404515"/>
            </a:xfrm>
            <a:prstGeom prst="ellipse">
              <a:avLst/>
            </a:prstGeom>
            <a:solidFill>
              <a:srgbClr val="5F5F5F">
                <a:lumMod val="50000"/>
              </a:srgbClr>
            </a:solidFill>
            <a:ln>
              <a:solidFill>
                <a:srgbClr val="FFFFFF"/>
              </a:solidFill>
            </a:ln>
          </p:spPr>
          <p:txBody>
            <a:bodyPr/>
            <a:lstStyle>
              <a:lvl1pPr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2135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6" name="Comp 16"/>
            <p:cNvSpPr/>
            <p:nvPr/>
          </p:nvSpPr>
          <p:spPr>
            <a:xfrm>
              <a:off x="5633168" y="1611959"/>
              <a:ext cx="295751" cy="3152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2135" dirty="0" smtClean="0">
                  <a:solidFill>
                    <a:srgbClr val="FFFFFF"/>
                  </a:solidFill>
                  <a:cs typeface="+mn-ea"/>
                  <a:sym typeface="+mn-lt"/>
                </a:rPr>
                <a:t>O</a:t>
              </a:r>
              <a:endParaRPr kumimoji="0" lang="en-US" altLang="zh-CN" sz="2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17" name="Comp 17"/>
            <p:cNvSpPr>
              <a:spLocks noChangeArrowheads="1"/>
            </p:cNvSpPr>
            <p:nvPr/>
          </p:nvSpPr>
          <p:spPr bwMode="auto">
            <a:xfrm>
              <a:off x="5524967" y="3660353"/>
              <a:ext cx="404515" cy="404515"/>
            </a:xfrm>
            <a:prstGeom prst="ellipse">
              <a:avLst/>
            </a:prstGeom>
            <a:solidFill>
              <a:srgbClr val="5F5F5F">
                <a:lumMod val="50000"/>
              </a:srgbClr>
            </a:solidFill>
            <a:ln>
              <a:solidFill>
                <a:srgbClr val="FFFFFF"/>
              </a:solidFill>
            </a:ln>
          </p:spPr>
          <p:txBody>
            <a:bodyPr/>
            <a:lstStyle>
              <a:lvl1pPr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1pPr>
              <a:lvl2pPr marL="742950" indent="-28575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2pPr>
              <a:lvl3pPr marL="11430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3pPr>
              <a:lvl4pPr marL="16002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4pPr>
              <a:lvl5pPr marL="2057400" indent="-228600"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rgbClr val="000000"/>
                  </a:solidFill>
                  <a:latin typeface="Calibri" panose="020F050202020403020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2135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8" name="Comp 18"/>
            <p:cNvSpPr/>
            <p:nvPr/>
          </p:nvSpPr>
          <p:spPr>
            <a:xfrm>
              <a:off x="5596494" y="3708722"/>
              <a:ext cx="261461" cy="31527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0" lang="en-US" altLang="zh-CN" sz="2135" dirty="0" smtClean="0">
                  <a:solidFill>
                    <a:srgbClr val="FFFFFF"/>
                  </a:solidFill>
                  <a:cs typeface="+mn-ea"/>
                  <a:sym typeface="+mn-lt"/>
                </a:rPr>
                <a:t>T</a:t>
              </a:r>
              <a:endParaRPr kumimoji="0" lang="en-US" altLang="zh-CN" sz="2135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