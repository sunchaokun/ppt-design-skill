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97280" y="1828800"/>
              <a:ext cx="91440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4400" b="1">
                  <a:solidFill>
                    <a:srgbClr val="FFFFFF"/>
                  </a:solidFill>
                  <a:latin typeface="Georgia"/>
                </a:defRPr>
              </a:pPr>
              <a:r>
                <a:t>Strategic Growth Report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97280" y="3291840"/>
              <a:ext cx="9144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200">
                  <a:solidFill>
                    <a:srgbClr val="C8E6C9"/>
                  </a:solidFill>
                  <a:latin typeface="Calibri"/>
                </a:defRPr>
              </a:pPr>
              <a:r>
                <a:t>FY2025 Performance Review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97280" y="1371600"/>
              <a:ext cx="2743200" cy="1828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200" b="1">
                  <a:solidFill>
                    <a:srgbClr val="C8E6C9"/>
                  </a:solidFill>
                  <a:latin typeface="Georgia"/>
                </a:defRPr>
              </a:pPr>
              <a:r>
                <a:t>01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3291840"/>
              <a:ext cx="1828800" cy="36576"/>
            </a:xfrm>
            <a:prstGeom prst="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3566160"/>
              <a:ext cx="91440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4400" b="1">
                  <a:solidFill>
                    <a:srgbClr val="FFFFFF"/>
                  </a:solidFill>
                  <a:latin typeface="Georgia"/>
                </a:defRPr>
              </a:pPr>
              <a:r>
                <a:t>Core Metrics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Georgia"/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Core business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02975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594360" y="1645920"/>
            <a:ext cx="3474720" cy="1371600"/>
            <a:chOff x="594360" y="1645920"/>
            <a:chExt cx="3474720" cy="1371600"/>
          </a:xfrm>
        </p:grpSpPr>
        <p:sp>
          <p:nvSpPr>
            <p:cNvPr id="7" name="Rounded Rectangle 6"/>
            <p:cNvSpPr/>
            <p:nvPr/>
          </p:nvSpPr>
          <p:spPr>
            <a:xfrm>
              <a:off x="594360" y="1645920"/>
              <a:ext cx="3474720" cy="1371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60" y="1645920"/>
              <a:ext cx="3474720" cy="54864"/>
            </a:xfrm>
            <a:prstGeom prst="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7240" y="1874519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600" b="1">
                  <a:solidFill>
                    <a:srgbClr val="2E6504"/>
                  </a:solidFill>
                  <a:latin typeface="Georgia"/>
                </a:defRPr>
              </a:pPr>
              <a:r>
                <a:t>12.8B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77240" y="233172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Annual Revenue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77240" y="260604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2E6504"/>
                  </a:solidFill>
                  <a:latin typeface="Calibri"/>
                </a:defRPr>
              </a:pPr>
              <a:r>
                <a:t>+8.3%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343400" y="1645920"/>
            <a:ext cx="3474720" cy="1371600"/>
            <a:chOff x="4343400" y="1645920"/>
            <a:chExt cx="3474720" cy="1371600"/>
          </a:xfrm>
        </p:grpSpPr>
        <p:sp>
          <p:nvSpPr>
            <p:cNvPr id="13" name="Rounded Rectangle 12"/>
            <p:cNvSpPr/>
            <p:nvPr/>
          </p:nvSpPr>
          <p:spPr>
            <a:xfrm>
              <a:off x="4343400" y="1645920"/>
              <a:ext cx="3474720" cy="1371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43400" y="1645920"/>
              <a:ext cx="3474720" cy="54864"/>
            </a:xfrm>
            <a:prstGeom prst="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26280" y="1874519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600" b="1">
                  <a:solidFill>
                    <a:srgbClr val="2E6504"/>
                  </a:solidFill>
                  <a:latin typeface="Georgia"/>
                </a:defRPr>
              </a:pPr>
              <a:r>
                <a:t>99.9%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26280" y="233172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System Uptime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26280" y="260604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2E6504"/>
                  </a:solidFill>
                  <a:latin typeface="Calibri"/>
                </a:defRPr>
              </a:pPr>
              <a:r>
                <a:t>+0.1%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092440" y="1645920"/>
            <a:ext cx="3474720" cy="1371600"/>
            <a:chOff x="8092440" y="1645920"/>
            <a:chExt cx="3474720" cy="1371600"/>
          </a:xfrm>
        </p:grpSpPr>
        <p:sp>
          <p:nvSpPr>
            <p:cNvPr id="19" name="Rounded Rectangle 18"/>
            <p:cNvSpPr/>
            <p:nvPr/>
          </p:nvSpPr>
          <p:spPr>
            <a:xfrm>
              <a:off x="8092440" y="1645920"/>
              <a:ext cx="3474720" cy="1371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092440" y="1645920"/>
              <a:ext cx="3474720" cy="54864"/>
            </a:xfrm>
            <a:prstGeom prst="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275319" y="1874519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600" b="1">
                  <a:solidFill>
                    <a:srgbClr val="2E6504"/>
                  </a:solidFill>
                  <a:latin typeface="Georgia"/>
                </a:defRPr>
              </a:pPr>
              <a:r>
                <a:t>5.2M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75319" y="233172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Active Users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75319" y="260604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2E6504"/>
                  </a:solidFill>
                  <a:latin typeface="Calibri"/>
                </a:defRPr>
              </a:pPr>
              <a:r>
                <a:t>+15%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94360" y="3383280"/>
            <a:ext cx="3474720" cy="1371600"/>
            <a:chOff x="594360" y="3383280"/>
            <a:chExt cx="3474720" cy="1371600"/>
          </a:xfrm>
        </p:grpSpPr>
        <p:sp>
          <p:nvSpPr>
            <p:cNvPr id="25" name="Rounded Rectangle 24"/>
            <p:cNvSpPr/>
            <p:nvPr/>
          </p:nvSpPr>
          <p:spPr>
            <a:xfrm>
              <a:off x="594360" y="3383280"/>
              <a:ext cx="3474720" cy="1371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94360" y="3383280"/>
              <a:ext cx="3474720" cy="54864"/>
            </a:xfrm>
            <a:prstGeom prst="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77240" y="3611880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600" b="1">
                  <a:solidFill>
                    <a:srgbClr val="2E6504"/>
                  </a:solidFill>
                  <a:latin typeface="Georgia"/>
                </a:defRPr>
              </a:pPr>
              <a:r>
                <a:t>2.4ms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7240" y="406908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P99 Latency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77240" y="434340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C53030"/>
                  </a:solidFill>
                  <a:latin typeface="Calibri"/>
                </a:defRPr>
              </a:pPr>
              <a:r>
                <a:t>-12%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343400" y="3383280"/>
            <a:ext cx="3474720" cy="1371600"/>
            <a:chOff x="4343400" y="3383280"/>
            <a:chExt cx="3474720" cy="1371600"/>
          </a:xfrm>
        </p:grpSpPr>
        <p:sp>
          <p:nvSpPr>
            <p:cNvPr id="31" name="Rounded Rectangle 30"/>
            <p:cNvSpPr/>
            <p:nvPr/>
          </p:nvSpPr>
          <p:spPr>
            <a:xfrm>
              <a:off x="4343400" y="3383280"/>
              <a:ext cx="3474720" cy="1371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343400" y="3383280"/>
              <a:ext cx="3474720" cy="54864"/>
            </a:xfrm>
            <a:prstGeom prst="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26280" y="3611880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600" b="1">
                  <a:solidFill>
                    <a:srgbClr val="2E6504"/>
                  </a:solidFill>
                  <a:latin typeface="Georgia"/>
                </a:defRPr>
              </a:pPr>
              <a:r>
                <a:t>72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526280" y="406908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NPS Score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26280" y="434340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2E6504"/>
                  </a:solidFill>
                  <a:latin typeface="Calibri"/>
                </a:defRPr>
              </a:pPr>
              <a:r>
                <a:t>Top 5%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8092440" y="3383280"/>
            <a:ext cx="3474720" cy="1371600"/>
            <a:chOff x="8092440" y="3383280"/>
            <a:chExt cx="3474720" cy="1371600"/>
          </a:xfrm>
        </p:grpSpPr>
        <p:sp>
          <p:nvSpPr>
            <p:cNvPr id="37" name="Rounded Rectangle 36"/>
            <p:cNvSpPr/>
            <p:nvPr/>
          </p:nvSpPr>
          <p:spPr>
            <a:xfrm>
              <a:off x="8092440" y="3383280"/>
              <a:ext cx="3474720" cy="1371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092440" y="3383280"/>
              <a:ext cx="3474720" cy="54864"/>
            </a:xfrm>
            <a:prstGeom prst="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275319" y="3611880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600" b="1">
                  <a:solidFill>
                    <a:srgbClr val="2E6504"/>
                  </a:solidFill>
                  <a:latin typeface="Georgia"/>
                </a:defRPr>
              </a:pPr>
              <a:r>
                <a:t>38%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275319" y="406908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Women in Leadership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275319" y="434340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2E6504"/>
                  </a:solidFill>
                  <a:latin typeface="Calibri"/>
                </a:defRPr>
              </a:pPr>
              <a:r>
                <a:t>vs 21% avg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Georgia"/>
              </a:defRPr>
            </a:pPr>
            <a:r>
              <a:t>Revenue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By business segment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02975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1005840" y="1984248"/>
            <a:ext cx="6016752" cy="1353312"/>
            <a:chOff x="1005840" y="1984248"/>
            <a:chExt cx="6016752" cy="1353312"/>
          </a:xfrm>
        </p:grpSpPr>
        <p:sp>
          <p:nvSpPr>
            <p:cNvPr id="7" name="Rounded Rectangle 6"/>
            <p:cNvSpPr/>
            <p:nvPr/>
          </p:nvSpPr>
          <p:spPr>
            <a:xfrm>
              <a:off x="1828800" y="2011680"/>
              <a:ext cx="4572000" cy="320040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828800" y="2011680"/>
              <a:ext cx="3749039" cy="320040"/>
            </a:xfrm>
            <a:prstGeom prst="round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5840" y="1984248"/>
              <a:ext cx="7772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100">
                  <a:solidFill>
                    <a:srgbClr val="333333"/>
                  </a:solidFill>
                  <a:latin typeface="Calibri"/>
                </a:defRPr>
              </a:pPr>
              <a:r>
                <a:t>Enterprise SaaS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73952" y="1984248"/>
              <a:ext cx="5486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A1A1A"/>
                  </a:solidFill>
                  <a:latin typeface="Calibri"/>
                </a:defRPr>
              </a:pPr>
              <a:r>
                <a:t>$10.2B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828800" y="2514600"/>
              <a:ext cx="4572000" cy="320040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828800" y="2514600"/>
              <a:ext cx="2194560" cy="320040"/>
            </a:xfrm>
            <a:prstGeom prst="round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5840" y="2487168"/>
              <a:ext cx="7772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100">
                  <a:solidFill>
                    <a:srgbClr val="333333"/>
                  </a:solidFill>
                  <a:latin typeface="Calibri"/>
                </a:defRPr>
              </a:pPr>
              <a:r>
                <a:t>SMB Platform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3952" y="2487168"/>
              <a:ext cx="5486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A1A1A"/>
                  </a:solidFill>
                  <a:latin typeface="Calibri"/>
                </a:defRPr>
              </a:pPr>
              <a:r>
                <a:t>$5.8B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828800" y="3017520"/>
              <a:ext cx="4572000" cy="320040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828800" y="3017520"/>
              <a:ext cx="1371600" cy="320040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05840" y="2990088"/>
              <a:ext cx="7772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100">
                  <a:solidFill>
                    <a:srgbClr val="333333"/>
                  </a:solidFill>
                  <a:latin typeface="Calibri"/>
                </a:defRPr>
              </a:pPr>
              <a:r>
                <a:t>Consumer App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73952" y="2990088"/>
              <a:ext cx="5486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A1A1A"/>
                  </a:solidFill>
                  <a:latin typeface="Calibri"/>
                </a:defRPr>
              </a:pPr>
              <a:r>
                <a:t>$3.9B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40880" y="1993392"/>
            <a:ext cx="5394960" cy="3310128"/>
            <a:chOff x="7040880" y="1993392"/>
            <a:chExt cx="5394960" cy="3310128"/>
          </a:xfrm>
        </p:grpSpPr>
        <p:sp>
          <p:nvSpPr>
            <p:cNvPr id="20" name="Oval 19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81C7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7772400" y="2743200"/>
              <a:ext cx="1828800" cy="1828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229600" y="3474720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200" b="1">
                  <a:solidFill>
                    <a:srgbClr val="2E6504"/>
                  </a:solidFill>
                  <a:latin typeface="Georgia"/>
                </a:defRPr>
              </a:pPr>
              <a:r>
                <a:t>100%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789920" y="2011680"/>
              <a:ext cx="182880" cy="182880"/>
            </a:xfrm>
            <a:prstGeom prst="round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064240" y="199339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333333"/>
                  </a:solidFill>
                  <a:latin typeface="Calibri"/>
                </a:defRPr>
              </a:pPr>
              <a:r>
                <a:t>SaaS  52%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0789920" y="2331720"/>
              <a:ext cx="182880" cy="182880"/>
            </a:xfrm>
            <a:prstGeom prst="round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064240" y="231343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333333"/>
                  </a:solidFill>
                  <a:latin typeface="Calibri"/>
                </a:defRPr>
              </a:pPr>
              <a:r>
                <a:t>SMB  29%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789920" y="2651760"/>
              <a:ext cx="182880" cy="182880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064240" y="263347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333333"/>
                  </a:solidFill>
                  <a:latin typeface="Calibri"/>
                </a:defRPr>
              </a:pPr>
              <a:r>
                <a:t>Consumer  19%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Georgia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What sets us apart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02975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594360" y="2011680"/>
            <a:ext cx="10972800" cy="1280160"/>
            <a:chOff x="594360" y="2011680"/>
            <a:chExt cx="10972800" cy="1280160"/>
          </a:xfrm>
        </p:grpSpPr>
        <p:sp>
          <p:nvSpPr>
            <p:cNvPr id="7" name="Rounded Rectangle 6"/>
            <p:cNvSpPr/>
            <p:nvPr/>
          </p:nvSpPr>
          <p:spPr>
            <a:xfrm>
              <a:off x="594360" y="2011680"/>
              <a:ext cx="3444240" cy="1280160"/>
            </a:xfrm>
            <a:prstGeom prst="roundRect">
              <a:avLst/>
            </a:prstGeom>
            <a:solidFill>
              <a:srgbClr val="F9F9F9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60" y="2011680"/>
              <a:ext cx="3444240" cy="54864"/>
            </a:xfrm>
            <a:prstGeom prst="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7240" y="2176272"/>
              <a:ext cx="30784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600" b="1">
                  <a:solidFill>
                    <a:srgbClr val="1A1A1A"/>
                  </a:solidFill>
                  <a:latin typeface="Georgia"/>
                </a:defRPr>
              </a:pPr>
              <a:r>
                <a:t>AI Inference Engine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77240" y="2487168"/>
              <a:ext cx="307848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Auto-select optimal framework, 70% compression, P99&lt;10ms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358640" y="2011680"/>
              <a:ext cx="3444240" cy="1280160"/>
            </a:xfrm>
            <a:prstGeom prst="roundRect">
              <a:avLst/>
            </a:prstGeom>
            <a:solidFill>
              <a:srgbClr val="F9F9F9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58640" y="2011680"/>
              <a:ext cx="3444240" cy="54864"/>
            </a:xfrm>
            <a:prstGeom prst="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41520" y="2176272"/>
              <a:ext cx="30784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600" b="1">
                  <a:solidFill>
                    <a:srgbClr val="1A1A1A"/>
                  </a:solidFill>
                  <a:latin typeface="Georgia"/>
                </a:defRPr>
              </a:pPr>
              <a:r>
                <a:t>Real-time Monitoring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41520" y="2487168"/>
              <a:ext cx="307848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Millisecond alerting, full-stack tracing, anomaly detection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122920" y="2011680"/>
              <a:ext cx="3444240" cy="1280160"/>
            </a:xfrm>
            <a:prstGeom prst="roundRect">
              <a:avLst/>
            </a:prstGeom>
            <a:solidFill>
              <a:srgbClr val="F9F9F9"/>
            </a:solidFill>
            <a:ln w="12700">
              <a:solidFill>
                <a:srgbClr val="C8E6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22920" y="2011680"/>
              <a:ext cx="3444240" cy="54864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05800" y="2176272"/>
              <a:ext cx="30784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600" b="1">
                  <a:solidFill>
                    <a:srgbClr val="1A1A1A"/>
                  </a:solidFill>
                  <a:latin typeface="Georgia"/>
                </a:defRPr>
              </a:pPr>
              <a:r>
                <a:t>Zero-config Integration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05800" y="2487168"/>
              <a:ext cx="307848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666666"/>
                  </a:solidFill>
                  <a:latin typeface="Calibri"/>
                </a:defRPr>
              </a:pPr>
              <a:r>
                <a:t>200+ connectors, out-of-box ready, 5-min setup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Georgia"/>
              </a:defRPr>
            </a:pPr>
            <a:r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Operational efficiency gains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02975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1280160" y="1984248"/>
            <a:ext cx="5486400" cy="1399032"/>
            <a:chOff x="1280160" y="1984248"/>
            <a:chExt cx="5486400" cy="1399032"/>
          </a:xfrm>
        </p:grpSpPr>
        <p:sp>
          <p:nvSpPr>
            <p:cNvPr id="7" name="TextBox 6"/>
            <p:cNvSpPr txBox="1"/>
            <p:nvPr/>
          </p:nvSpPr>
          <p:spPr>
            <a:xfrm>
              <a:off x="1280160" y="1993392"/>
              <a:ext cx="9144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100" b="1">
                  <a:solidFill>
                    <a:srgbClr val="333333"/>
                  </a:solidFill>
                  <a:latin typeface="Calibri"/>
                </a:defRPr>
              </a:pPr>
              <a:r>
                <a:t>Deploy Time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286000" y="2011680"/>
              <a:ext cx="3657600" cy="164592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86000" y="2011680"/>
              <a:ext cx="2926080" cy="164592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2212848"/>
              <a:ext cx="3657600" cy="164592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286000" y="2212848"/>
              <a:ext cx="182880" cy="164592"/>
            </a:xfrm>
            <a:prstGeom prst="round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35040" y="1984248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>
                  <a:solidFill>
                    <a:srgbClr val="666666"/>
                  </a:solidFill>
                  <a:latin typeface="Calibri"/>
                </a:defRPr>
              </a:pPr>
              <a:r>
                <a:t>4 hrs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35040" y="2185416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1A1A1A"/>
                  </a:solidFill>
                  <a:latin typeface="Calibri"/>
                </a:defRPr>
              </a:pPr>
              <a:r>
                <a:t>12 min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80160" y="2496312"/>
              <a:ext cx="9144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100" b="1">
                  <a:solidFill>
                    <a:srgbClr val="333333"/>
                  </a:solidFill>
                  <a:latin typeface="Calibri"/>
                </a:defRPr>
              </a:pPr>
              <a:r>
                <a:t>Incident Response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286000" y="2514600"/>
              <a:ext cx="3657600" cy="164592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286000" y="2514600"/>
              <a:ext cx="3291840" cy="164592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286000" y="2715768"/>
              <a:ext cx="3657600" cy="164592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286000" y="2715768"/>
              <a:ext cx="219456" cy="164592"/>
            </a:xfrm>
            <a:prstGeom prst="round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35040" y="2487168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>
                  <a:solidFill>
                    <a:srgbClr val="666666"/>
                  </a:solidFill>
                  <a:latin typeface="Calibri"/>
                </a:defRPr>
              </a:pPr>
              <a:r>
                <a:t>45 min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35040" y="2688336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1A1A1A"/>
                  </a:solidFill>
                  <a:latin typeface="Calibri"/>
                </a:defRPr>
              </a:pPr>
              <a:r>
                <a:t>3 min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80160" y="2999232"/>
              <a:ext cx="9144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100" b="1">
                  <a:solidFill>
                    <a:srgbClr val="333333"/>
                  </a:solidFill>
                  <a:latin typeface="Calibri"/>
                </a:defRPr>
              </a:pPr>
              <a:r>
                <a:t>Cost/Inference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286000" y="3017520"/>
              <a:ext cx="3657600" cy="164592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286000" y="3017520"/>
              <a:ext cx="2743200" cy="164592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286000" y="3218688"/>
              <a:ext cx="3657600" cy="164592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286000" y="3218688"/>
              <a:ext cx="438912" cy="164592"/>
            </a:xfrm>
            <a:prstGeom prst="round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035040" y="2990088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>
                  <a:solidFill>
                    <a:srgbClr val="666666"/>
                  </a:solidFill>
                  <a:latin typeface="Calibri"/>
                </a:defRPr>
              </a:pPr>
              <a:r>
                <a:t>$0.12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35040" y="3191256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1A1A1A"/>
                  </a:solidFill>
                  <a:latin typeface="Calibri"/>
                </a:defRPr>
              </a:pPr>
              <a:r>
                <a:t>$0.02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Georgia"/>
              </a:defRPr>
            </a:pPr>
            <a:r>
              <a:t>Deployment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Production-ready in 3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02975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594360" y="1755648"/>
            <a:ext cx="10972800" cy="3456432"/>
            <a:chOff x="594360" y="1755648"/>
            <a:chExt cx="10972800" cy="3456432"/>
          </a:xfrm>
        </p:grpSpPr>
        <p:sp>
          <p:nvSpPr>
            <p:cNvPr id="7" name="Rectangle 6"/>
            <p:cNvSpPr/>
            <p:nvPr/>
          </p:nvSpPr>
          <p:spPr>
            <a:xfrm>
              <a:off x="594360" y="2011680"/>
              <a:ext cx="10972800" cy="320040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85800" y="1755648"/>
              <a:ext cx="932688" cy="228600"/>
            </a:xfrm>
            <a:prstGeom prst="roundRect">
              <a:avLst/>
            </a:prstGeom>
            <a:solidFill>
              <a:srgbClr val="7DA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1520" y="1755648"/>
              <a:ext cx="841248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t>python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77240" y="2148840"/>
              <a:ext cx="10607040" cy="2926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defRPr sz="1300">
                  <a:solidFill>
                    <a:srgbClr val="D4D4D4"/>
                  </a:solidFill>
                  <a:latin typeface="Consolas"/>
                </a:defRPr>
              </a:pPr>
              <a:r>
                <a:t>from neural_ops import deploy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  <a:defRPr sz="1300">
                  <a:solidFill>
                    <a:srgbClr val="D4D4D4"/>
                  </a:solidFill>
                  <a:latin typeface="Consolas"/>
                </a:defRPr>
              </a:pPr>
              <a:r>
                <a:t>model = load("gpt-4o-finetuned")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  <a:defRPr sz="1300">
                  <a:solidFill>
                    <a:srgbClr val="D4D4D4"/>
                  </a:solidFill>
                  <a:latin typeface="Consolas"/>
                </a:defRPr>
              </a:pPr>
              <a:r>
                <a:t>deploy(model, replicas=3, gpu="A100")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  <a:defRPr sz="1300">
                  <a:solidFill>
                    <a:srgbClr val="D4D4D4"/>
                  </a:solidFill>
                  <a:latin typeface="Consolas"/>
                </a:defRPr>
              </a:pPr>
              <a:r>
                <a:t>print("Serving at", model.endpoint)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2E65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97280" y="2286000"/>
              <a:ext cx="91440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4800" b="1">
                  <a:solidFill>
                    <a:srgbClr val="FFFFFF"/>
                  </a:solidFill>
                  <a:latin typeface="Georgia"/>
                </a:defRPr>
              </a:pPr>
              <a:r>
                <a:t>Let's Build the Future Together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97280" y="3657600"/>
              <a:ext cx="9144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600">
                  <a:solidFill>
                    <a:srgbClr val="C8E6C9"/>
                  </a:solidFill>
                  <a:latin typeface="Calibri"/>
                </a:defRPr>
              </a:pPr>
              <a:r>
                <a:t>Contact: growth@example.com  |  example.com/demo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