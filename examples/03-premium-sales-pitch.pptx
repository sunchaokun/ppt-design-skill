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Playfair Display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C1917"/>
                </a:solidFill>
                <a:latin typeface="Playfair Display"/>
              </a:defRPr>
            </a:pPr>
            <a:r>
              <a:t>Introducing Premium Advisory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A29E"/>
                </a:solidFill>
                <a:latin typeface="Inter"/>
              </a:defRPr>
            </a:pPr>
            <a:r>
              <a:t>Aurum Partners — Innovation that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504" y="274320"/>
            <a:ext cx="1371600" cy="457200"/>
          </a:xfrm>
          <a:prstGeom prst="rect">
            <a:avLst/>
          </a:prstGeom>
          <a:solidFill>
            <a:srgbClr val="FEF3C7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8A29E"/>
                </a:solidFill>
              </a:defRPr>
            </a:pPr>
            <a:r>
              <a:t>[图片: abstract technology innovation]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Playfair Display"/>
              </a:defRPr>
            </a:pPr>
            <a:r>
              <a:t>The problem is bigger than you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917"/>
                </a:solidFill>
                <a:latin typeface="Inter"/>
              </a:defRPr>
            </a:pPr>
            <a:r>
              <a:t>• Portfolio management is fragmented across 5+ platforms</a:t>
            </a:r>
            <a:br/>
            <a:r>
              <a:t>• Risk exposure is invisible until it's too late</a:t>
            </a:r>
            <a:br/>
            <a:r>
              <a:t>• Client reporting takes 20+ hours per quarter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D97706"/>
                </a:solidFill>
                <a:latin typeface="Playfair Display"/>
              </a:defRPr>
            </a:pPr>
            <a:r>
              <a:t>This is costing you more than you realize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C1917"/>
                </a:solidFill>
                <a:latin typeface="Inter"/>
              </a:defRPr>
            </a:pPr>
            <a:r>
              <a:t>Companies in Financial Services lose an average of $2.4M annually to operational inefficiency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Playfair Display"/>
              </a:defRPr>
            </a:pPr>
            <a:r>
              <a:t>Unified Wealth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917"/>
                </a:solidFill>
                <a:latin typeface="Inter"/>
              </a:defRPr>
            </a:pPr>
            <a:r>
              <a:t>• Multi-custodian aggregation</a:t>
            </a:r>
            <a:br/>
            <a:r>
              <a:t>• Real-time risk analytics</a:t>
            </a:r>
            <a:br/>
            <a:r>
              <a:t>• Automated client reporting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Playfair Display"/>
              </a:defRPr>
            </a:pPr>
            <a:r>
              <a:t>Proven results across industries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917"/>
                </a:solidFill>
                <a:latin typeface="Inter"/>
              </a:defRPr>
            </a:pPr>
            <a:r>
              <a:t>• 3 of the top 10 banks use our platform for compliance</a:t>
            </a:r>
            <a:br/>
            <a:r>
              <a:t>• 99.99% uptime SLA — backed by service credits</a:t>
            </a:r>
            <a:br/>
            <a:r>
              <a:t>• SOC 2 Type II certified, GDPR &amp; CCPA compliant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Playfair Display"/>
              </a:defRPr>
            </a:pPr>
            <a:r>
              <a:t>Limited-time launch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C1917"/>
                </a:solidFill>
                <a:latin typeface="Inter"/>
              </a:defRPr>
            </a:pPr>
            <a:r>
              <a:t>• 50% off annual plans for the first 12 months</a:t>
            </a:r>
            <a:br/>
            <a:r>
              <a:t>• Free onboarding and migration assistance</a:t>
            </a:r>
            <a:br/>
            <a:r>
              <a:t>• Dedicated success manager included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C1917"/>
                </a:solidFill>
                <a:latin typeface="Playfair Display"/>
              </a:defRPr>
            </a:pPr>
            <a:r>
              <a:t>Try Premium Advisory Service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47472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8A29E"/>
                </a:solidFill>
                <a:latin typeface="Inter"/>
              </a:defRPr>
            </a:pPr>
            <a:r>
              <a:t>Complimentary portfolio review for qualified investors.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504" y="4572000"/>
            <a:ext cx="3657600" cy="731520"/>
          </a:xfrm>
          <a:prstGeom prst="roundRect">
            <a:avLst/>
          </a:prstGeom>
          <a:solidFill>
            <a:srgbClr val="92400E"/>
          </a:solidFill>
          <a:ln>
            <a:noFill/>
          </a:ln>
          <a:effectLst>
            <a:outerShdw blurRad="76200" dist="38100" dir="54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Try Premium Advisory Service free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