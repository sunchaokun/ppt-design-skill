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cfe46a1210fa67e07acdec62d03f2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133295" cy="18288"/>
          </a:xfrm>
          <a:prstGeom prst="rect">
            <a:avLst/>
          </a:prstGeom>
          <a:solidFill>
            <a:srgbClr val="C9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619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9A4E"/>
                </a:solidFill>
                <a:latin typeface="Georgia"/>
              </a:defRPr>
            </a:pPr>
            <a:r>
              <a:t>MAISON ÉTERNELLE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560320"/>
            <a:ext cx="7619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FFFF"/>
                </a:solidFill>
                <a:latin typeface="Georgia"/>
              </a:defRPr>
            </a:pPr>
            <a:r>
              <a:t>Redefining Luxury</a:t>
            </a:r>
            <a:br/>
            <a:r>
              <a:t>for the Modern</a:t>
            </a:r>
            <a:br/>
            <a:r>
              <a:t>Connoisseur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5120640"/>
            <a:ext cx="2133295" cy="18288"/>
          </a:xfrm>
          <a:prstGeom prst="rect">
            <a:avLst/>
          </a:prstGeom>
          <a:solidFill>
            <a:srgbClr val="C9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539496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4C5B0"/>
                </a:solidFill>
                <a:latin typeface="Georgia"/>
              </a:defRPr>
            </a:pPr>
            <a:r>
              <a:t>AUTUMN / WINTER  2026  —  BRAND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9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9A4E"/>
                </a:solidFill>
                <a:latin typeface="Georgia"/>
              </a:defRPr>
            </a:pPr>
            <a:r>
              <a:t>Brand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C99A4E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C2C2C"/>
                </a:solidFill>
                <a:latin typeface="Georgia"/>
              </a:defRPr>
            </a:pPr>
            <a:r>
              <a:t>Timeless Craft,</a:t>
            </a:r>
            <a:br/>
            <a:r>
              <a:t>Modern Soul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371600" cy="18288"/>
          </a:xfrm>
          <a:prstGeom prst="rect">
            <a:avLst/>
          </a:prstGeom>
          <a:solidFill>
            <a:srgbClr val="C9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8C7E"/>
                </a:solidFill>
                <a:latin typeface="Georgia"/>
              </a:defRPr>
            </a:pPr>
            <a:r>
              <a:t>Where heritage meets</a:t>
            </a:r>
            <a:br/>
            <a:r>
              <a:t>contemporary vision</a:t>
            </a:r>
          </a:p>
        </p:txBody>
      </p:sp>
      <p:sp>
        <p:nvSpPr>
          <p:cNvPr id="9" name="Diamond 8"/>
          <p:cNvSpPr/>
          <p:nvPr/>
        </p:nvSpPr>
        <p:spPr>
          <a:xfrm>
            <a:off x="6583680" y="1005840"/>
            <a:ext cx="137160" cy="137160"/>
          </a:xfrm>
          <a:prstGeom prst="diamond">
            <a:avLst/>
          </a:prstGeom>
          <a:solidFill>
            <a:srgbClr val="C9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2C2C"/>
                </a:solidFill>
                <a:latin typeface="Georgia"/>
              </a:defRPr>
            </a:pPr>
            <a:r>
              <a:t>Heritage Craftsmanship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325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Georgia"/>
              </a:defRPr>
            </a:pPr>
            <a:r>
              <a:t>Métiers d’art techniques passed through</a:t>
            </a:r>
            <a:br/>
            <a:r>
              <a:t>generations, reimagined for today</a:t>
            </a:r>
          </a:p>
        </p:txBody>
      </p:sp>
      <p:sp>
        <p:nvSpPr>
          <p:cNvPr id="12" name="Diamond 11"/>
          <p:cNvSpPr/>
          <p:nvPr/>
        </p:nvSpPr>
        <p:spPr>
          <a:xfrm>
            <a:off x="6583680" y="2468880"/>
            <a:ext cx="137160" cy="137160"/>
          </a:xfrm>
          <a:prstGeom prst="diamond">
            <a:avLst/>
          </a:prstGeom>
          <a:solidFill>
            <a:srgbClr val="C9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2C2C"/>
                </a:solidFill>
                <a:latin typeface="Georgia"/>
              </a:defRPr>
            </a:pPr>
            <a:r>
              <a:t>Sustainable Luxury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788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Georgia"/>
              </a:defRPr>
            </a:pPr>
            <a:r>
              <a:t>100% traceable sourcing from artisan</a:t>
            </a:r>
            <a:br/>
            <a:r>
              <a:t>partners across 14 countries</a:t>
            </a:r>
          </a:p>
        </p:txBody>
      </p:sp>
      <p:sp>
        <p:nvSpPr>
          <p:cNvPr id="15" name="Diamond 14"/>
          <p:cNvSpPr/>
          <p:nvPr/>
        </p:nvSpPr>
        <p:spPr>
          <a:xfrm>
            <a:off x="6583680" y="3931920"/>
            <a:ext cx="137160" cy="137160"/>
          </a:xfrm>
          <a:prstGeom prst="diamond">
            <a:avLst/>
          </a:prstGeom>
          <a:solidFill>
            <a:srgbClr val="C9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2C2C"/>
                </a:solidFill>
                <a:latin typeface="Georgia"/>
              </a:defRPr>
            </a:pPr>
            <a:r>
              <a:t>Digital-First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251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Georgia"/>
              </a:defRPr>
            </a:pPr>
            <a:r>
              <a:t>Personal style curation powered by</a:t>
            </a:r>
            <a:br/>
            <a:r>
              <a:t>AI, delivered with human touch</a:t>
            </a:r>
          </a:p>
        </p:txBody>
      </p:sp>
      <p:sp>
        <p:nvSpPr>
          <p:cNvPr id="18" name="Diamond 17"/>
          <p:cNvSpPr/>
          <p:nvPr/>
        </p:nvSpPr>
        <p:spPr>
          <a:xfrm>
            <a:off x="6583680" y="5394960"/>
            <a:ext cx="137160" cy="137160"/>
          </a:xfrm>
          <a:prstGeom prst="diamond">
            <a:avLst/>
          </a:prstGeom>
          <a:solidFill>
            <a:srgbClr val="C9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2C2C"/>
                </a:solidFill>
                <a:latin typeface="Georgia"/>
              </a:defRPr>
            </a:pPr>
            <a:r>
              <a:t>Global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715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A8C7E"/>
                </a:solidFill>
                <a:latin typeface="Georgia"/>
              </a:defRPr>
            </a:pPr>
            <a:r>
              <a:t>12 new markets with localized brand</a:t>
            </a:r>
            <a:br/>
            <a:r>
              <a:t>narratives and cultural sensitivity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C9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