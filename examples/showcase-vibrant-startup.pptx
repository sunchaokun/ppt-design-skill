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7bec257ed32e1e9a17c63d05b7b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87"/>
                </a:solidFill>
                <a:latin typeface="Segoe UI"/>
              </a:defRPr>
            </a:pPr>
            <a:r>
              <a:t>PULSEWAVE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Real-Time</a:t>
            </a:r>
            <a:br/>
            <a:r>
              <a:t>Health</a:t>
            </a:r>
            <a:br/>
            <a: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DAFB"/>
                </a:solidFill>
                <a:latin typeface="Segoe UI"/>
              </a:defRPr>
            </a:pPr>
            <a:r>
              <a:t>For Everyone.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3200400" cy="2286000"/>
          </a:xfrm>
          <a:prstGeom prst="roundRect">
            <a:avLst/>
          </a:prstGeom>
          <a:solidFill>
            <a:srgbClr val="1E1435">
              <a:alpha val="80000"/>
            </a:srgbClr>
          </a:solidFill>
          <a:ln w="25400">
            <a:solidFill>
              <a:srgbClr val="6C2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E696"/>
                </a:solidFill>
                <a:latin typeface="Segoe UI"/>
              </a:defRPr>
            </a:pPr>
            <a:r>
              <a:t>500K+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DAFB"/>
                </a:solidFill>
                <a:latin typeface="Segoe UI"/>
              </a:defRPr>
            </a:pPr>
            <a:r>
              <a:t>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CB0"/>
                </a:solidFill>
                <a:latin typeface="Segoe UI"/>
              </a:defRPr>
            </a:pPr>
            <a:r>
              <a:t>28 countries · 18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gradFill rotWithShape="1">
            <a:gsLst>
              <a:gs pos="0">
                <a:srgbClr val="6C2BD9"/>
              </a:gs>
              <a:gs pos="100000">
                <a:srgbClr val="FF2D8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C2BD9"/>
              </a:gs>
              <a:gs pos="100000">
                <a:srgbClr val="FF2D8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2D87"/>
                </a:solidFill>
                <a:latin typeface="Segoe UI"/>
              </a:defRPr>
            </a:pPr>
            <a:r>
              <a:t>TRACTION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Numbers Speak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E1435"/>
          </a:solidFill>
          <a:ln w="12700">
            <a:solidFill>
              <a:srgbClr val="2A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54864" cy="13716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696"/>
                </a:solidFill>
                <a:latin typeface="Segoe UI"/>
              </a:defRPr>
            </a:pPr>
            <a:r>
              <a:t>500K+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CB0"/>
                </a:solidFill>
                <a:latin typeface="Segoe UI"/>
              </a:defRPr>
            </a:pPr>
            <a:r>
              <a:t>28 countries in 18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383280"/>
            <a:ext cx="1645920" cy="109728"/>
          </a:xfrm>
          <a:prstGeom prst="roundRect">
            <a:avLst/>
          </a:prstGeom>
          <a:solidFill>
            <a:srgbClr val="2A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3383280"/>
            <a:ext cx="1152144" cy="109728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120640" cy="2103120"/>
          </a:xfrm>
          <a:prstGeom prst="roundRect">
            <a:avLst/>
          </a:prstGeom>
          <a:solidFill>
            <a:srgbClr val="1E1435"/>
          </a:solidFill>
          <a:ln w="12700">
            <a:solidFill>
              <a:srgbClr val="2A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2194560"/>
            <a:ext cx="54864" cy="137160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C2BD9"/>
                </a:solidFill>
                <a:latin typeface="Segoe UI"/>
              </a:defRPr>
            </a:pPr>
            <a:r>
              <a:t>$2.4M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CB0"/>
                </a:solidFill>
                <a:latin typeface="Segoe UI"/>
              </a:defRPr>
            </a:pPr>
            <a:r>
              <a:t>22% MoM revenue growth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383280"/>
            <a:ext cx="1645920" cy="109728"/>
          </a:xfrm>
          <a:prstGeom prst="roundRect">
            <a:avLst/>
          </a:prstGeom>
          <a:solidFill>
            <a:srgbClr val="2A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0" y="3383280"/>
            <a:ext cx="658368" cy="109728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1E1435"/>
          </a:solidFill>
          <a:ln w="12700">
            <a:solidFill>
              <a:srgbClr val="2A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663440"/>
            <a:ext cx="54864" cy="1371600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572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2D87"/>
                </a:solidFill>
                <a:latin typeface="Segoe UI"/>
              </a:defRPr>
            </a:pPr>
            <a:r>
              <a:t>3 of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Top Health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CB0"/>
                </a:solidFill>
                <a:latin typeface="Segoe UI"/>
              </a:defRPr>
            </a:pPr>
            <a:r>
              <a:t>Strategic enterprise partnerships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5852160"/>
            <a:ext cx="1645920" cy="109728"/>
          </a:xfrm>
          <a:prstGeom prst="roundRect">
            <a:avLst/>
          </a:prstGeom>
          <a:solidFill>
            <a:srgbClr val="2A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31920" y="5852160"/>
            <a:ext cx="987552" cy="109728"/>
          </a:xfrm>
          <a:prstGeom prst="round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297680"/>
            <a:ext cx="5120640" cy="2103120"/>
          </a:xfrm>
          <a:prstGeom prst="roundRect">
            <a:avLst/>
          </a:prstGeom>
          <a:solidFill>
            <a:srgbClr val="1E1435"/>
          </a:solidFill>
          <a:ln w="12700">
            <a:solidFill>
              <a:srgbClr val="2A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4663440"/>
            <a:ext cx="54864" cy="13716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572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B800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NPS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CB0"/>
                </a:solidFill>
                <a:latin typeface="Segoe UI"/>
              </a:defRPr>
            </a:pPr>
            <a:r>
              <a:t>Top 5% in digital health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852160"/>
            <a:ext cx="1645920" cy="109728"/>
          </a:xfrm>
          <a:prstGeom prst="roundRect">
            <a:avLst/>
          </a:prstGeom>
          <a:solidFill>
            <a:srgbClr val="2A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01200" y="5852160"/>
            <a:ext cx="1399032" cy="109728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