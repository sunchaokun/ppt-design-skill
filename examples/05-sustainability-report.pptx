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>
                <a:latin typeface="Lora"/>
                <a:ea typeface="STSong"/>
                <a:cs typeface="STSong"/>
              </a:rPr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>
                <a:latin typeface="Lora"/>
                <a:ea typeface="STSong"/>
                <a:cs typeface="STSong"/>
              </a:rPr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>
                <a:latin typeface="Inter"/>
                <a:ea typeface="Microsoft YaHei"/>
                <a:cs typeface="Microsoft YaHei"/>
              </a:rPr>
              <a:t>Click to edit Master text styles</a:t>
            </a:r>
          </a:p>
          <a:p>
            <a:pPr lvl="1"/>
            <a:r>
              <a:rPr lang="en-US" smtClean="0">
                <a:latin typeface="Inter"/>
                <a:ea typeface="Microsoft YaHei"/>
                <a:cs typeface="Microsoft YaHei"/>
              </a:rPr>
              <a:t>Second level</a:t>
            </a:r>
          </a:p>
          <a:p>
            <a:pPr lvl="2"/>
            <a:r>
              <a:rPr lang="en-US" smtClean="0">
                <a:latin typeface="Inter"/>
                <a:ea typeface="Microsoft YaHei"/>
                <a:cs typeface="Microsoft YaHei"/>
              </a:rPr>
              <a:t>Third level</a:t>
            </a:r>
          </a:p>
          <a:p>
            <a:pPr lvl="3"/>
            <a:r>
              <a:rPr lang="en-US" smtClean="0">
                <a:latin typeface="Inter"/>
                <a:ea typeface="Microsoft YaHei"/>
                <a:cs typeface="Microsoft YaHei"/>
              </a:rPr>
              <a:t>Fourth level</a:t>
            </a:r>
          </a:p>
          <a:p>
            <a:pPr lvl="4"/>
            <a:r>
              <a:rPr lang="en-US" smtClean="0">
                <a:latin typeface="Inter"/>
                <a:ea typeface="Microsoft YaHei"/>
                <a:cs typeface="Microsoft YaHei"/>
              </a:rPr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>
                <a:latin typeface="Inter"/>
                <a:ea typeface="Microsoft YaHei"/>
                <a:cs typeface="Microsoft YaHei"/>
              </a:rPr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latin typeface="Inter"/>
                <a:ea typeface="Microsoft YaHei"/>
                <a:cs typeface="Microsoft YaHei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201168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4E3B"/>
                </a:solidFill>
                <a:latin typeface="Lora"/>
              </a:defRPr>
            </a:pPr>
            <a:r>
              <a:t>Introducing Carbon Tracking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4484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Inter"/>
              </a:defRPr>
            </a:pPr>
            <a:r>
              <a:t>GreenPath — Innovation that delivers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10504" y="274320"/>
            <a:ext cx="1371600" cy="457200"/>
          </a:xfrm>
          <a:prstGeom prst="rect">
            <a:avLst/>
          </a:prstGeom>
          <a:solidFill>
            <a:srgbClr val="D1FAE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[图片: abstract technology innovation]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The problem is bigger than you think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Carbon reporting is manual, error-prone, and months late</a:t>
            </a:r>
            <a:br/>
            <a:r>
              <a:t>• No real-time visibility into supply chain emissions</a:t>
            </a:r>
            <a:br/>
            <a:r>
              <a:t>• Regulatory compliance demands are accelerating globally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Automated Carbon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Scope 1-3 auto-calculation</a:t>
            </a:r>
            <a:br/>
            <a:r>
              <a:t>• Supply chain mapping</a:t>
            </a:r>
            <a:br/>
            <a:r>
              <a:t>• Regulatory report generator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How Carbon Tracking Platform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Connect: Integrate with your existing tools in minutes, not months</a:t>
            </a:r>
            <a:br/>
            <a:r>
              <a:t>• Automate: Build intelligent workflows with our visual designer</a:t>
            </a:r>
            <a:br/>
            <a:r>
              <a:t>• Optimize: AI continuously improves your processes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The numbers speak for themselves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</a:defRPr>
            </a:pPr>
            <a:r>
              <a:t>45K tons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Carbon Reduced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9195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</a:defRPr>
            </a:pPr>
            <a:r>
              <a:t>2,800+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Companies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3504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</a:defRPr>
            </a:pPr>
            <a:r>
              <a:t>32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86900" y="2286000"/>
            <a:ext cx="24761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4D399"/>
                </a:solidFill>
              </a:defRPr>
            </a:pPr>
            <a:r>
              <a:t>$12M</a:t>
            </a:r>
          </a:p>
          <a:p>
            <a:pPr algn="ctr">
              <a:defRPr sz="1400">
                <a:solidFill>
                  <a:srgbClr val="6B7280"/>
                </a:solidFill>
              </a:defRPr>
            </a:pPr>
            <a:r>
              <a:t>Savings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A massive, underserved Sustainability / CleanTech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Total addressable market: $47B and growing at 23% CAGR</a:t>
            </a:r>
            <a:br/>
            <a:r>
              <a:t>• Only 12% of enterprises have adopted modern solutions</a:t>
            </a:r>
            <a:br/>
            <a:r>
              <a:t>• Regulatory tailwinds are accelerating adoption globally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A business model built for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SaaS subscription with 85%+ gross margins</a:t>
            </a:r>
            <a:br/>
            <a:r>
              <a:t>• Land-and-expand: free tier → team → enterprise</a:t>
            </a:r>
            <a:br/>
            <a:r>
              <a:t>• Net revenue retention: 120%+ (expansion exceeds churn)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Built by operators who've been in your shoes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CEO: 15yr industry experience, 2x founder (1 exit)</a:t>
            </a:r>
            <a:br/>
            <a:r>
              <a:t>• CTO: Former principal engineer at top tech company</a:t>
            </a:r>
            <a:br/>
            <a:r>
              <a:t>• VP Sales: Built $0→$50M ARR pipeline at previous startup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20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4E3B"/>
                </a:solidFill>
                <a:latin typeface="Lora"/>
              </a:defRPr>
            </a:pPr>
            <a:r>
              <a:t>Strong unit economics, clear path to profitability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200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64E3B"/>
                </a:solidFill>
                <a:latin typeface="Inter"/>
              </a:defRPr>
            </a:pPr>
            <a:r>
              <a:t>• Current ARR: $8M, targeting $20M by year-end</a:t>
            </a:r>
            <a:br/>
            <a:r>
              <a:t>• CAC payback: 8 months (industry avg: 18 months)</a:t>
            </a:r>
            <a:br/>
            <a:r>
              <a:t>• Rule of 40: ARR growth (60%) + FCF margin (-15%) = 45%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64E3B"/>
                </a:solidFill>
                <a:latin typeface="Lora"/>
              </a:defRPr>
            </a:pPr>
            <a:r>
              <a:t>Try Carbon Tracking Platform free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3474720"/>
            <a:ext cx="7619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7280"/>
                </a:solidFill>
                <a:latin typeface="Inter"/>
              </a:defRPr>
            </a:pPr>
            <a:r>
              <a:t>Free for companies under 100 employees. No setup fee.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67504" y="4572000"/>
            <a:ext cx="3657600" cy="7315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>
            <a:outerShdw blurRad="76200" dist="38100" dir="5400000" algn="tl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Try Carbon Tracking Platform free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