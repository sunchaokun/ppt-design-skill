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SCIENTIFIC-EVIDENCE /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PAPER CASE 03 / BIOTECH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SINGLE-CELL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CAR T ATLAS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How a persistent clinical phenotype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becomes a cell-state hypothesis.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Bai et al. · Nature 634 · 702–711 · 2024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82 patients · 695,819 analyzed cells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CONCEPTUAL COVER VISUAL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CLINICAL / CELLULAR / PRECLINICAL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DOI 10.1038/s41586-024-07762-w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SCIENTIFIC-EVIDENCE /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01 / CLINICAL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clinical signal is unusually long-lived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Before asking what the cell is, establish how long it remains clinically visible.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2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ATLAS / 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figure / Fig. 4a–b · longitudinal serum measurements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PERSISTENCE READOUT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8.4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years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median BCA-L duration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phenotype is not a single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measurement—it is a longitudinal trace.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OBSERVATION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long B-cell aplasia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QUESTION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what sustains the state?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NEXT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single-cell atlas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Evidence anchor: BCA-L group median BCA duration 8.4 years. Clinical persistence is the entry point, not the conclusion.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SCIENTIFIC-EVIDENCE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02 / STUDY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One cohort becomes a multi-omic research system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paper connects patient persistence to a measured cell-state atlas through five linked readout layers.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3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ATLAS / 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PATIENT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COHORT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82 ALL patients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+ 6 healthy donors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CAR 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PRODUCT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manufactured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CAR T cells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SINGLE-CELL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MULTIOMICS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10x 3′ assay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&gt;10⁶ cells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04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FUNCTIONAL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READOUTS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flow · secretomics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ATAC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05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CLINICAL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CORRELATION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17 clusters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BCA strata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figure / Fig. 1a · cohort → measurement layers → data analysis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SYSTEM OUTPUT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695,819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analyzed cells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17 cell states  ·  5 BCA strata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Clinical observation becomes measurable state space.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figure / Fig. 1a. The pipeline is editorially redrawn; cohort and assay facts remain tied to the paper.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SCIENTIFIC-EVIDENCE /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03 / CELL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695,819 cells resolve into 17 states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UMAP is the map from which the later mechanistic claims depart.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4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ATLAS / 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1b / UMAP + cluster annotation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695,819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analyzed cells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17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cell states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ATLAS READOUT / FOUR STATE FAMILIES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NAIVE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CYTOTOXIC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REGULATORY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PROLIFERATIVE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Design principle: preserve the paper’s cluster colors; use blue annotations to explain the map.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figure / Fig. 1b. Cell labels and original color encoding are preserved.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SCIENTIFIC-EVIDENCE /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04 /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Persistence is a gradient, not a binary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BCA strata create the clinical axis reused across the paper.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5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ATLAS / 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1c / demographics and follow-up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PERSISTENCE GRADIENT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BCA-L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BCA-O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61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BCA3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18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BCA2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4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BCA1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BCA-L / LONGEST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 = 5 · 101 months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no relapse observed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BCA1 / SHORTEST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 = 17 · 1 month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relapse observed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INTERPRETATION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Persistence is a continuum with a clinical gradient, not a yes/no label.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figure / Fig. 1c. Duration values shown are the paper’s reported values; units are months in the source table.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SCIENTIFIC-EVIDENCE /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05 / TYPE 2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long-remission state reads as type 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Four orthogonal readouts point to the same biological state.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6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ATLAS / 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2a–d / type 2 score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2e–f / secretion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2g–j / ATAC + GATA3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PERTURBATION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GATA3 / STAT6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repeat stimulation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→ tumour-cell lysis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TYPE 2 SIGNATURE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IL4 · IL5 · IL13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GATA3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enriched in the long-remission group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EVIDENCE RULE / CONVERGENCE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TRANSCRIPTOME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SECRETION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CHROMATIN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→ one coherent type 2 state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figure / Fig. 2. Direct paper panels used as evidence modules; interpretation is newly organized.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SCIENTIFIC-EVIDENCE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06 /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Cluster 2 is the pressure point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paper moves from association to a candidate regulatory interaction network.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7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ATLAS / 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3a–b / ligand–receptor network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3c–d / cluster 2 and DEGs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13.9%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cluster 2 proportion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STATE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type 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signal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cluster 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proliferation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EDITABLE MECHANISM SUMMARY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Type 2 function  →  cluster 2  →  dysfunctional subpopulation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CLAIM BOUNDARY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Candidate mechanism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not a complete causal proof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figure / Fig. 3. Network diagrams and cluster 2 readouts are reproduced; the causal wording is deliberately bounded.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SCIENTIFIC-EVIDENCE /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07 / SECRETOME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serum trace keeps the biology longitudinal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state is more credible when it survives time, not just a snapshot.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8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ATLAS / 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4a–b / collection timeline + time series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345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measurements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30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cytokines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33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patients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4c–e / cytokine windows + heatmap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TYPE 2 WINDOW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IL-4 · IL-5 · IL-13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serial evidence across days 1–63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33 discovery + 8 validation patients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figure / Fig. 4. Longitudinal panels are retained; the surrounding blue modules explain scale and timing.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SCIENTIFIC-EVIDENCE /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08 / IN VIVO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Type 2-high cells pass the recall test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state is tested as function, not merely described as phenotype.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9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ATLAS / 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5a–c / mouse sequence + expansion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5d / survival after rechallenge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 VIVO SEQUENCE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−7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Nalm6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CAR 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17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rechallenge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24–28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imaging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READOUT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Type 2-high cells expand more and show stronger recall in the reported model; selected readouts n=5 mice.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EVIDENCE BOUNDARY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Preclinical model supports function; it does not establish clinical efficacy.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figure / Fig. 5. Experimental evidence is shown with the preclinical boundary kept explicit.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SCIENTIFIC-EVIDENCE /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09 /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IL-4 turns the state into a design lever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final figure converts a cell-state hypothesis into a manufacturing strategy.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10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ATLAS / 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6a / priming and ET2-L/H strategies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6b / in vivo imaging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ng ml⁻¹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50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ng ml⁻¹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6c–d / expansion + survival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DESIGN OPTIONS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priming: 10 ng ml⁻¹ / 12 h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ET2-L: 10 · ET2-H: 50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controlled manufacturing exposure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INTERPRETATION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Promising engineering lever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still bounded by model and study design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Source figure / Fig. 6. Concentrations and group labels remain tied to the paper; the design framing is editorialized.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SCIENTIFIC-EVIDENCE /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10 / EVIDENCE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The argument is strongest when each layer stays distinct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Do not collapse clinical association, mechanism and intervention into one claim.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11 / 12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ATLAS / 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01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OBSERVED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CLINICAL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8.4-year persistence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1 / 4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RESOLVED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CELLULAR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type 2 state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PROPOSED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MECHANISM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cluster 2 network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04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TESTED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PRECLINICAL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recall + IL-4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5 / 6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READING RULE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Clinical persistence anchors the story; cellular evidence resolves the state; mechanism remains a candidate; preclinical work tests the direction.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Evidence boundary: association → state definition → candidate explanation → functional test / engineering lever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rigorous research presentation makes evidence type and evidence boundary visible on the same page.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645920"/>
            <a:ext cx="5303520" cy="4160520"/>
          </a:xfrm>
          <a:prstGeom prst="rect">
            <a:avLst/>
          </a:prstGeom>
          <a:solidFill>
            <a:srgbClr val="E1E1DC"/>
          </a:solidFill>
          <a:ln>
            <a:solidFill>
              <a:srgbClr val="AAAA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3520440"/>
            <a:ext cx="4480560" cy="3657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200" b="1">
                <a:solidFill>
                  <a:srgbClr val="191919"/>
                </a:solidFill>
                <a:latin typeface="Arial"/>
              </a:defRPr>
            </a:pPr>
            <a:r>
              <a:t>NEUTRAL VISUAL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800" b="1">
                <a:solidFill>
                  <a:srgbClr val="191919"/>
                </a:solidFill>
                <a:latin typeface="Arial"/>
              </a:defRPr>
            </a:pPr>
            <a:r>
              <a:t>BASELINE / SCIENTIFIC-EVIDENCE /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5394960" cy="685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45920"/>
            <a:ext cx="5074920" cy="4297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Type 2 function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may sustain fitness.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durable clinical phenotype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becomes a recognizable cell state,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candidate circuit and an engineering lever.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A strong research story shows its figures—and its limits.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2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3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Fig. 6 / engineering strategy</a:t>
            </a:r>
          </a:p>
          <a:p>
            <a:pPr>
              <a:defRPr sz="1100" b="0">
                <a:solidFill>
                  <a:srgbClr val="191919"/>
                </a:solidFill>
                <a:latin typeface="Arial"/>
              </a:defRPr>
            </a:pPr>
            <a:r>
              <a:t>Bai et al. · Nature 634 · 702–711 · 2024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45920"/>
            <a:ext cx="530352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defRPr sz="700" b="0">
                <a:solidFill>
                  <a:srgbClr val="191919"/>
                </a:solidFill>
                <a:latin typeface="Arial"/>
              </a:defRPr>
            </a:pPr>
            <a:r>
              <a:t>Independent neutral baseline · same case content and page 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