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>
                <a:latin typeface="Inter"/>
                <a:ea typeface="Microsoft YaHei"/>
                <a:cs typeface="Microsoft YaHei"/>
              </a:rPr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>
                <a:latin typeface="Inter"/>
                <a:ea typeface="Microsoft YaHei"/>
                <a:cs typeface="Microsoft YaHei"/>
              </a:rPr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Inter"/>
                <a:ea typeface="Microsoft YaHei"/>
                <a:cs typeface="Microsoft YaHei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  <a:p>
            <a:pPr lvl="1"/>
            <a:r>
              <a:rPr lang="en-US" smtClean="0">
                <a:latin typeface="Inter"/>
                <a:ea typeface="Microsoft YaHei"/>
                <a:cs typeface="Microsoft YaHei"/>
              </a:rPr>
              <a:t>Second level</a:t>
            </a:r>
          </a:p>
          <a:p>
            <a:pPr lvl="2"/>
            <a:r>
              <a:rPr lang="en-US" smtClean="0">
                <a:latin typeface="Inter"/>
                <a:ea typeface="Microsoft YaHei"/>
                <a:cs typeface="Microsoft YaHei"/>
              </a:rPr>
              <a:t>Third level</a:t>
            </a:r>
          </a:p>
          <a:p>
            <a:pPr lvl="3"/>
            <a:r>
              <a:rPr lang="en-US" smtClean="0">
                <a:latin typeface="Inter"/>
                <a:ea typeface="Microsoft YaHei"/>
                <a:cs typeface="Microsoft YaHei"/>
              </a:rPr>
              <a:t>Fourth level</a:t>
            </a:r>
          </a:p>
          <a:p>
            <a:pPr lvl="4"/>
            <a:r>
              <a:rPr lang="en-US" smtClean="0">
                <a:latin typeface="Inter"/>
                <a:ea typeface="Microsoft YaHei"/>
                <a:cs typeface="Microsoft YaHei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>
                <a:latin typeface="Inter"/>
                <a:ea typeface="Microsoft YaHei"/>
                <a:cs typeface="Microsoft YaHei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Inter"/>
                <a:ea typeface="Microsoft YaHei"/>
                <a:cs typeface="Microsoft YaHei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  <a:p>
            <a:pPr lvl="1"/>
            <a:r>
              <a:rPr lang="en-US" smtClean="0">
                <a:latin typeface="Inter"/>
                <a:ea typeface="Microsoft YaHei"/>
                <a:cs typeface="Microsoft YaHei"/>
              </a:rPr>
              <a:t>Second level</a:t>
            </a:r>
          </a:p>
          <a:p>
            <a:pPr lvl="2"/>
            <a:r>
              <a:rPr lang="en-US" smtClean="0">
                <a:latin typeface="Inter"/>
                <a:ea typeface="Microsoft YaHei"/>
                <a:cs typeface="Microsoft YaHei"/>
              </a:rPr>
              <a:t>Third level</a:t>
            </a:r>
          </a:p>
          <a:p>
            <a:pPr lvl="3"/>
            <a:r>
              <a:rPr lang="en-US" smtClean="0">
                <a:latin typeface="Inter"/>
                <a:ea typeface="Microsoft YaHei"/>
                <a:cs typeface="Microsoft YaHei"/>
              </a:rPr>
              <a:t>Fourth level</a:t>
            </a:r>
          </a:p>
          <a:p>
            <a:pPr lvl="4"/>
            <a:r>
              <a:rPr lang="en-US" smtClean="0">
                <a:latin typeface="Inter"/>
                <a:ea typeface="Microsoft YaHei"/>
                <a:cs typeface="Microsoft YaHei"/>
              </a:rPr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  <a:p>
            <a:pPr lvl="1"/>
            <a:r>
              <a:rPr lang="en-US" smtClean="0">
                <a:latin typeface="Inter"/>
                <a:ea typeface="Microsoft YaHei"/>
                <a:cs typeface="Microsoft YaHei"/>
              </a:rPr>
              <a:t>Second level</a:t>
            </a:r>
          </a:p>
          <a:p>
            <a:pPr lvl="2"/>
            <a:r>
              <a:rPr lang="en-US" smtClean="0">
                <a:latin typeface="Inter"/>
                <a:ea typeface="Microsoft YaHei"/>
                <a:cs typeface="Microsoft YaHei"/>
              </a:rPr>
              <a:t>Third level</a:t>
            </a:r>
          </a:p>
          <a:p>
            <a:pPr lvl="3"/>
            <a:r>
              <a:rPr lang="en-US" smtClean="0">
                <a:latin typeface="Inter"/>
                <a:ea typeface="Microsoft YaHei"/>
                <a:cs typeface="Microsoft YaHei"/>
              </a:rPr>
              <a:t>Fourth level</a:t>
            </a:r>
          </a:p>
          <a:p>
            <a:pPr lvl="4"/>
            <a:r>
              <a:rPr lang="en-US" smtClean="0">
                <a:latin typeface="Inter"/>
                <a:ea typeface="Microsoft YaHei"/>
                <a:cs typeface="Microsoft YaHei"/>
              </a:rPr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>
                <a:latin typeface="Inter"/>
                <a:ea typeface="Microsoft YaHei"/>
                <a:cs typeface="Microsoft YaHei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  <a:p>
            <a:pPr lvl="1"/>
            <a:r>
              <a:rPr lang="en-US" smtClean="0">
                <a:latin typeface="Inter"/>
                <a:ea typeface="Microsoft YaHei"/>
                <a:cs typeface="Microsoft YaHei"/>
              </a:rPr>
              <a:t>Second level</a:t>
            </a:r>
          </a:p>
          <a:p>
            <a:pPr lvl="2"/>
            <a:r>
              <a:rPr lang="en-US" smtClean="0">
                <a:latin typeface="Inter"/>
                <a:ea typeface="Microsoft YaHei"/>
                <a:cs typeface="Microsoft YaHei"/>
              </a:rPr>
              <a:t>Third level</a:t>
            </a:r>
          </a:p>
          <a:p>
            <a:pPr lvl="3"/>
            <a:r>
              <a:rPr lang="en-US" smtClean="0">
                <a:latin typeface="Inter"/>
                <a:ea typeface="Microsoft YaHei"/>
                <a:cs typeface="Microsoft YaHei"/>
              </a:rPr>
              <a:t>Fourth level</a:t>
            </a:r>
          </a:p>
          <a:p>
            <a:pPr lvl="4"/>
            <a:r>
              <a:rPr lang="en-US" smtClean="0">
                <a:latin typeface="Inter"/>
                <a:ea typeface="Microsoft YaHei"/>
                <a:cs typeface="Microsoft YaHei"/>
              </a:rPr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  <a:p>
            <a:pPr lvl="1"/>
            <a:r>
              <a:rPr lang="en-US" smtClean="0">
                <a:latin typeface="Inter"/>
                <a:ea typeface="Microsoft YaHei"/>
                <a:cs typeface="Microsoft YaHei"/>
              </a:rPr>
              <a:t>Second level</a:t>
            </a:r>
          </a:p>
          <a:p>
            <a:pPr lvl="2"/>
            <a:r>
              <a:rPr lang="en-US" smtClean="0">
                <a:latin typeface="Inter"/>
                <a:ea typeface="Microsoft YaHei"/>
                <a:cs typeface="Microsoft YaHei"/>
              </a:rPr>
              <a:t>Third level</a:t>
            </a:r>
          </a:p>
          <a:p>
            <a:pPr lvl="3"/>
            <a:r>
              <a:rPr lang="en-US" smtClean="0">
                <a:latin typeface="Inter"/>
                <a:ea typeface="Microsoft YaHei"/>
                <a:cs typeface="Microsoft YaHei"/>
              </a:rPr>
              <a:t>Fourth level</a:t>
            </a:r>
          </a:p>
          <a:p>
            <a:pPr lvl="4"/>
            <a:r>
              <a:rPr lang="en-US" smtClean="0">
                <a:latin typeface="Inter"/>
                <a:ea typeface="Microsoft YaHei"/>
                <a:cs typeface="Microsoft YaHei"/>
              </a:rPr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Inter"/>
                <a:ea typeface="Microsoft YaHei"/>
                <a:cs typeface="Microsoft YaHei"/>
              </a:rPr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>
                <a:latin typeface="Inter"/>
                <a:ea typeface="Microsoft YaHei"/>
                <a:cs typeface="Microsoft YaHei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  <a:p>
            <a:pPr lvl="1"/>
            <a:r>
              <a:rPr lang="en-US" smtClean="0">
                <a:latin typeface="Inter"/>
                <a:ea typeface="Microsoft YaHei"/>
                <a:cs typeface="Microsoft YaHei"/>
              </a:rPr>
              <a:t>Second level</a:t>
            </a:r>
          </a:p>
          <a:p>
            <a:pPr lvl="2"/>
            <a:r>
              <a:rPr lang="en-US" smtClean="0">
                <a:latin typeface="Inter"/>
                <a:ea typeface="Microsoft YaHei"/>
                <a:cs typeface="Microsoft YaHei"/>
              </a:rPr>
              <a:t>Third level</a:t>
            </a:r>
          </a:p>
          <a:p>
            <a:pPr lvl="3"/>
            <a:r>
              <a:rPr lang="en-US" smtClean="0">
                <a:latin typeface="Inter"/>
                <a:ea typeface="Microsoft YaHei"/>
                <a:cs typeface="Microsoft YaHei"/>
              </a:rPr>
              <a:t>Fourth level</a:t>
            </a:r>
          </a:p>
          <a:p>
            <a:pPr lvl="4"/>
            <a:r>
              <a:rPr lang="en-US" smtClean="0">
                <a:latin typeface="Inter"/>
                <a:ea typeface="Microsoft YaHei"/>
                <a:cs typeface="Microsoft YaHei"/>
              </a:rPr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>
                <a:latin typeface="Inter"/>
                <a:ea typeface="Microsoft YaHei"/>
                <a:cs typeface="Microsoft YaHei"/>
              </a:rPr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Inter"/>
                <a:ea typeface="Microsoft YaHei"/>
                <a:cs typeface="Microsoft YaHei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  <a:p>
            <a:pPr lvl="1"/>
            <a:r>
              <a:rPr lang="en-US" smtClean="0">
                <a:latin typeface="Inter"/>
                <a:ea typeface="Microsoft YaHei"/>
                <a:cs typeface="Microsoft YaHei"/>
              </a:rPr>
              <a:t>Second level</a:t>
            </a:r>
          </a:p>
          <a:p>
            <a:pPr lvl="2"/>
            <a:r>
              <a:rPr lang="en-US" smtClean="0">
                <a:latin typeface="Inter"/>
                <a:ea typeface="Microsoft YaHei"/>
                <a:cs typeface="Microsoft YaHei"/>
              </a:rPr>
              <a:t>Third level</a:t>
            </a:r>
          </a:p>
          <a:p>
            <a:pPr lvl="3"/>
            <a:r>
              <a:rPr lang="en-US" smtClean="0">
                <a:latin typeface="Inter"/>
                <a:ea typeface="Microsoft YaHei"/>
                <a:cs typeface="Microsoft YaHei"/>
              </a:rPr>
              <a:t>Fourth level</a:t>
            </a:r>
          </a:p>
          <a:p>
            <a:pPr lvl="4"/>
            <a:r>
              <a:rPr lang="en-US" smtClean="0">
                <a:latin typeface="Inter"/>
                <a:ea typeface="Microsoft YaHei"/>
                <a:cs typeface="Microsoft YaHei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>
                <a:latin typeface="Inter"/>
                <a:ea typeface="Microsoft YaHei"/>
                <a:cs typeface="Microsoft YaHei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  <a:p>
            <a:pPr lvl="1"/>
            <a:r>
              <a:rPr lang="en-US" smtClean="0">
                <a:latin typeface="Inter"/>
                <a:ea typeface="Microsoft YaHei"/>
                <a:cs typeface="Microsoft YaHei"/>
              </a:rPr>
              <a:t>Second level</a:t>
            </a:r>
          </a:p>
          <a:p>
            <a:pPr lvl="2"/>
            <a:r>
              <a:rPr lang="en-US" smtClean="0">
                <a:latin typeface="Inter"/>
                <a:ea typeface="Microsoft YaHei"/>
                <a:cs typeface="Microsoft YaHei"/>
              </a:rPr>
              <a:t>Third level</a:t>
            </a:r>
          </a:p>
          <a:p>
            <a:pPr lvl="3"/>
            <a:r>
              <a:rPr lang="en-US" smtClean="0">
                <a:latin typeface="Inter"/>
                <a:ea typeface="Microsoft YaHei"/>
                <a:cs typeface="Microsoft YaHei"/>
              </a:rPr>
              <a:t>Fourth level</a:t>
            </a:r>
          </a:p>
          <a:p>
            <a:pPr lvl="4"/>
            <a:r>
              <a:rPr lang="en-US" smtClean="0">
                <a:latin typeface="Inter"/>
                <a:ea typeface="Microsoft YaHei"/>
                <a:cs typeface="Microsoft YaHei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293B"/>
                </a:solidFill>
                <a:latin typeface="Inter"/>
              </a:defRPr>
            </a:pPr>
            <a:r>
              <a:t>Introducing CloudFlow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56616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Inter"/>
              </a:defRPr>
            </a:pPr>
            <a:r>
              <a:t>CloudFlow — Innovation that delivers</a:t>
            </a:r>
          </a:p>
        </p:txBody>
      </p:sp>
      <p:pic>
        <p:nvPicPr>
          <p:cNvPr id="5" name="Picture 4" descr="d06affc47b48ae94b587c226d56762b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504" y="365760"/>
            <a:ext cx="1371600" cy="4572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Inter"/>
              </a:defRPr>
            </a:pPr>
            <a:r>
              <a:t>The problem is bigger than you think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143000"/>
            <a:ext cx="182880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l">
              <a:spcBef>
                <a:spcPts val="400"/>
              </a:spcBef>
              <a:spcAft>
                <a:spcPts val="800"/>
              </a:spcAft>
              <a:defRPr sz="1600" b="0">
                <a:solidFill>
                  <a:srgbClr val="1E293B"/>
                </a:solidFill>
                <a:latin typeface="Inter"/>
              </a:defRPr>
            </a:pPr>
            <a:r>
              <a:t>Manual Workflows: Teams waste 30% of time on repetitive tasks</a:t>
            </a:r>
          </a:p>
          <a:p>
            <a:pPr lvl="1" algn="l">
              <a:spcBef>
                <a:spcPts val="400"/>
              </a:spcBef>
              <a:spcAft>
                <a:spcPts val="800"/>
              </a:spcAft>
              <a:defRPr sz="1600" b="0">
                <a:solidFill>
                  <a:srgbClr val="1E293B"/>
                </a:solidFill>
                <a:latin typeface="Inter"/>
              </a:defRPr>
            </a:pPr>
            <a:r>
              <a:t>Tool Sprawl: Average team uses 12+ disconnected tools</a:t>
            </a:r>
          </a:p>
          <a:p>
            <a:pPr lvl="1" algn="l">
              <a:spcBef>
                <a:spcPts val="400"/>
              </a:spcBef>
              <a:spcAft>
                <a:spcPts val="800"/>
              </a:spcAft>
              <a:defRPr sz="1600" b="0">
                <a:solidFill>
                  <a:srgbClr val="1E293B"/>
                </a:solidFill>
                <a:latin typeface="Inter"/>
              </a:defRPr>
            </a:pPr>
            <a:r>
              <a:t>No Visibility: Managers can't see what's actually happening</a:t>
            </a:r>
          </a:p>
        </p:txBody>
      </p:sp>
      <p:pic>
        <p:nvPicPr>
          <p:cNvPr id="7" name="Picture 6" descr="e3568e1f21f43d0e79e748becdd72c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463040"/>
            <a:ext cx="3657600" cy="45720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Inter"/>
              </a:defRPr>
            </a:pPr>
            <a:r>
              <a:t>Intelligent Workflow Automation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143000"/>
            <a:ext cx="182880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3332073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457200"/>
          <a:lstStyle/>
          <a:p>
            <a:pPr algn="l"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Eliminates: Teams waste 30% of time on repetitive tasks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1737360"/>
            <a:ext cx="4572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29353" y="1554480"/>
            <a:ext cx="3332073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457200"/>
          <a:lstStyle/>
          <a:p>
            <a:pPr algn="l"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Eliminates: Average team uses 12+ disconnected tools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66513" y="1737360"/>
            <a:ext cx="4572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36661" y="1554480"/>
            <a:ext cx="3332073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457200"/>
          <a:lstStyle/>
          <a:p>
            <a:pPr algn="l"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Eliminates: Managers can't see what's actually happening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8173821" y="1737360"/>
            <a:ext cx="4572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Inter"/>
              </a:defRPr>
            </a:pPr>
            <a:r>
              <a:t>Built for how you actually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143000"/>
            <a:ext cx="182880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3332073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457200"/>
          <a:lstStyle/>
          <a:p>
            <a:pPr algn="l"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Visual workflow builder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1737360"/>
            <a:ext cx="4572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29353" y="1554480"/>
            <a:ext cx="3332073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457200"/>
          <a:lstStyle/>
          <a:p>
            <a:pPr algn="l"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500+ native integrations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66513" y="1737360"/>
            <a:ext cx="4572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36661" y="1554480"/>
            <a:ext cx="3332073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457200"/>
          <a:lstStyle/>
          <a:p>
            <a:pPr algn="l"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AI-powered optimization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173821" y="1737360"/>
            <a:ext cx="4572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37ae97a72a8fe86873240d7d8c1129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137160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Inter"/>
              </a:defRPr>
            </a:pPr>
            <a:r>
              <a:t>See CloudFlow Platform in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56032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l">
              <a:spcBef>
                <a:spcPts val="400"/>
              </a:spcBef>
              <a:spcAft>
                <a:spcPts val="800"/>
              </a:spcAft>
              <a:defRPr sz="1600" b="0">
                <a:solidFill>
                  <a:srgbClr val="1E293B"/>
                </a:solidFill>
                <a:latin typeface="Inter"/>
              </a:defRPr>
            </a:pPr>
            <a:r>
              <a:t>Step 1: Connect your data sources with one click</a:t>
            </a:r>
          </a:p>
          <a:p>
            <a:pPr lvl="1" algn="l">
              <a:spcBef>
                <a:spcPts val="400"/>
              </a:spcBef>
              <a:spcAft>
                <a:spcPts val="800"/>
              </a:spcAft>
              <a:defRPr sz="1600" b="0">
                <a:solidFill>
                  <a:srgbClr val="1E293B"/>
                </a:solidFill>
                <a:latin typeface="Inter"/>
              </a:defRPr>
            </a:pPr>
            <a:r>
              <a:t>Step 2: Configure intelligent workflows visually</a:t>
            </a:r>
          </a:p>
          <a:p>
            <a:pPr lvl="1" algn="l">
              <a:spcBef>
                <a:spcPts val="400"/>
              </a:spcBef>
              <a:spcAft>
                <a:spcPts val="800"/>
              </a:spcAft>
              <a:defRPr sz="1600" b="0">
                <a:solidFill>
                  <a:srgbClr val="1E293B"/>
                </a:solidFill>
                <a:latin typeface="Inter"/>
              </a:defRPr>
            </a:pPr>
            <a:r>
              <a:t>Step 3: Watch AI optimize and deliver results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97316"/>
                </a:solidFill>
              </a:defRPr>
            </a:pPr>
            <a: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E293B"/>
                </a:solidFill>
                <a:latin typeface="Inter"/>
              </a:defRPr>
            </a:pPr>
            <a:r>
              <a:t>This platform transformed how we operate. We went from weeks of manual work to minutes.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94484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  <a:latin typeface="Inter"/>
              </a:defRPr>
            </a:pPr>
            <a:r>
              <a:t>VP of Operations, Fortune 500 Company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E293B"/>
                </a:solidFill>
                <a:latin typeface="Inter"/>
              </a:defRPr>
            </a:pPr>
            <a:r>
              <a:t>Simple, transparent 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200400"/>
            <a:ext cx="7619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Inter"/>
              </a:defRPr>
            </a:pPr>
            <a:r>
              <a:t>Start free. Scale as you grow.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67504" y="4389120"/>
            <a:ext cx="3657600" cy="73152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>
            <a:outerShdw blurRad="101600" dist="381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Simple, transparent pricing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E293B"/>
                </a:solidFill>
                <a:latin typeface="Inter"/>
              </a:defRPr>
            </a:pPr>
            <a:r>
              <a:t>Try CloudFlow Platform free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200400"/>
            <a:ext cx="7619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Inter"/>
              </a:defRPr>
            </a:pPr>
            <a:r>
              <a:t>14-day free trial. No credit card required.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67504" y="4389120"/>
            <a:ext cx="3657600" cy="73152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>
            <a:outerShdw blurRad="101600" dist="38100" dir="5400000" algn="t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Try CloudFlow Platform free</a:t>
            </a:r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