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>
                <a:latin typeface="Inter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>
                <a:latin typeface="Inter"/>
                <a:ea typeface="Microsoft YaHei"/>
                <a:cs typeface="Microsoft YaHei"/>
              </a:rPr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Inter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>
                <a:latin typeface="Inter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Inter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>
                <a:latin typeface="Inter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Inter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>
                <a:latin typeface="Inter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>
                <a:latin typeface="Inter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Inter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>
                <a:latin typeface="Inter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60320"/>
            <a:ext cx="12191695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011680"/>
            <a:ext cx="108200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E293B"/>
                </a:solidFill>
                <a:latin typeface="Inter"/>
              </a:defRPr>
            </a:pPr>
            <a:r>
              <a:t>Introducing CloudFlow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566160"/>
            <a:ext cx="94484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4A3B8"/>
                </a:solidFill>
                <a:latin typeface="Inter"/>
              </a:defRPr>
            </a:pPr>
            <a:r>
              <a:t>CloudFlow — Innovation that delivers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10504" y="365760"/>
            <a:ext cx="137160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94A3B8"/>
                </a:solidFill>
              </a:defRPr>
            </a:pPr>
            <a:r>
              <a:t>abstract technology innovation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93B"/>
                </a:solidFill>
                <a:latin typeface="Inter"/>
              </a:defRPr>
            </a:pPr>
            <a:r>
              <a:t>The problem is bigger than you think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143000"/>
            <a:ext cx="182880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6400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1E293B"/>
                </a:solidFill>
                <a:latin typeface="Inter"/>
              </a:defRPr>
            </a:pPr>
            <a:r>
              <a:t>Manual Workflows: Teams waste 30% of time on repetitive tasks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1E293B"/>
                </a:solidFill>
                <a:latin typeface="Inter"/>
              </a:defRPr>
            </a:pPr>
            <a:r>
              <a:t>Tool Sprawl: Average team uses 12+ disconnected tools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1E293B"/>
                </a:solidFill>
                <a:latin typeface="Inter"/>
              </a:defRPr>
            </a:pPr>
            <a:r>
              <a:t>No Visibility: Managers can't see what's actually happening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463040"/>
            <a:ext cx="3657600" cy="45720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94A3B8"/>
                </a:solidFill>
              </a:defRPr>
            </a:pPr>
            <a:r>
              <a:t>frustration stress problem dark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93B"/>
                </a:solidFill>
                <a:latin typeface="Inter"/>
              </a:defRPr>
            </a:pPr>
            <a:r>
              <a:t>Intelligent Workflow Automation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43000"/>
            <a:ext cx="182880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554480"/>
            <a:ext cx="3332073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457200"/>
          <a:lstStyle/>
          <a:p>
            <a:pPr algn="l"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Eliminates: Teams waste 30% of time on repetitive tasks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1737360"/>
            <a:ext cx="45720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29353" y="1554480"/>
            <a:ext cx="3332073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457200"/>
          <a:lstStyle/>
          <a:p>
            <a:pPr algn="l"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Eliminates: Average team uses 12+ disconnected tools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66513" y="1737360"/>
            <a:ext cx="45720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036661" y="1554480"/>
            <a:ext cx="3332073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457200"/>
          <a:lstStyle/>
          <a:p>
            <a:pPr algn="l"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Eliminates: Managers can't see what's actually happening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8173821" y="1737360"/>
            <a:ext cx="45720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93B"/>
                </a:solidFill>
                <a:latin typeface="Inter"/>
              </a:defRPr>
            </a:pPr>
            <a:r>
              <a:t>Built for how you actually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43000"/>
            <a:ext cx="182880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554480"/>
            <a:ext cx="3332073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457200"/>
          <a:lstStyle/>
          <a:p>
            <a:pPr algn="l"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Visual workflow builder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1737360"/>
            <a:ext cx="45720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29353" y="1554480"/>
            <a:ext cx="3332073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457200"/>
          <a:lstStyle/>
          <a:p>
            <a:pPr algn="l"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500+ native integrations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66513" y="1737360"/>
            <a:ext cx="45720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036661" y="1554480"/>
            <a:ext cx="3332073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457200"/>
          <a:lstStyle/>
          <a:p>
            <a:pPr algn="l"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AI-powered optimization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8173821" y="1737360"/>
            <a:ext cx="45720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6858000" cy="68580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94A3B8"/>
                </a:solidFill>
              </a:defRPr>
            </a:pPr>
            <a:r>
              <a:t>product demo screenshot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0" y="1371600"/>
            <a:ext cx="4389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93B"/>
                </a:solidFill>
                <a:latin typeface="Inter"/>
              </a:defRPr>
            </a:pPr>
            <a:r>
              <a:t>See CloudFlow Platform in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0" y="2560320"/>
            <a:ext cx="4389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1E293B"/>
                </a:solidFill>
                <a:latin typeface="Inter"/>
              </a:defRPr>
            </a:pPr>
            <a:r>
              <a:t>Step 1: Connect your data sources with one click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1E293B"/>
                </a:solidFill>
                <a:latin typeface="Inter"/>
              </a:defRPr>
            </a:pPr>
            <a:r>
              <a:t>Step 2: Configure intelligent workflows visually</a:t>
            </a:r>
          </a:p>
          <a:p>
            <a:pPr lvl="1" algn="l">
              <a:spcBef>
                <a:spcPts val="400"/>
              </a:spcBef>
              <a:spcAft>
                <a:spcPts val="800"/>
              </a:spcAft>
              <a:defRPr sz="1600" b="0">
                <a:solidFill>
                  <a:srgbClr val="1E293B"/>
                </a:solidFill>
                <a:latin typeface="Inter"/>
              </a:defRPr>
            </a:pPr>
            <a:r>
              <a:t>Step 3: Watch AI optimize and deliver results</a:t>
            </a: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371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F97316"/>
                </a:solidFill>
              </a:defRPr>
            </a:pPr>
            <a: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103120"/>
            <a:ext cx="94484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E293B"/>
                </a:solidFill>
                <a:latin typeface="Inter"/>
              </a:defRPr>
            </a:pPr>
            <a:r>
              <a:t>This platform transformed how we operate. We went from weeks of manual work to minutes.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754880"/>
            <a:ext cx="94484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4A3B8"/>
                </a:solidFill>
                <a:latin typeface="Inter"/>
              </a:defRPr>
            </a:pPr>
            <a:r>
              <a:t>VP of Operations, Fortune 500 Company</a:t>
            </a: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4484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1E293B"/>
                </a:solidFill>
                <a:latin typeface="Inter"/>
              </a:defRPr>
            </a:pPr>
            <a:r>
              <a:t>Simple, transparent 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200400"/>
            <a:ext cx="7619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4A3B8"/>
                </a:solidFill>
                <a:latin typeface="Inter"/>
              </a:defRPr>
            </a:pPr>
            <a:r>
              <a:t>Start free. Scale as you grow.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67504" y="4389120"/>
            <a:ext cx="3657600" cy="73152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>
            <a:outerShdw blurRad="101600" dist="38100" dir="5400000" algn="t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Simple, transparent pricing</a:t>
            </a:r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4484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1E293B"/>
                </a:solidFill>
                <a:latin typeface="Inter"/>
              </a:defRPr>
            </a:pPr>
            <a:r>
              <a:t>Try CloudFlow Platform free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200400"/>
            <a:ext cx="7619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4A3B8"/>
                </a:solidFill>
                <a:latin typeface="Inter"/>
              </a:defRPr>
            </a:pPr>
            <a:r>
              <a:t>14-day free trial. No credit card required.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67504" y="4389120"/>
            <a:ext cx="3657600" cy="73152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>
            <a:outerShdw blurRad="101600" dist="38100" dir="5400000" algn="t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Try CloudFlow Platform free</a:t>
            </a:r>
          </a:p>
        </p:txBody>
      </p:sp>
    </p:spTree>
  </p:cSld>
  <p:clrMapOvr>
    <a:masterClrMapping/>
  </p:clrMapOvr>
  <p:transition spd="slow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