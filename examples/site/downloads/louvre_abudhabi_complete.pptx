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4cee13a4b8b7bc6a453dbfcd74dbed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2848"/>
            <a:ext cx="12191695" cy="38221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3504" y="502920"/>
            <a:ext cx="658368" cy="21945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749808"/>
            <a:ext cx="3063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AEBCC0"/>
                </a:solidFill>
                <a:latin typeface="Arial Narrow"/>
              </a:rPr>
              <a:t>ARCHITECTURAL DOSSIER  /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960120"/>
            <a:ext cx="48463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6F6F1"/>
                </a:solidFill>
                <a:latin typeface="Georgia"/>
              </a:rPr>
              <a:t>LOUVRE
ABU DHABI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1965960"/>
            <a:ext cx="192024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AEBCC0"/>
                </a:solidFill>
                <a:latin typeface="Arial Narrow"/>
              </a:rPr>
              <a:t>JEAN NOUVEL  /  2017</a:t>
            </a:r>
          </a:p>
        </p:txBody>
      </p:sp>
      <p:sp>
        <p:nvSpPr>
          <p:cNvPr id="8" name="Freeform"/>
          <p:cNvSpPr/>
          <p:nvPr/>
        </p:nvSpPr>
        <p:spPr>
          <a:xfrm>
            <a:off x="9309898" y="362624"/>
            <a:ext cx="688412" cy="284247"/>
          </a:xfrm>
          <a:custGeom>
            <a:avLst/>
            <a:gdLst/>
            <a:pathLst>
              <a:path w="688412" h="284247">
                <a:moveTo>
                  <a:pt x="0" y="0"/>
                </a:moveTo>
                <a:lnTo>
                  <a:pt x="688412" y="284247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9" name="Freeform"/>
          <p:cNvSpPr/>
          <p:nvPr/>
        </p:nvSpPr>
        <p:spPr>
          <a:xfrm>
            <a:off x="9998310" y="646872"/>
            <a:ext cx="288689" cy="675088"/>
          </a:xfrm>
          <a:custGeom>
            <a:avLst/>
            <a:gdLst/>
            <a:pathLst>
              <a:path w="288689" h="675088">
                <a:moveTo>
                  <a:pt x="0" y="0"/>
                </a:moveTo>
                <a:lnTo>
                  <a:pt x="288689" y="675088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0" name="Freeform"/>
          <p:cNvSpPr/>
          <p:nvPr/>
        </p:nvSpPr>
        <p:spPr>
          <a:xfrm>
            <a:off x="9998310" y="1321961"/>
            <a:ext cx="288689" cy="675088"/>
          </a:xfrm>
          <a:custGeom>
            <a:avLst/>
            <a:gdLst/>
            <a:pathLst>
              <a:path w="288689" h="675088">
                <a:moveTo>
                  <a:pt x="288689" y="0"/>
                </a:moveTo>
                <a:lnTo>
                  <a:pt x="0" y="675088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1" name="Freeform"/>
          <p:cNvSpPr/>
          <p:nvPr/>
        </p:nvSpPr>
        <p:spPr>
          <a:xfrm>
            <a:off x="9309898" y="1997049"/>
            <a:ext cx="688412" cy="284247"/>
          </a:xfrm>
          <a:custGeom>
            <a:avLst/>
            <a:gdLst/>
            <a:pathLst>
              <a:path w="688412" h="284247">
                <a:moveTo>
                  <a:pt x="688412" y="0"/>
                </a:moveTo>
                <a:lnTo>
                  <a:pt x="0" y="284247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2" name="Freeform"/>
          <p:cNvSpPr/>
          <p:nvPr/>
        </p:nvSpPr>
        <p:spPr>
          <a:xfrm>
            <a:off x="8621485" y="1997049"/>
            <a:ext cx="688412" cy="284247"/>
          </a:xfrm>
          <a:custGeom>
            <a:avLst/>
            <a:gdLst/>
            <a:pathLst>
              <a:path w="688412" h="284247">
                <a:moveTo>
                  <a:pt x="688412" y="284247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3" name="Freeform"/>
          <p:cNvSpPr/>
          <p:nvPr/>
        </p:nvSpPr>
        <p:spPr>
          <a:xfrm>
            <a:off x="8332796" y="1321961"/>
            <a:ext cx="288689" cy="675088"/>
          </a:xfrm>
          <a:custGeom>
            <a:avLst/>
            <a:gdLst/>
            <a:pathLst>
              <a:path w="288689" h="675088">
                <a:moveTo>
                  <a:pt x="288689" y="675088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4" name="Freeform"/>
          <p:cNvSpPr/>
          <p:nvPr/>
        </p:nvSpPr>
        <p:spPr>
          <a:xfrm>
            <a:off x="8332796" y="646872"/>
            <a:ext cx="288689" cy="675088"/>
          </a:xfrm>
          <a:custGeom>
            <a:avLst/>
            <a:gdLst/>
            <a:pathLst>
              <a:path w="288689" h="675088">
                <a:moveTo>
                  <a:pt x="0" y="675088"/>
                </a:moveTo>
                <a:lnTo>
                  <a:pt x="288689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5" name="Freeform"/>
          <p:cNvSpPr/>
          <p:nvPr/>
        </p:nvSpPr>
        <p:spPr>
          <a:xfrm>
            <a:off x="8621485" y="362624"/>
            <a:ext cx="688412" cy="284247"/>
          </a:xfrm>
          <a:custGeom>
            <a:avLst/>
            <a:gdLst/>
            <a:pathLst>
              <a:path w="688412" h="284247">
                <a:moveTo>
                  <a:pt x="0" y="284247"/>
                </a:moveTo>
                <a:lnTo>
                  <a:pt x="688412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6" name="Freeform"/>
          <p:cNvSpPr/>
          <p:nvPr/>
        </p:nvSpPr>
        <p:spPr>
          <a:xfrm>
            <a:off x="9309898" y="602458"/>
            <a:ext cx="524081" cy="217627"/>
          </a:xfrm>
          <a:custGeom>
            <a:avLst/>
            <a:gdLst/>
            <a:pathLst>
              <a:path w="524081" h="217627">
                <a:moveTo>
                  <a:pt x="0" y="0"/>
                </a:moveTo>
                <a:lnTo>
                  <a:pt x="524081" y="217627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7" name="Freeform"/>
          <p:cNvSpPr/>
          <p:nvPr/>
        </p:nvSpPr>
        <p:spPr>
          <a:xfrm>
            <a:off x="9833980" y="820086"/>
            <a:ext cx="217627" cy="501874"/>
          </a:xfrm>
          <a:custGeom>
            <a:avLst/>
            <a:gdLst/>
            <a:pathLst>
              <a:path w="217627" h="501874">
                <a:moveTo>
                  <a:pt x="0" y="0"/>
                </a:moveTo>
                <a:lnTo>
                  <a:pt x="217627" y="501874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8" name="Freeform"/>
          <p:cNvSpPr/>
          <p:nvPr/>
        </p:nvSpPr>
        <p:spPr>
          <a:xfrm>
            <a:off x="9833980" y="1321961"/>
            <a:ext cx="217627" cy="501874"/>
          </a:xfrm>
          <a:custGeom>
            <a:avLst/>
            <a:gdLst/>
            <a:pathLst>
              <a:path w="217627" h="501874">
                <a:moveTo>
                  <a:pt x="217627" y="0"/>
                </a:moveTo>
                <a:lnTo>
                  <a:pt x="0" y="501874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9" name="Freeform"/>
          <p:cNvSpPr/>
          <p:nvPr/>
        </p:nvSpPr>
        <p:spPr>
          <a:xfrm>
            <a:off x="9309898" y="1823836"/>
            <a:ext cx="524081" cy="217627"/>
          </a:xfrm>
          <a:custGeom>
            <a:avLst/>
            <a:gdLst/>
            <a:pathLst>
              <a:path w="524081" h="217627">
                <a:moveTo>
                  <a:pt x="524081" y="0"/>
                </a:moveTo>
                <a:lnTo>
                  <a:pt x="0" y="217627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20" name="Freeform"/>
          <p:cNvSpPr/>
          <p:nvPr/>
        </p:nvSpPr>
        <p:spPr>
          <a:xfrm>
            <a:off x="8785816" y="1823836"/>
            <a:ext cx="524081" cy="217627"/>
          </a:xfrm>
          <a:custGeom>
            <a:avLst/>
            <a:gdLst/>
            <a:pathLst>
              <a:path w="524081" h="217627">
                <a:moveTo>
                  <a:pt x="524081" y="217627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21" name="Freeform"/>
          <p:cNvSpPr/>
          <p:nvPr/>
        </p:nvSpPr>
        <p:spPr>
          <a:xfrm>
            <a:off x="8568189" y="1321961"/>
            <a:ext cx="217627" cy="501874"/>
          </a:xfrm>
          <a:custGeom>
            <a:avLst/>
            <a:gdLst/>
            <a:pathLst>
              <a:path w="217627" h="501874">
                <a:moveTo>
                  <a:pt x="217627" y="501874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22" name="Freeform"/>
          <p:cNvSpPr/>
          <p:nvPr/>
        </p:nvSpPr>
        <p:spPr>
          <a:xfrm>
            <a:off x="8568189" y="820086"/>
            <a:ext cx="217627" cy="501874"/>
          </a:xfrm>
          <a:custGeom>
            <a:avLst/>
            <a:gdLst/>
            <a:pathLst>
              <a:path w="217627" h="501874">
                <a:moveTo>
                  <a:pt x="0" y="501874"/>
                </a:moveTo>
                <a:lnTo>
                  <a:pt x="217627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23" name="Freeform"/>
          <p:cNvSpPr/>
          <p:nvPr/>
        </p:nvSpPr>
        <p:spPr>
          <a:xfrm>
            <a:off x="8785816" y="602458"/>
            <a:ext cx="524081" cy="217627"/>
          </a:xfrm>
          <a:custGeom>
            <a:avLst/>
            <a:gdLst/>
            <a:pathLst>
              <a:path w="524081" h="217627">
                <a:moveTo>
                  <a:pt x="0" y="217627"/>
                </a:moveTo>
                <a:lnTo>
                  <a:pt x="524081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24" name="Freeform"/>
          <p:cNvSpPr/>
          <p:nvPr/>
        </p:nvSpPr>
        <p:spPr>
          <a:xfrm>
            <a:off x="9309898" y="362624"/>
            <a:ext cx="0" cy="1918672"/>
          </a:xfrm>
          <a:custGeom>
            <a:avLst/>
            <a:gdLst/>
            <a:pathLst>
              <a:path w="0" h="1918672">
                <a:moveTo>
                  <a:pt x="0" y="0"/>
                </a:moveTo>
                <a:lnTo>
                  <a:pt x="0" y="1918672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25" name="Freeform"/>
          <p:cNvSpPr/>
          <p:nvPr/>
        </p:nvSpPr>
        <p:spPr>
          <a:xfrm>
            <a:off x="8332796" y="1321961"/>
            <a:ext cx="1954203" cy="0"/>
          </a:xfrm>
          <a:custGeom>
            <a:avLst/>
            <a:gdLst/>
            <a:pathLst>
              <a:path w="1954203" h="0">
                <a:moveTo>
                  <a:pt x="0" y="0"/>
                </a:moveTo>
                <a:lnTo>
                  <a:pt x="1954203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26" name="Freeform"/>
          <p:cNvSpPr/>
          <p:nvPr/>
        </p:nvSpPr>
        <p:spPr>
          <a:xfrm>
            <a:off x="9309898" y="256032"/>
            <a:ext cx="0" cy="2131858"/>
          </a:xfrm>
          <a:custGeom>
            <a:avLst/>
            <a:gdLst/>
            <a:pathLst>
              <a:path w="0" h="2131858">
                <a:moveTo>
                  <a:pt x="0" y="0"/>
                </a:moveTo>
                <a:lnTo>
                  <a:pt x="0" y="213185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756545"/>
            </a:solidFill>
          </a:ln>
        </p:spPr>
      </p:sp>
      <p:sp>
        <p:nvSpPr>
          <p:cNvPr id="27" name="Freeform"/>
          <p:cNvSpPr/>
          <p:nvPr/>
        </p:nvSpPr>
        <p:spPr>
          <a:xfrm>
            <a:off x="8110727" y="1321961"/>
            <a:ext cx="2398340" cy="0"/>
          </a:xfrm>
          <a:custGeom>
            <a:avLst/>
            <a:gdLst/>
            <a:pathLst>
              <a:path w="2398340" h="0">
                <a:moveTo>
                  <a:pt x="0" y="0"/>
                </a:moveTo>
                <a:lnTo>
                  <a:pt x="239834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756545"/>
            </a:solidFill>
          </a:ln>
        </p:spPr>
      </p:sp>
      <p:sp>
        <p:nvSpPr>
          <p:cNvPr id="28" name="Freeform"/>
          <p:cNvSpPr/>
          <p:nvPr/>
        </p:nvSpPr>
        <p:spPr>
          <a:xfrm>
            <a:off x="9292132" y="344859"/>
            <a:ext cx="35530" cy="35530"/>
          </a:xfrm>
          <a:custGeom>
            <a:avLst/>
            <a:gdLst/>
            <a:pathLst>
              <a:path w="35530" h="35530">
                <a:moveTo>
                  <a:pt x="35530" y="17764"/>
                </a:moveTo>
                <a:cubicBezTo>
                  <a:pt x="35530" y="7953"/>
                  <a:pt x="27576" y="0"/>
                  <a:pt x="17765" y="0"/>
                </a:cubicBezTo>
                <a:cubicBezTo>
                  <a:pt x="7953" y="0"/>
                  <a:pt x="0" y="7953"/>
                  <a:pt x="0" y="17764"/>
                </a:cubicBezTo>
                <a:cubicBezTo>
                  <a:pt x="0" y="27576"/>
                  <a:pt x="7953" y="35530"/>
                  <a:pt x="17765" y="35530"/>
                </a:cubicBezTo>
                <a:cubicBezTo>
                  <a:pt x="27576" y="35530"/>
                  <a:pt x="35530" y="27576"/>
                  <a:pt x="35530" y="17764"/>
                </a:cubicBezTo>
                <a:close/>
              </a:path>
            </a:pathLst>
          </a:custGeom>
          <a:solidFill>
            <a:srgbClr val="756545"/>
          </a:solidFill>
          <a:ln w="12700">
            <a:noFill/>
          </a:ln>
        </p:spPr>
      </p:sp>
      <p:sp>
        <p:nvSpPr>
          <p:cNvPr id="29" name="Freeform"/>
          <p:cNvSpPr/>
          <p:nvPr/>
        </p:nvSpPr>
        <p:spPr>
          <a:xfrm>
            <a:off x="10271455" y="1306416"/>
            <a:ext cx="31089" cy="31089"/>
          </a:xfrm>
          <a:custGeom>
            <a:avLst/>
            <a:gdLst/>
            <a:pathLst>
              <a:path w="31089" h="31089">
                <a:moveTo>
                  <a:pt x="31089" y="15544"/>
                </a:moveTo>
                <a:cubicBezTo>
                  <a:pt x="31089" y="6959"/>
                  <a:pt x="24129" y="0"/>
                  <a:pt x="15544" y="0"/>
                </a:cubicBezTo>
                <a:cubicBezTo>
                  <a:pt x="6959" y="0"/>
                  <a:pt x="0" y="6959"/>
                  <a:pt x="0" y="15544"/>
                </a:cubicBezTo>
                <a:cubicBezTo>
                  <a:pt x="0" y="24129"/>
                  <a:pt x="6959" y="31089"/>
                  <a:pt x="15544" y="31089"/>
                </a:cubicBezTo>
                <a:cubicBezTo>
                  <a:pt x="24129" y="31089"/>
                  <a:pt x="31089" y="24129"/>
                  <a:pt x="31089" y="15544"/>
                </a:cubicBezTo>
                <a:close/>
              </a:path>
            </a:pathLst>
          </a:custGeom>
          <a:solidFill>
            <a:srgbClr val="756545"/>
          </a:solidFill>
          <a:ln w="12700">
            <a:noFill/>
          </a:ln>
        </p:spPr>
      </p:sp>
      <p:sp>
        <p:nvSpPr>
          <p:cNvPr id="30" name="Freeform"/>
          <p:cNvSpPr/>
          <p:nvPr/>
        </p:nvSpPr>
        <p:spPr>
          <a:xfrm>
            <a:off x="9292132" y="2263531"/>
            <a:ext cx="35530" cy="35530"/>
          </a:xfrm>
          <a:custGeom>
            <a:avLst/>
            <a:gdLst/>
            <a:pathLst>
              <a:path w="35530" h="35530">
                <a:moveTo>
                  <a:pt x="35530" y="17764"/>
                </a:moveTo>
                <a:cubicBezTo>
                  <a:pt x="35530" y="7953"/>
                  <a:pt x="27576" y="0"/>
                  <a:pt x="17765" y="0"/>
                </a:cubicBezTo>
                <a:cubicBezTo>
                  <a:pt x="7953" y="0"/>
                  <a:pt x="0" y="7953"/>
                  <a:pt x="0" y="17764"/>
                </a:cubicBezTo>
                <a:cubicBezTo>
                  <a:pt x="0" y="27576"/>
                  <a:pt x="7953" y="35530"/>
                  <a:pt x="17765" y="35530"/>
                </a:cubicBezTo>
                <a:cubicBezTo>
                  <a:pt x="27576" y="35530"/>
                  <a:pt x="35530" y="27576"/>
                  <a:pt x="35530" y="17764"/>
                </a:cubicBezTo>
                <a:close/>
              </a:path>
            </a:pathLst>
          </a:custGeom>
          <a:solidFill>
            <a:srgbClr val="756545"/>
          </a:solidFill>
          <a:ln w="12700">
            <a:noFill/>
          </a:ln>
        </p:spPr>
      </p:sp>
      <p:sp>
        <p:nvSpPr>
          <p:cNvPr id="31" name="Rectangle 30"/>
          <p:cNvSpPr/>
          <p:nvPr/>
        </p:nvSpPr>
        <p:spPr>
          <a:xfrm>
            <a:off x="603504" y="6245352"/>
            <a:ext cx="10981944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0" b="1">
                <a:solidFill>
                  <a:srgbClr val="AEBCC0"/>
                </a:solidFill>
                <a:latin typeface="Arial Narrow"/>
              </a:rPr>
              <a:t>SAADIYAT ISLAND  /  ABU DHABI, UAE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4512" y="634593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AEBCC0"/>
                </a:solidFill>
                <a:latin typeface="Georgi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20a72befae090bab638eb54d4f047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0"/>
            <a:ext cx="92290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962656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98648" y="0"/>
            <a:ext cx="21945" cy="6858000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96973"/>
                </a:solidFill>
                <a:latin typeface="Arial Narrow"/>
              </a:rPr>
              <a:t>01  /  SPATIAL PROLOGUE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133856"/>
            <a:ext cx="658368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81328"/>
            <a:ext cx="19751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15232D"/>
                </a:solidFill>
                <a:latin typeface="Georgia"/>
              </a:rPr>
              <a:t>RAIN
OF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92608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5232D"/>
                </a:solidFill>
                <a:latin typeface="Arial Narrow"/>
              </a:rPr>
              <a:t>BENEATH A POROUS DOME,
DAYLIGHT BECOMES A
CULTURAL MEDIUM.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73075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" b="0">
                <a:solidFill>
                  <a:srgbClr val="596973"/>
                </a:solidFill>
                <a:latin typeface="Arial"/>
              </a:rPr>
              <a:t>The roof does not simply shelter the museum;
it composes its atmosphere.</a:t>
            </a:r>
          </a:p>
        </p:txBody>
      </p:sp>
      <p:sp>
        <p:nvSpPr>
          <p:cNvPr id="10" name="Freeform"/>
          <p:cNvSpPr/>
          <p:nvPr/>
        </p:nvSpPr>
        <p:spPr>
          <a:xfrm>
            <a:off x="705459" y="4630978"/>
            <a:ext cx="1477670" cy="0"/>
          </a:xfrm>
          <a:custGeom>
            <a:avLst/>
            <a:gdLst/>
            <a:pathLst>
              <a:path w="1477670" h="0">
                <a:moveTo>
                  <a:pt x="0" y="0"/>
                </a:moveTo>
                <a:lnTo>
                  <a:pt x="147767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9DA9AB"/>
            </a:solidFill>
          </a:ln>
        </p:spPr>
      </p:sp>
      <p:sp>
        <p:nvSpPr>
          <p:cNvPr id="11" name="Freeform"/>
          <p:cNvSpPr/>
          <p:nvPr/>
        </p:nvSpPr>
        <p:spPr>
          <a:xfrm>
            <a:off x="890168" y="4831080"/>
            <a:ext cx="1123645" cy="0"/>
          </a:xfrm>
          <a:custGeom>
            <a:avLst/>
            <a:gdLst/>
            <a:pathLst>
              <a:path w="1123645" h="0">
                <a:moveTo>
                  <a:pt x="0" y="0"/>
                </a:moveTo>
                <a:lnTo>
                  <a:pt x="1123645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9DA9AB"/>
            </a:solidFill>
          </a:ln>
        </p:spPr>
      </p:sp>
      <p:sp>
        <p:nvSpPr>
          <p:cNvPr id="12" name="Freeform"/>
          <p:cNvSpPr/>
          <p:nvPr/>
        </p:nvSpPr>
        <p:spPr>
          <a:xfrm>
            <a:off x="1074877" y="5031181"/>
            <a:ext cx="769620" cy="0"/>
          </a:xfrm>
          <a:custGeom>
            <a:avLst/>
            <a:gdLst/>
            <a:pathLst>
              <a:path w="769620" h="0">
                <a:moveTo>
                  <a:pt x="0" y="0"/>
                </a:moveTo>
                <a:lnTo>
                  <a:pt x="76962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9DA9AB"/>
            </a:solidFill>
          </a:ln>
        </p:spPr>
      </p:sp>
      <p:sp>
        <p:nvSpPr>
          <p:cNvPr id="13" name="Freeform"/>
          <p:cNvSpPr/>
          <p:nvPr/>
        </p:nvSpPr>
        <p:spPr>
          <a:xfrm>
            <a:off x="1259586" y="5231282"/>
            <a:ext cx="400202" cy="0"/>
          </a:xfrm>
          <a:custGeom>
            <a:avLst/>
            <a:gdLst/>
            <a:pathLst>
              <a:path w="400202" h="0">
                <a:moveTo>
                  <a:pt x="0" y="0"/>
                </a:moveTo>
                <a:lnTo>
                  <a:pt x="40020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9DA9AB"/>
            </a:solidFill>
          </a:ln>
        </p:spPr>
      </p:sp>
      <p:sp>
        <p:nvSpPr>
          <p:cNvPr id="14" name="Freeform"/>
          <p:cNvSpPr/>
          <p:nvPr/>
        </p:nvSpPr>
        <p:spPr>
          <a:xfrm>
            <a:off x="705459" y="4630978"/>
            <a:ext cx="554126" cy="1031290"/>
          </a:xfrm>
          <a:custGeom>
            <a:avLst/>
            <a:gdLst/>
            <a:pathLst>
              <a:path w="554126" h="1031290">
                <a:moveTo>
                  <a:pt x="0" y="0"/>
                </a:moveTo>
                <a:lnTo>
                  <a:pt x="554126" y="103129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9DA9AB"/>
            </a:solidFill>
          </a:ln>
        </p:spPr>
      </p:sp>
      <p:sp>
        <p:nvSpPr>
          <p:cNvPr id="15" name="Freeform"/>
          <p:cNvSpPr/>
          <p:nvPr/>
        </p:nvSpPr>
        <p:spPr>
          <a:xfrm>
            <a:off x="1659788" y="4630978"/>
            <a:ext cx="523341" cy="1031290"/>
          </a:xfrm>
          <a:custGeom>
            <a:avLst/>
            <a:gdLst/>
            <a:pathLst>
              <a:path w="523341" h="1031290">
                <a:moveTo>
                  <a:pt x="523341" y="0"/>
                </a:moveTo>
                <a:lnTo>
                  <a:pt x="0" y="103129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9DA9AB"/>
            </a:solidFill>
          </a:ln>
        </p:spPr>
      </p:sp>
      <p:sp>
        <p:nvSpPr>
          <p:cNvPr id="16" name="Freeform"/>
          <p:cNvSpPr/>
          <p:nvPr/>
        </p:nvSpPr>
        <p:spPr>
          <a:xfrm>
            <a:off x="679292" y="4604811"/>
            <a:ext cx="52334" cy="52334"/>
          </a:xfrm>
          <a:custGeom>
            <a:avLst/>
            <a:gdLst/>
            <a:pathLst>
              <a:path w="52334" h="52334">
                <a:moveTo>
                  <a:pt x="52334" y="26167"/>
                </a:moveTo>
                <a:cubicBezTo>
                  <a:pt x="52334" y="11715"/>
                  <a:pt x="40618" y="0"/>
                  <a:pt x="26167" y="0"/>
                </a:cubicBezTo>
                <a:cubicBezTo>
                  <a:pt x="11715" y="0"/>
                  <a:pt x="0" y="11715"/>
                  <a:pt x="0" y="26167"/>
                </a:cubicBezTo>
                <a:cubicBezTo>
                  <a:pt x="0" y="40618"/>
                  <a:pt x="11715" y="52334"/>
                  <a:pt x="26167" y="52334"/>
                </a:cubicBezTo>
                <a:cubicBezTo>
                  <a:pt x="40618" y="52334"/>
                  <a:pt x="52334" y="40618"/>
                  <a:pt x="52334" y="26167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7" name="Freeform"/>
          <p:cNvSpPr/>
          <p:nvPr/>
        </p:nvSpPr>
        <p:spPr>
          <a:xfrm>
            <a:off x="2156962" y="4604811"/>
            <a:ext cx="52334" cy="52334"/>
          </a:xfrm>
          <a:custGeom>
            <a:avLst/>
            <a:gdLst/>
            <a:pathLst>
              <a:path w="52334" h="52334">
                <a:moveTo>
                  <a:pt x="52334" y="26167"/>
                </a:moveTo>
                <a:cubicBezTo>
                  <a:pt x="52334" y="11715"/>
                  <a:pt x="40618" y="0"/>
                  <a:pt x="26167" y="0"/>
                </a:cubicBezTo>
                <a:cubicBezTo>
                  <a:pt x="11715" y="0"/>
                  <a:pt x="0" y="11715"/>
                  <a:pt x="0" y="26167"/>
                </a:cubicBezTo>
                <a:cubicBezTo>
                  <a:pt x="0" y="40618"/>
                  <a:pt x="11715" y="52334"/>
                  <a:pt x="26167" y="52334"/>
                </a:cubicBezTo>
                <a:cubicBezTo>
                  <a:pt x="40618" y="52334"/>
                  <a:pt x="52334" y="40618"/>
                  <a:pt x="52334" y="26167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8" name="Freeform"/>
          <p:cNvSpPr/>
          <p:nvPr/>
        </p:nvSpPr>
        <p:spPr>
          <a:xfrm>
            <a:off x="1238806" y="5641489"/>
            <a:ext cx="41559" cy="41559"/>
          </a:xfrm>
          <a:custGeom>
            <a:avLst/>
            <a:gdLst/>
            <a:pathLst>
              <a:path w="41559" h="41559">
                <a:moveTo>
                  <a:pt x="41559" y="20779"/>
                </a:moveTo>
                <a:cubicBezTo>
                  <a:pt x="41559" y="9303"/>
                  <a:pt x="32255" y="0"/>
                  <a:pt x="20779" y="0"/>
                </a:cubicBezTo>
                <a:cubicBezTo>
                  <a:pt x="9303" y="0"/>
                  <a:pt x="0" y="9303"/>
                  <a:pt x="0" y="20779"/>
                </a:cubicBezTo>
                <a:cubicBezTo>
                  <a:pt x="0" y="32255"/>
                  <a:pt x="9303" y="41559"/>
                  <a:pt x="20779" y="41559"/>
                </a:cubicBezTo>
                <a:cubicBezTo>
                  <a:pt x="32255" y="41559"/>
                  <a:pt x="41559" y="32255"/>
                  <a:pt x="41559" y="20779"/>
                </a:cubicBezTo>
                <a:close/>
              </a:path>
            </a:pathLst>
          </a:custGeom>
          <a:solidFill>
            <a:srgbClr val="596973"/>
          </a:solidFill>
          <a:ln w="12700">
            <a:noFill/>
          </a:ln>
        </p:spPr>
      </p:sp>
      <p:sp>
        <p:nvSpPr>
          <p:cNvPr id="19" name="Freeform"/>
          <p:cNvSpPr/>
          <p:nvPr/>
        </p:nvSpPr>
        <p:spPr>
          <a:xfrm>
            <a:off x="1639008" y="5641489"/>
            <a:ext cx="41559" cy="41559"/>
          </a:xfrm>
          <a:custGeom>
            <a:avLst/>
            <a:gdLst/>
            <a:pathLst>
              <a:path w="41559" h="41559">
                <a:moveTo>
                  <a:pt x="41559" y="20779"/>
                </a:moveTo>
                <a:cubicBezTo>
                  <a:pt x="41559" y="9303"/>
                  <a:pt x="32255" y="0"/>
                  <a:pt x="20779" y="0"/>
                </a:cubicBezTo>
                <a:cubicBezTo>
                  <a:pt x="9303" y="0"/>
                  <a:pt x="0" y="9303"/>
                  <a:pt x="0" y="20779"/>
                </a:cubicBezTo>
                <a:cubicBezTo>
                  <a:pt x="0" y="32255"/>
                  <a:pt x="9303" y="41559"/>
                  <a:pt x="20779" y="41559"/>
                </a:cubicBezTo>
                <a:cubicBezTo>
                  <a:pt x="32255" y="41559"/>
                  <a:pt x="41559" y="32255"/>
                  <a:pt x="41559" y="20779"/>
                </a:cubicBezTo>
                <a:close/>
              </a:path>
            </a:pathLst>
          </a:custGeom>
          <a:solidFill>
            <a:srgbClr val="596973"/>
          </a:solidFill>
          <a:ln w="12700"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76072" y="6062472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1">
                <a:solidFill>
                  <a:srgbClr val="596973"/>
                </a:solidFill>
                <a:latin typeface="Arial Narrow"/>
              </a:rPr>
              <a:t>LOUVRE ABU DHABI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300216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1">
                <a:solidFill>
                  <a:srgbClr val="596973"/>
                </a:solidFill>
                <a:latin typeface="Arial Narrow"/>
              </a:rPr>
              <a:t>JEAN NOUVEL  /  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952744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0">
                <a:solidFill>
                  <a:srgbClr val="B7C1C2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1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76072"/>
            <a:ext cx="676656" cy="22860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AEBCC0"/>
                </a:solidFill>
                <a:latin typeface="Arial Narrow"/>
              </a:rPr>
              <a:t>02  /  GEOMETRY AS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98448"/>
            <a:ext cx="41148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6F6F1"/>
                </a:solidFill>
                <a:latin typeface="Georgia"/>
              </a:rPr>
              <a:t>THE DOME
AS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4436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6F6F1"/>
                </a:solidFill>
                <a:latin typeface="Arial Narrow"/>
              </a:rPr>
              <a:t>Four outer layers of stainless steel
meet four inner layers of aluminium.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67328"/>
            <a:ext cx="3063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AEBCC0"/>
                </a:solidFill>
                <a:latin typeface="Arial"/>
              </a:rPr>
              <a:t>A geometric canopy filters daylight, shades
the plaza and generates a microclimate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70448"/>
            <a:ext cx="3840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1">
                <a:solidFill>
                  <a:srgbClr val="AEBCC0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5616B"/>
                </a:solidFill>
                <a:latin typeface="Georgia"/>
              </a:rPr>
              <a:t>03</a:t>
            </a:r>
          </a:p>
        </p:txBody>
      </p:sp>
      <p:sp>
        <p:nvSpPr>
          <p:cNvPr id="10" name="Freeform"/>
          <p:cNvSpPr/>
          <p:nvPr/>
        </p:nvSpPr>
        <p:spPr>
          <a:xfrm>
            <a:off x="8871919" y="1075726"/>
            <a:ext cx="1127137" cy="464944"/>
          </a:xfrm>
          <a:custGeom>
            <a:avLst/>
            <a:gdLst/>
            <a:pathLst>
              <a:path w="1127137" h="464944">
                <a:moveTo>
                  <a:pt x="0" y="0"/>
                </a:moveTo>
                <a:lnTo>
                  <a:pt x="1127137" y="464944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11" name="Freeform"/>
          <p:cNvSpPr/>
          <p:nvPr/>
        </p:nvSpPr>
        <p:spPr>
          <a:xfrm>
            <a:off x="9999057" y="1540670"/>
            <a:ext cx="464944" cy="1127137"/>
          </a:xfrm>
          <a:custGeom>
            <a:avLst/>
            <a:gdLst/>
            <a:pathLst>
              <a:path w="464944" h="1127137">
                <a:moveTo>
                  <a:pt x="0" y="0"/>
                </a:moveTo>
                <a:lnTo>
                  <a:pt x="464944" y="1127137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12" name="Freeform"/>
          <p:cNvSpPr/>
          <p:nvPr/>
        </p:nvSpPr>
        <p:spPr>
          <a:xfrm>
            <a:off x="9999057" y="2667808"/>
            <a:ext cx="464944" cy="1127137"/>
          </a:xfrm>
          <a:custGeom>
            <a:avLst/>
            <a:gdLst/>
            <a:pathLst>
              <a:path w="464944" h="1127137">
                <a:moveTo>
                  <a:pt x="464944" y="0"/>
                </a:moveTo>
                <a:lnTo>
                  <a:pt x="0" y="1127137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13" name="Freeform"/>
          <p:cNvSpPr/>
          <p:nvPr/>
        </p:nvSpPr>
        <p:spPr>
          <a:xfrm>
            <a:off x="8871919" y="3794946"/>
            <a:ext cx="1127137" cy="464944"/>
          </a:xfrm>
          <a:custGeom>
            <a:avLst/>
            <a:gdLst/>
            <a:pathLst>
              <a:path w="1127137" h="464944">
                <a:moveTo>
                  <a:pt x="1127137" y="0"/>
                </a:moveTo>
                <a:lnTo>
                  <a:pt x="0" y="464944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14" name="Freeform"/>
          <p:cNvSpPr/>
          <p:nvPr/>
        </p:nvSpPr>
        <p:spPr>
          <a:xfrm>
            <a:off x="7744781" y="3794946"/>
            <a:ext cx="1127137" cy="464944"/>
          </a:xfrm>
          <a:custGeom>
            <a:avLst/>
            <a:gdLst/>
            <a:pathLst>
              <a:path w="1127137" h="464944">
                <a:moveTo>
                  <a:pt x="1127137" y="464944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15" name="Freeform"/>
          <p:cNvSpPr/>
          <p:nvPr/>
        </p:nvSpPr>
        <p:spPr>
          <a:xfrm>
            <a:off x="7279836" y="2667808"/>
            <a:ext cx="464944" cy="1127137"/>
          </a:xfrm>
          <a:custGeom>
            <a:avLst/>
            <a:gdLst/>
            <a:pathLst>
              <a:path w="464944" h="1127137">
                <a:moveTo>
                  <a:pt x="464944" y="1127137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16" name="Freeform"/>
          <p:cNvSpPr/>
          <p:nvPr/>
        </p:nvSpPr>
        <p:spPr>
          <a:xfrm>
            <a:off x="7279836" y="1540670"/>
            <a:ext cx="464944" cy="1127137"/>
          </a:xfrm>
          <a:custGeom>
            <a:avLst/>
            <a:gdLst/>
            <a:pathLst>
              <a:path w="464944" h="1127137">
                <a:moveTo>
                  <a:pt x="0" y="1127137"/>
                </a:moveTo>
                <a:lnTo>
                  <a:pt x="464944" y="0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17" name="Freeform"/>
          <p:cNvSpPr/>
          <p:nvPr/>
        </p:nvSpPr>
        <p:spPr>
          <a:xfrm>
            <a:off x="7744781" y="1075726"/>
            <a:ext cx="1127137" cy="464944"/>
          </a:xfrm>
          <a:custGeom>
            <a:avLst/>
            <a:gdLst/>
            <a:pathLst>
              <a:path w="1127137" h="464944">
                <a:moveTo>
                  <a:pt x="0" y="464944"/>
                </a:moveTo>
                <a:lnTo>
                  <a:pt x="1127137" y="0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18" name="Freeform"/>
          <p:cNvSpPr/>
          <p:nvPr/>
        </p:nvSpPr>
        <p:spPr>
          <a:xfrm>
            <a:off x="8871919" y="1427956"/>
            <a:ext cx="873531" cy="366319"/>
          </a:xfrm>
          <a:custGeom>
            <a:avLst/>
            <a:gdLst/>
            <a:pathLst>
              <a:path w="873531" h="366319">
                <a:moveTo>
                  <a:pt x="0" y="0"/>
                </a:moveTo>
                <a:lnTo>
                  <a:pt x="873531" y="366319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19" name="Freeform"/>
          <p:cNvSpPr/>
          <p:nvPr/>
        </p:nvSpPr>
        <p:spPr>
          <a:xfrm>
            <a:off x="9745451" y="1794276"/>
            <a:ext cx="352230" cy="873531"/>
          </a:xfrm>
          <a:custGeom>
            <a:avLst/>
            <a:gdLst/>
            <a:pathLst>
              <a:path w="352230" h="873531">
                <a:moveTo>
                  <a:pt x="0" y="0"/>
                </a:moveTo>
                <a:lnTo>
                  <a:pt x="352230" y="873531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0" name="Freeform"/>
          <p:cNvSpPr/>
          <p:nvPr/>
        </p:nvSpPr>
        <p:spPr>
          <a:xfrm>
            <a:off x="9745451" y="2667808"/>
            <a:ext cx="352230" cy="873531"/>
          </a:xfrm>
          <a:custGeom>
            <a:avLst/>
            <a:gdLst/>
            <a:pathLst>
              <a:path w="352230" h="873531">
                <a:moveTo>
                  <a:pt x="352230" y="0"/>
                </a:moveTo>
                <a:lnTo>
                  <a:pt x="0" y="873531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1" name="Freeform"/>
          <p:cNvSpPr/>
          <p:nvPr/>
        </p:nvSpPr>
        <p:spPr>
          <a:xfrm>
            <a:off x="8871919" y="3541340"/>
            <a:ext cx="873531" cy="366319"/>
          </a:xfrm>
          <a:custGeom>
            <a:avLst/>
            <a:gdLst/>
            <a:pathLst>
              <a:path w="873531" h="366319">
                <a:moveTo>
                  <a:pt x="873531" y="0"/>
                </a:moveTo>
                <a:lnTo>
                  <a:pt x="0" y="366319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2" name="Freeform"/>
          <p:cNvSpPr/>
          <p:nvPr/>
        </p:nvSpPr>
        <p:spPr>
          <a:xfrm>
            <a:off x="7998387" y="3541340"/>
            <a:ext cx="873531" cy="366319"/>
          </a:xfrm>
          <a:custGeom>
            <a:avLst/>
            <a:gdLst/>
            <a:pathLst>
              <a:path w="873531" h="366319">
                <a:moveTo>
                  <a:pt x="873531" y="366319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3" name="Freeform"/>
          <p:cNvSpPr/>
          <p:nvPr/>
        </p:nvSpPr>
        <p:spPr>
          <a:xfrm>
            <a:off x="7646156" y="2667808"/>
            <a:ext cx="352230" cy="873531"/>
          </a:xfrm>
          <a:custGeom>
            <a:avLst/>
            <a:gdLst/>
            <a:pathLst>
              <a:path w="352230" h="873531">
                <a:moveTo>
                  <a:pt x="352230" y="873531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4" name="Freeform"/>
          <p:cNvSpPr/>
          <p:nvPr/>
        </p:nvSpPr>
        <p:spPr>
          <a:xfrm>
            <a:off x="7646156" y="1794276"/>
            <a:ext cx="352230" cy="873531"/>
          </a:xfrm>
          <a:custGeom>
            <a:avLst/>
            <a:gdLst/>
            <a:pathLst>
              <a:path w="352230" h="873531">
                <a:moveTo>
                  <a:pt x="0" y="873531"/>
                </a:moveTo>
                <a:lnTo>
                  <a:pt x="352230" y="0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5" name="Freeform"/>
          <p:cNvSpPr/>
          <p:nvPr/>
        </p:nvSpPr>
        <p:spPr>
          <a:xfrm>
            <a:off x="7998387" y="1427956"/>
            <a:ext cx="873531" cy="366319"/>
          </a:xfrm>
          <a:custGeom>
            <a:avLst/>
            <a:gdLst/>
            <a:pathLst>
              <a:path w="873531" h="366319">
                <a:moveTo>
                  <a:pt x="0" y="366319"/>
                </a:moveTo>
                <a:lnTo>
                  <a:pt x="873531" y="0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6" name="Freeform"/>
          <p:cNvSpPr/>
          <p:nvPr/>
        </p:nvSpPr>
        <p:spPr>
          <a:xfrm>
            <a:off x="8871919" y="1075726"/>
            <a:ext cx="0" cy="3184164"/>
          </a:xfrm>
          <a:custGeom>
            <a:avLst/>
            <a:gdLst/>
            <a:pathLst>
              <a:path w="0" h="3184164">
                <a:moveTo>
                  <a:pt x="0" y="0"/>
                </a:moveTo>
                <a:lnTo>
                  <a:pt x="0" y="3184164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7" name="Freeform"/>
          <p:cNvSpPr/>
          <p:nvPr/>
        </p:nvSpPr>
        <p:spPr>
          <a:xfrm>
            <a:off x="7279836" y="2667808"/>
            <a:ext cx="3184164" cy="0"/>
          </a:xfrm>
          <a:custGeom>
            <a:avLst/>
            <a:gdLst/>
            <a:pathLst>
              <a:path w="3184164" h="0">
                <a:moveTo>
                  <a:pt x="0" y="0"/>
                </a:moveTo>
                <a:lnTo>
                  <a:pt x="3184164" y="0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8" name="Freeform"/>
          <p:cNvSpPr/>
          <p:nvPr/>
        </p:nvSpPr>
        <p:spPr>
          <a:xfrm>
            <a:off x="7744781" y="1540670"/>
            <a:ext cx="2254275" cy="2254275"/>
          </a:xfrm>
          <a:custGeom>
            <a:avLst/>
            <a:gdLst/>
            <a:pathLst>
              <a:path w="2254275" h="2254275">
                <a:moveTo>
                  <a:pt x="0" y="0"/>
                </a:moveTo>
                <a:lnTo>
                  <a:pt x="2254275" y="2254275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29" name="Freeform"/>
          <p:cNvSpPr/>
          <p:nvPr/>
        </p:nvSpPr>
        <p:spPr>
          <a:xfrm>
            <a:off x="7744781" y="1540670"/>
            <a:ext cx="2254275" cy="2254275"/>
          </a:xfrm>
          <a:custGeom>
            <a:avLst/>
            <a:gdLst/>
            <a:pathLst>
              <a:path w="2254275" h="2254275">
                <a:moveTo>
                  <a:pt x="2254275" y="0"/>
                </a:moveTo>
                <a:lnTo>
                  <a:pt x="0" y="2254275"/>
                </a:lnTo>
                <a:close/>
              </a:path>
            </a:pathLst>
          </a:custGeom>
          <a:solidFill>
            <a:srgbClr val="FFFFFF"/>
          </a:solidFill>
          <a:ln w="16510">
            <a:solidFill>
              <a:srgbClr val="6F8991"/>
            </a:solidFill>
          </a:ln>
        </p:spPr>
      </p:sp>
      <p:sp>
        <p:nvSpPr>
          <p:cNvPr id="30" name="Freeform"/>
          <p:cNvSpPr/>
          <p:nvPr/>
        </p:nvSpPr>
        <p:spPr>
          <a:xfrm>
            <a:off x="8871919" y="864387"/>
            <a:ext cx="0" cy="3649109"/>
          </a:xfrm>
          <a:custGeom>
            <a:avLst/>
            <a:gdLst/>
            <a:pathLst>
              <a:path w="0" h="3649109">
                <a:moveTo>
                  <a:pt x="0" y="0"/>
                </a:moveTo>
                <a:lnTo>
                  <a:pt x="0" y="3649109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18C58"/>
            </a:solidFill>
          </a:ln>
        </p:spPr>
      </p:sp>
      <p:sp>
        <p:nvSpPr>
          <p:cNvPr id="31" name="Freeform"/>
          <p:cNvSpPr/>
          <p:nvPr/>
        </p:nvSpPr>
        <p:spPr>
          <a:xfrm>
            <a:off x="7040320" y="2667808"/>
            <a:ext cx="3663198" cy="0"/>
          </a:xfrm>
          <a:custGeom>
            <a:avLst/>
            <a:gdLst/>
            <a:pathLst>
              <a:path w="3663198" h="0">
                <a:moveTo>
                  <a:pt x="0" y="0"/>
                </a:moveTo>
                <a:lnTo>
                  <a:pt x="3663198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18C58"/>
            </a:solidFill>
          </a:ln>
        </p:spPr>
      </p:sp>
      <p:sp>
        <p:nvSpPr>
          <p:cNvPr id="32" name="Freeform"/>
          <p:cNvSpPr/>
          <p:nvPr/>
        </p:nvSpPr>
        <p:spPr>
          <a:xfrm>
            <a:off x="8836696" y="1040503"/>
            <a:ext cx="70446" cy="70446"/>
          </a:xfrm>
          <a:custGeom>
            <a:avLst/>
            <a:gdLst/>
            <a:pathLst>
              <a:path w="70446" h="70446">
                <a:moveTo>
                  <a:pt x="70446" y="35223"/>
                </a:moveTo>
                <a:cubicBezTo>
                  <a:pt x="70446" y="15769"/>
                  <a:pt x="54676" y="0"/>
                  <a:pt x="35223" y="0"/>
                </a:cubicBezTo>
                <a:cubicBezTo>
                  <a:pt x="15769" y="0"/>
                  <a:pt x="0" y="15769"/>
                  <a:pt x="0" y="35223"/>
                </a:cubicBezTo>
                <a:cubicBezTo>
                  <a:pt x="0" y="54676"/>
                  <a:pt x="15769" y="70446"/>
                  <a:pt x="35223" y="70446"/>
                </a:cubicBezTo>
                <a:cubicBezTo>
                  <a:pt x="54676" y="70446"/>
                  <a:pt x="70446" y="54676"/>
                  <a:pt x="70446" y="35223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33" name="Freeform"/>
          <p:cNvSpPr/>
          <p:nvPr/>
        </p:nvSpPr>
        <p:spPr>
          <a:xfrm>
            <a:off x="9970878" y="1512492"/>
            <a:ext cx="56356" cy="56356"/>
          </a:xfrm>
          <a:custGeom>
            <a:avLst/>
            <a:gdLst/>
            <a:pathLst>
              <a:path w="56356" h="56356">
                <a:moveTo>
                  <a:pt x="56356" y="28178"/>
                </a:moveTo>
                <a:cubicBezTo>
                  <a:pt x="56356" y="12615"/>
                  <a:pt x="43740" y="0"/>
                  <a:pt x="28177" y="0"/>
                </a:cubicBezTo>
                <a:cubicBezTo>
                  <a:pt x="12615" y="0"/>
                  <a:pt x="0" y="12615"/>
                  <a:pt x="0" y="28178"/>
                </a:cubicBezTo>
                <a:cubicBezTo>
                  <a:pt x="0" y="43740"/>
                  <a:pt x="12615" y="56356"/>
                  <a:pt x="28177" y="56356"/>
                </a:cubicBezTo>
                <a:cubicBezTo>
                  <a:pt x="43740" y="56356"/>
                  <a:pt x="56356" y="43740"/>
                  <a:pt x="56356" y="28178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34" name="Freeform"/>
          <p:cNvSpPr/>
          <p:nvPr/>
        </p:nvSpPr>
        <p:spPr>
          <a:xfrm>
            <a:off x="10435823" y="2639630"/>
            <a:ext cx="56356" cy="56356"/>
          </a:xfrm>
          <a:custGeom>
            <a:avLst/>
            <a:gdLst/>
            <a:pathLst>
              <a:path w="56356" h="56356">
                <a:moveTo>
                  <a:pt x="56356" y="28178"/>
                </a:moveTo>
                <a:cubicBezTo>
                  <a:pt x="56356" y="12615"/>
                  <a:pt x="43740" y="0"/>
                  <a:pt x="28178" y="0"/>
                </a:cubicBezTo>
                <a:cubicBezTo>
                  <a:pt x="12615" y="0"/>
                  <a:pt x="0" y="12615"/>
                  <a:pt x="0" y="28178"/>
                </a:cubicBezTo>
                <a:cubicBezTo>
                  <a:pt x="0" y="43740"/>
                  <a:pt x="12615" y="56356"/>
                  <a:pt x="28178" y="56356"/>
                </a:cubicBezTo>
                <a:cubicBezTo>
                  <a:pt x="43740" y="56356"/>
                  <a:pt x="56356" y="43740"/>
                  <a:pt x="56356" y="28178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35" name="Freeform"/>
          <p:cNvSpPr/>
          <p:nvPr/>
        </p:nvSpPr>
        <p:spPr>
          <a:xfrm>
            <a:off x="8836696" y="4224667"/>
            <a:ext cx="70446" cy="70446"/>
          </a:xfrm>
          <a:custGeom>
            <a:avLst/>
            <a:gdLst/>
            <a:pathLst>
              <a:path w="70446" h="70446">
                <a:moveTo>
                  <a:pt x="70446" y="35222"/>
                </a:moveTo>
                <a:cubicBezTo>
                  <a:pt x="70446" y="15769"/>
                  <a:pt x="54676" y="0"/>
                  <a:pt x="35223" y="0"/>
                </a:cubicBezTo>
                <a:cubicBezTo>
                  <a:pt x="15769" y="0"/>
                  <a:pt x="0" y="15769"/>
                  <a:pt x="0" y="35222"/>
                </a:cubicBezTo>
                <a:cubicBezTo>
                  <a:pt x="0" y="54676"/>
                  <a:pt x="15769" y="70446"/>
                  <a:pt x="35223" y="70446"/>
                </a:cubicBezTo>
                <a:cubicBezTo>
                  <a:pt x="54676" y="70446"/>
                  <a:pt x="70446" y="54676"/>
                  <a:pt x="70446" y="35222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36" name="Freeform"/>
          <p:cNvSpPr/>
          <p:nvPr/>
        </p:nvSpPr>
        <p:spPr>
          <a:xfrm>
            <a:off x="7251658" y="2639630"/>
            <a:ext cx="56356" cy="56356"/>
          </a:xfrm>
          <a:custGeom>
            <a:avLst/>
            <a:gdLst/>
            <a:pathLst>
              <a:path w="56356" h="56356">
                <a:moveTo>
                  <a:pt x="56356" y="28178"/>
                </a:moveTo>
                <a:cubicBezTo>
                  <a:pt x="56356" y="12615"/>
                  <a:pt x="43740" y="0"/>
                  <a:pt x="28178" y="0"/>
                </a:cubicBezTo>
                <a:cubicBezTo>
                  <a:pt x="12615" y="0"/>
                  <a:pt x="0" y="12615"/>
                  <a:pt x="0" y="28178"/>
                </a:cubicBezTo>
                <a:cubicBezTo>
                  <a:pt x="0" y="43740"/>
                  <a:pt x="12615" y="56356"/>
                  <a:pt x="28178" y="56356"/>
                </a:cubicBezTo>
                <a:cubicBezTo>
                  <a:pt x="43740" y="56356"/>
                  <a:pt x="56356" y="43740"/>
                  <a:pt x="56356" y="28178"/>
                </a:cubicBezTo>
                <a:close/>
              </a:path>
            </a:pathLst>
          </a:custGeom>
          <a:solidFill>
            <a:srgbClr val="AEBCC0"/>
          </a:solidFill>
          <a:ln w="12700">
            <a:noFill/>
          </a:ln>
        </p:spPr>
      </p:sp>
      <p:sp>
        <p:nvSpPr>
          <p:cNvPr id="37" name="Freeform"/>
          <p:cNvSpPr/>
          <p:nvPr/>
        </p:nvSpPr>
        <p:spPr>
          <a:xfrm>
            <a:off x="7716602" y="3766768"/>
            <a:ext cx="56356" cy="56356"/>
          </a:xfrm>
          <a:custGeom>
            <a:avLst/>
            <a:gdLst/>
            <a:pathLst>
              <a:path w="56356" h="56356">
                <a:moveTo>
                  <a:pt x="56356" y="28178"/>
                </a:moveTo>
                <a:cubicBezTo>
                  <a:pt x="56356" y="12615"/>
                  <a:pt x="43740" y="0"/>
                  <a:pt x="28178" y="0"/>
                </a:cubicBezTo>
                <a:cubicBezTo>
                  <a:pt x="12615" y="0"/>
                  <a:pt x="0" y="12615"/>
                  <a:pt x="0" y="28178"/>
                </a:cubicBezTo>
                <a:cubicBezTo>
                  <a:pt x="0" y="43740"/>
                  <a:pt x="12615" y="56356"/>
                  <a:pt x="28178" y="56356"/>
                </a:cubicBezTo>
                <a:cubicBezTo>
                  <a:pt x="43740" y="56356"/>
                  <a:pt x="56356" y="43740"/>
                  <a:pt x="56356" y="28178"/>
                </a:cubicBezTo>
                <a:close/>
              </a:path>
            </a:pathLst>
          </a:custGeom>
          <a:solidFill>
            <a:srgbClr val="AEBCC0"/>
          </a:solidFill>
          <a:ln w="12700">
            <a:noFill/>
          </a:ln>
        </p:spPr>
      </p:sp>
      <p:sp>
        <p:nvSpPr>
          <p:cNvPr id="38" name="Freeform"/>
          <p:cNvSpPr/>
          <p:nvPr/>
        </p:nvSpPr>
        <p:spPr>
          <a:xfrm>
            <a:off x="8843740" y="2639630"/>
            <a:ext cx="56356" cy="56356"/>
          </a:xfrm>
          <a:custGeom>
            <a:avLst/>
            <a:gdLst/>
            <a:pathLst>
              <a:path w="56356" h="56356">
                <a:moveTo>
                  <a:pt x="56356" y="28178"/>
                </a:moveTo>
                <a:cubicBezTo>
                  <a:pt x="56356" y="12615"/>
                  <a:pt x="43740" y="0"/>
                  <a:pt x="28178" y="0"/>
                </a:cubicBezTo>
                <a:cubicBezTo>
                  <a:pt x="12615" y="0"/>
                  <a:pt x="0" y="12615"/>
                  <a:pt x="0" y="28178"/>
                </a:cubicBezTo>
                <a:cubicBezTo>
                  <a:pt x="0" y="43740"/>
                  <a:pt x="12615" y="56356"/>
                  <a:pt x="28178" y="56356"/>
                </a:cubicBezTo>
                <a:cubicBezTo>
                  <a:pt x="43740" y="56356"/>
                  <a:pt x="56356" y="43740"/>
                  <a:pt x="56356" y="28178"/>
                </a:cubicBezTo>
                <a:close/>
              </a:path>
            </a:pathLst>
          </a:custGeom>
          <a:solidFill>
            <a:srgbClr val="AEBCC0"/>
          </a:solidFill>
          <a:ln w="12700">
            <a:noFill/>
          </a:ln>
        </p:spPr>
      </p:sp>
      <p:sp>
        <p:nvSpPr>
          <p:cNvPr id="39" name="Freeform"/>
          <p:cNvSpPr/>
          <p:nvPr/>
        </p:nvSpPr>
        <p:spPr>
          <a:xfrm>
            <a:off x="9724317" y="3520206"/>
            <a:ext cx="42267" cy="42267"/>
          </a:xfrm>
          <a:custGeom>
            <a:avLst/>
            <a:gdLst/>
            <a:pathLst>
              <a:path w="42267" h="42267">
                <a:moveTo>
                  <a:pt x="42267" y="21133"/>
                </a:moveTo>
                <a:cubicBezTo>
                  <a:pt x="42267" y="9461"/>
                  <a:pt x="32805" y="0"/>
                  <a:pt x="21133" y="0"/>
                </a:cubicBezTo>
                <a:cubicBezTo>
                  <a:pt x="9461" y="0"/>
                  <a:pt x="0" y="9461"/>
                  <a:pt x="0" y="21133"/>
                </a:cubicBezTo>
                <a:cubicBezTo>
                  <a:pt x="0" y="32805"/>
                  <a:pt x="9461" y="42267"/>
                  <a:pt x="21133" y="42267"/>
                </a:cubicBezTo>
                <a:cubicBezTo>
                  <a:pt x="32805" y="42267"/>
                  <a:pt x="42267" y="32805"/>
                  <a:pt x="42267" y="21133"/>
                </a:cubicBezTo>
                <a:close/>
              </a:path>
            </a:pathLst>
          </a:custGeom>
          <a:solidFill>
            <a:srgbClr val="AEBCC0"/>
          </a:solidFill>
          <a:ln w="12700">
            <a:noFill/>
          </a:ln>
        </p:spPr>
      </p:sp>
      <p:sp>
        <p:nvSpPr>
          <p:cNvPr id="40" name="TextBox 39"/>
          <p:cNvSpPr txBox="1"/>
          <p:nvPr/>
        </p:nvSpPr>
        <p:spPr>
          <a:xfrm>
            <a:off x="4873752" y="5065776"/>
            <a:ext cx="2423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00" b="0">
                <a:solidFill>
                  <a:srgbClr val="F6F6F1"/>
                </a:solidFill>
                <a:latin typeface="Arial Narrow"/>
              </a:rPr>
              <a:t>7,850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9472" y="5614416"/>
            <a:ext cx="21214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B18C58"/>
                </a:solidFill>
                <a:latin typeface="Arial Narrow"/>
              </a:rPr>
              <a:t>STARS IN THE PATTERN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5065776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00" b="0">
                <a:solidFill>
                  <a:srgbClr val="F6F6F1"/>
                </a:solidFill>
                <a:latin typeface="Arial Narrow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50224" y="5614416"/>
            <a:ext cx="21214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B18C58"/>
                </a:solidFill>
                <a:latin typeface="Arial Narrow"/>
              </a:rPr>
              <a:t>OVERLAPPING LAYERS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611733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EBCC0"/>
                </a:solidFill>
                <a:latin typeface="Arial Narrow"/>
              </a:rPr>
              <a:t>180 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6217920"/>
            <a:ext cx="2651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AEBCC0"/>
                </a:solidFill>
                <a:latin typeface="Arial Narrow"/>
              </a:rPr>
              <a:t>DIAMETER OF THE DOME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411480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76870"/>
                </a:solidFill>
                <a:latin typeface="Arial Narrow"/>
              </a:rPr>
              <a:t>03  /  URBAN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22376"/>
            <a:ext cx="7059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6252D"/>
                </a:solidFill>
                <a:latin typeface="Georgia"/>
              </a:rPr>
              <a:t>A MUSEUM CITY  /  IN THE 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813816"/>
            <a:ext cx="17099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60" b="1">
                <a:solidFill>
                  <a:srgbClr val="576870"/>
                </a:solidFill>
                <a:latin typeface="Arial Narrow"/>
              </a:rPr>
              <a:t>ABU DHABI · UAE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10981944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95dd068671fb0ff7530cb8c79cf3c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7904"/>
            <a:ext cx="12191695" cy="50794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57031" y="5266944"/>
            <a:ext cx="3337560" cy="1051560"/>
          </a:xfrm>
          <a:prstGeom prst="rect">
            <a:avLst/>
          </a:prstGeom>
          <a:solidFill>
            <a:srgbClr val="1021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5468112"/>
            <a:ext cx="2770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6F6F1"/>
                </a:solidFill>
                <a:latin typeface="Arial Narrow"/>
              </a:rPr>
              <a:t>55 BUILDINGS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7928" y="5888736"/>
            <a:ext cx="25786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B18C58"/>
                </a:solidFill>
                <a:latin typeface="Arial Narrow"/>
              </a:rPr>
              <a:t>23 ARE GALLERIES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638544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76870"/>
                </a:solidFill>
                <a:latin typeface="Arial Narro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8ee420c1759524948c0b92f39a03bb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12064"/>
            <a:ext cx="4005072" cy="58338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73752" y="512064"/>
            <a:ext cx="21945" cy="5833872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630936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76870"/>
                </a:solidFill>
                <a:latin typeface="Arial Narrow"/>
              </a:rPr>
              <a:t>04  /  CIVIC INTERIOR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79576"/>
            <a:ext cx="565099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6252D"/>
                </a:solidFill>
                <a:latin typeface="Georgia"/>
              </a:rPr>
              <a:t>WATER
AS PUBLIC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0096" y="2889504"/>
            <a:ext cx="4809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0" b="1">
                <a:solidFill>
                  <a:srgbClr val="16252D"/>
                </a:solidFill>
                <a:latin typeface="Arial Narrow"/>
              </a:rPr>
              <a:t>Paths cross the water beneath the dome, turning the
museum into a walkable, climate-softened urban 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0096" y="3785615"/>
            <a:ext cx="4370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76870"/>
                </a:solidFill>
                <a:latin typeface="Arial"/>
              </a:rPr>
              <a:t>Architecture is not an object beside the sea.
It becomes a small city within it.</a:t>
            </a:r>
          </a:p>
        </p:txBody>
      </p:sp>
      <p:sp>
        <p:nvSpPr>
          <p:cNvPr id="9" name="Freeform"/>
          <p:cNvSpPr/>
          <p:nvPr/>
        </p:nvSpPr>
        <p:spPr>
          <a:xfrm>
            <a:off x="6736080" y="4802123"/>
            <a:ext cx="2474976" cy="0"/>
          </a:xfrm>
          <a:custGeom>
            <a:avLst/>
            <a:gdLst/>
            <a:pathLst>
              <a:path w="2474976" h="0">
                <a:moveTo>
                  <a:pt x="0" y="0"/>
                </a:moveTo>
                <a:lnTo>
                  <a:pt x="247497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AEBCC0"/>
            </a:solidFill>
          </a:ln>
        </p:spPr>
      </p:sp>
      <p:sp>
        <p:nvSpPr>
          <p:cNvPr id="10" name="Freeform"/>
          <p:cNvSpPr/>
          <p:nvPr/>
        </p:nvSpPr>
        <p:spPr>
          <a:xfrm>
            <a:off x="7024116" y="5058156"/>
            <a:ext cx="1898903" cy="0"/>
          </a:xfrm>
          <a:custGeom>
            <a:avLst/>
            <a:gdLst/>
            <a:pathLst>
              <a:path w="1898903" h="0">
                <a:moveTo>
                  <a:pt x="0" y="0"/>
                </a:moveTo>
                <a:lnTo>
                  <a:pt x="1898903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AEBCC0"/>
            </a:solidFill>
          </a:ln>
        </p:spPr>
      </p:sp>
      <p:sp>
        <p:nvSpPr>
          <p:cNvPr id="11" name="Freeform"/>
          <p:cNvSpPr/>
          <p:nvPr/>
        </p:nvSpPr>
        <p:spPr>
          <a:xfrm>
            <a:off x="7322820" y="5314188"/>
            <a:ext cx="1301496" cy="0"/>
          </a:xfrm>
          <a:custGeom>
            <a:avLst/>
            <a:gdLst/>
            <a:pathLst>
              <a:path w="1301496" h="0">
                <a:moveTo>
                  <a:pt x="0" y="0"/>
                </a:moveTo>
                <a:lnTo>
                  <a:pt x="1301496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AEBCC0"/>
            </a:solidFill>
          </a:ln>
        </p:spPr>
      </p:sp>
      <p:sp>
        <p:nvSpPr>
          <p:cNvPr id="12" name="Freeform"/>
          <p:cNvSpPr/>
          <p:nvPr/>
        </p:nvSpPr>
        <p:spPr>
          <a:xfrm>
            <a:off x="6736080" y="4802123"/>
            <a:ext cx="586739" cy="736092"/>
          </a:xfrm>
          <a:custGeom>
            <a:avLst/>
            <a:gdLst/>
            <a:pathLst>
              <a:path w="586739" h="736092">
                <a:moveTo>
                  <a:pt x="0" y="0"/>
                </a:moveTo>
                <a:lnTo>
                  <a:pt x="586739" y="73609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B18C58"/>
            </a:solidFill>
          </a:ln>
        </p:spPr>
      </p:sp>
      <p:sp>
        <p:nvSpPr>
          <p:cNvPr id="13" name="Freeform"/>
          <p:cNvSpPr/>
          <p:nvPr/>
        </p:nvSpPr>
        <p:spPr>
          <a:xfrm>
            <a:off x="8624316" y="4802123"/>
            <a:ext cx="586740" cy="736092"/>
          </a:xfrm>
          <a:custGeom>
            <a:avLst/>
            <a:gdLst/>
            <a:pathLst>
              <a:path w="586740" h="736092">
                <a:moveTo>
                  <a:pt x="586740" y="0"/>
                </a:moveTo>
                <a:lnTo>
                  <a:pt x="0" y="73609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B18C58"/>
            </a:solidFill>
          </a:ln>
        </p:spPr>
      </p:sp>
      <p:sp>
        <p:nvSpPr>
          <p:cNvPr id="14" name="Freeform"/>
          <p:cNvSpPr/>
          <p:nvPr/>
        </p:nvSpPr>
        <p:spPr>
          <a:xfrm>
            <a:off x="6714744" y="4780787"/>
            <a:ext cx="42671" cy="42672"/>
          </a:xfrm>
          <a:custGeom>
            <a:avLst/>
            <a:gdLst/>
            <a:pathLst>
              <a:path w="42671" h="42672">
                <a:moveTo>
                  <a:pt x="42671" y="21336"/>
                </a:moveTo>
                <a:cubicBezTo>
                  <a:pt x="42671" y="9552"/>
                  <a:pt x="33118" y="0"/>
                  <a:pt x="21335" y="0"/>
                </a:cubicBezTo>
                <a:cubicBezTo>
                  <a:pt x="9552" y="0"/>
                  <a:pt x="0" y="9552"/>
                  <a:pt x="0" y="21336"/>
                </a:cubicBezTo>
                <a:cubicBezTo>
                  <a:pt x="0" y="33119"/>
                  <a:pt x="9552" y="42672"/>
                  <a:pt x="21335" y="42672"/>
                </a:cubicBezTo>
                <a:cubicBezTo>
                  <a:pt x="33118" y="42672"/>
                  <a:pt x="42671" y="33119"/>
                  <a:pt x="42671" y="21336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5" name="Freeform"/>
          <p:cNvSpPr/>
          <p:nvPr/>
        </p:nvSpPr>
        <p:spPr>
          <a:xfrm>
            <a:off x="9189720" y="4780787"/>
            <a:ext cx="42672" cy="42672"/>
          </a:xfrm>
          <a:custGeom>
            <a:avLst/>
            <a:gdLst/>
            <a:pathLst>
              <a:path w="42672" h="42672">
                <a:moveTo>
                  <a:pt x="42672" y="21336"/>
                </a:moveTo>
                <a:cubicBezTo>
                  <a:pt x="42672" y="9552"/>
                  <a:pt x="33119" y="0"/>
                  <a:pt x="21336" y="0"/>
                </a:cubicBezTo>
                <a:cubicBezTo>
                  <a:pt x="9552" y="0"/>
                  <a:pt x="0" y="9552"/>
                  <a:pt x="0" y="21336"/>
                </a:cubicBezTo>
                <a:cubicBezTo>
                  <a:pt x="0" y="33119"/>
                  <a:pt x="9552" y="42672"/>
                  <a:pt x="21336" y="42672"/>
                </a:cubicBezTo>
                <a:cubicBezTo>
                  <a:pt x="33119" y="42672"/>
                  <a:pt x="42672" y="33119"/>
                  <a:pt x="42672" y="21336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6" name="Freeform"/>
          <p:cNvSpPr/>
          <p:nvPr/>
        </p:nvSpPr>
        <p:spPr>
          <a:xfrm>
            <a:off x="7306818" y="5522214"/>
            <a:ext cx="32003" cy="32004"/>
          </a:xfrm>
          <a:custGeom>
            <a:avLst/>
            <a:gdLst/>
            <a:pathLst>
              <a:path w="32003" h="32004">
                <a:moveTo>
                  <a:pt x="32003" y="16002"/>
                </a:moveTo>
                <a:cubicBezTo>
                  <a:pt x="32003" y="7164"/>
                  <a:pt x="24838" y="0"/>
                  <a:pt x="16001" y="0"/>
                </a:cubicBezTo>
                <a:cubicBezTo>
                  <a:pt x="7164" y="0"/>
                  <a:pt x="0" y="7164"/>
                  <a:pt x="0" y="16002"/>
                </a:cubicBezTo>
                <a:cubicBezTo>
                  <a:pt x="0" y="24839"/>
                  <a:pt x="7164" y="32004"/>
                  <a:pt x="16001" y="32004"/>
                </a:cubicBezTo>
                <a:cubicBezTo>
                  <a:pt x="24838" y="32004"/>
                  <a:pt x="32003" y="24839"/>
                  <a:pt x="32003" y="16002"/>
                </a:cubicBezTo>
                <a:close/>
              </a:path>
            </a:pathLst>
          </a:custGeom>
          <a:solidFill>
            <a:srgbClr val="576870"/>
          </a:solidFill>
          <a:ln w="12700">
            <a:noFill/>
          </a:ln>
        </p:spPr>
      </p:sp>
      <p:sp>
        <p:nvSpPr>
          <p:cNvPr id="17" name="Freeform"/>
          <p:cNvSpPr/>
          <p:nvPr/>
        </p:nvSpPr>
        <p:spPr>
          <a:xfrm>
            <a:off x="8608314" y="5522214"/>
            <a:ext cx="32004" cy="32004"/>
          </a:xfrm>
          <a:custGeom>
            <a:avLst/>
            <a:gdLst/>
            <a:pathLst>
              <a:path w="32004" h="32004">
                <a:moveTo>
                  <a:pt x="32004" y="16002"/>
                </a:moveTo>
                <a:cubicBezTo>
                  <a:pt x="32004" y="7164"/>
                  <a:pt x="24839" y="0"/>
                  <a:pt x="16002" y="0"/>
                </a:cubicBezTo>
                <a:cubicBezTo>
                  <a:pt x="7164" y="0"/>
                  <a:pt x="0" y="7164"/>
                  <a:pt x="0" y="16002"/>
                </a:cubicBezTo>
                <a:cubicBezTo>
                  <a:pt x="0" y="24839"/>
                  <a:pt x="7164" y="32004"/>
                  <a:pt x="16002" y="32004"/>
                </a:cubicBezTo>
                <a:cubicBezTo>
                  <a:pt x="24839" y="32004"/>
                  <a:pt x="32004" y="24839"/>
                  <a:pt x="32004" y="16002"/>
                </a:cubicBezTo>
                <a:close/>
              </a:path>
            </a:pathLst>
          </a:custGeom>
          <a:solidFill>
            <a:srgbClr val="576870"/>
          </a:solidFill>
          <a:ln w="12700"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5330952" y="6035040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1">
                <a:solidFill>
                  <a:srgbClr val="B18C58"/>
                </a:solidFill>
                <a:latin typeface="Arial Narrow"/>
              </a:rPr>
              <a:t>LAND + SEA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5815584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0">
                <a:solidFill>
                  <a:srgbClr val="B7C1C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6327648"/>
            <a:ext cx="33375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576870"/>
                </a:solidFill>
                <a:latin typeface="Arial Narrow"/>
              </a:rPr>
              <a:t>SOURCE  /  LOUVRE ABU DHABI —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23317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86A73"/>
                </a:solidFill>
                <a:latin typeface="Arial Narrow"/>
              </a:rPr>
              <a:t>05  /  THERMAL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41832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325880"/>
            <a:ext cx="373075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16252D"/>
                </a:solidFill>
                <a:latin typeface="Georgia"/>
              </a:rPr>
              <a:t>SHADE
BECOMES
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3337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252D"/>
                </a:solidFill>
                <a:latin typeface="Arial Narrow"/>
              </a:rPr>
              <a:t>The canopy filters daylight, reduces heat
and protects the public realm below.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78224"/>
            <a:ext cx="3145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86A73"/>
                </a:solidFill>
                <a:latin typeface="Arial"/>
              </a:rPr>
              <a:t>Natural cooling is not an add-on.
It is the spatial idea of the project.</a:t>
            </a:r>
          </a:p>
        </p:txBody>
      </p:sp>
      <p:sp>
        <p:nvSpPr>
          <p:cNvPr id="8" name="Freeform"/>
          <p:cNvSpPr/>
          <p:nvPr/>
        </p:nvSpPr>
        <p:spPr>
          <a:xfrm>
            <a:off x="7891272" y="1012371"/>
            <a:ext cx="1457814" cy="607422"/>
          </a:xfrm>
          <a:custGeom>
            <a:avLst/>
            <a:gdLst/>
            <a:pathLst>
              <a:path w="1457814" h="607422">
                <a:moveTo>
                  <a:pt x="0" y="0"/>
                </a:moveTo>
                <a:lnTo>
                  <a:pt x="1457814" y="607422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9" name="Freeform"/>
          <p:cNvSpPr/>
          <p:nvPr/>
        </p:nvSpPr>
        <p:spPr>
          <a:xfrm>
            <a:off x="9349086" y="1619794"/>
            <a:ext cx="607422" cy="1214845"/>
          </a:xfrm>
          <a:custGeom>
            <a:avLst/>
            <a:gdLst/>
            <a:pathLst>
              <a:path w="607422" h="1214845">
                <a:moveTo>
                  <a:pt x="0" y="0"/>
                </a:moveTo>
                <a:lnTo>
                  <a:pt x="607422" y="1214845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0" name="Freeform"/>
          <p:cNvSpPr/>
          <p:nvPr/>
        </p:nvSpPr>
        <p:spPr>
          <a:xfrm>
            <a:off x="9349086" y="2834640"/>
            <a:ext cx="607422" cy="1214845"/>
          </a:xfrm>
          <a:custGeom>
            <a:avLst/>
            <a:gdLst/>
            <a:pathLst>
              <a:path w="607422" h="1214845">
                <a:moveTo>
                  <a:pt x="607422" y="0"/>
                </a:moveTo>
                <a:lnTo>
                  <a:pt x="0" y="1214845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1" name="Freeform"/>
          <p:cNvSpPr/>
          <p:nvPr/>
        </p:nvSpPr>
        <p:spPr>
          <a:xfrm>
            <a:off x="7891272" y="4049485"/>
            <a:ext cx="1457814" cy="607422"/>
          </a:xfrm>
          <a:custGeom>
            <a:avLst/>
            <a:gdLst/>
            <a:pathLst>
              <a:path w="1457814" h="607422">
                <a:moveTo>
                  <a:pt x="1457814" y="0"/>
                </a:moveTo>
                <a:lnTo>
                  <a:pt x="0" y="607422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2" name="Freeform"/>
          <p:cNvSpPr/>
          <p:nvPr/>
        </p:nvSpPr>
        <p:spPr>
          <a:xfrm>
            <a:off x="6433457" y="4049485"/>
            <a:ext cx="1457814" cy="607422"/>
          </a:xfrm>
          <a:custGeom>
            <a:avLst/>
            <a:gdLst/>
            <a:pathLst>
              <a:path w="1457814" h="607422">
                <a:moveTo>
                  <a:pt x="1457814" y="607422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3" name="Freeform"/>
          <p:cNvSpPr/>
          <p:nvPr/>
        </p:nvSpPr>
        <p:spPr>
          <a:xfrm>
            <a:off x="5826034" y="2834640"/>
            <a:ext cx="607422" cy="1214845"/>
          </a:xfrm>
          <a:custGeom>
            <a:avLst/>
            <a:gdLst/>
            <a:pathLst>
              <a:path w="607422" h="1214845">
                <a:moveTo>
                  <a:pt x="607422" y="1214845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4" name="Freeform"/>
          <p:cNvSpPr/>
          <p:nvPr/>
        </p:nvSpPr>
        <p:spPr>
          <a:xfrm>
            <a:off x="5826034" y="1619794"/>
            <a:ext cx="607422" cy="1214845"/>
          </a:xfrm>
          <a:custGeom>
            <a:avLst/>
            <a:gdLst/>
            <a:pathLst>
              <a:path w="607422" h="1214845">
                <a:moveTo>
                  <a:pt x="0" y="1214845"/>
                </a:moveTo>
                <a:lnTo>
                  <a:pt x="607422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5" name="Freeform"/>
          <p:cNvSpPr/>
          <p:nvPr/>
        </p:nvSpPr>
        <p:spPr>
          <a:xfrm>
            <a:off x="6433457" y="1012371"/>
            <a:ext cx="1457814" cy="607422"/>
          </a:xfrm>
          <a:custGeom>
            <a:avLst/>
            <a:gdLst/>
            <a:pathLst>
              <a:path w="1457814" h="607422">
                <a:moveTo>
                  <a:pt x="0" y="607422"/>
                </a:moveTo>
                <a:lnTo>
                  <a:pt x="1457814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6" name="Freeform"/>
          <p:cNvSpPr/>
          <p:nvPr/>
        </p:nvSpPr>
        <p:spPr>
          <a:xfrm>
            <a:off x="7891272" y="1417319"/>
            <a:ext cx="1174350" cy="485938"/>
          </a:xfrm>
          <a:custGeom>
            <a:avLst/>
            <a:gdLst/>
            <a:pathLst>
              <a:path w="1174350" h="485938">
                <a:moveTo>
                  <a:pt x="0" y="0"/>
                </a:moveTo>
                <a:lnTo>
                  <a:pt x="1174350" y="485938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7" name="Freeform"/>
          <p:cNvSpPr/>
          <p:nvPr/>
        </p:nvSpPr>
        <p:spPr>
          <a:xfrm>
            <a:off x="9065622" y="1903258"/>
            <a:ext cx="485938" cy="931381"/>
          </a:xfrm>
          <a:custGeom>
            <a:avLst/>
            <a:gdLst/>
            <a:pathLst>
              <a:path w="485938" h="931381">
                <a:moveTo>
                  <a:pt x="0" y="0"/>
                </a:moveTo>
                <a:lnTo>
                  <a:pt x="485938" y="931381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8" name="Freeform"/>
          <p:cNvSpPr/>
          <p:nvPr/>
        </p:nvSpPr>
        <p:spPr>
          <a:xfrm>
            <a:off x="9065622" y="2834640"/>
            <a:ext cx="485938" cy="931381"/>
          </a:xfrm>
          <a:custGeom>
            <a:avLst/>
            <a:gdLst/>
            <a:pathLst>
              <a:path w="485938" h="931381">
                <a:moveTo>
                  <a:pt x="485938" y="0"/>
                </a:moveTo>
                <a:lnTo>
                  <a:pt x="0" y="931381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9" name="Freeform"/>
          <p:cNvSpPr/>
          <p:nvPr/>
        </p:nvSpPr>
        <p:spPr>
          <a:xfrm>
            <a:off x="7891272" y="3766021"/>
            <a:ext cx="1174350" cy="485938"/>
          </a:xfrm>
          <a:custGeom>
            <a:avLst/>
            <a:gdLst/>
            <a:pathLst>
              <a:path w="1174350" h="485938">
                <a:moveTo>
                  <a:pt x="1174350" y="0"/>
                </a:moveTo>
                <a:lnTo>
                  <a:pt x="0" y="485938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20" name="Freeform"/>
          <p:cNvSpPr/>
          <p:nvPr/>
        </p:nvSpPr>
        <p:spPr>
          <a:xfrm>
            <a:off x="6716921" y="3766021"/>
            <a:ext cx="1174350" cy="485938"/>
          </a:xfrm>
          <a:custGeom>
            <a:avLst/>
            <a:gdLst/>
            <a:pathLst>
              <a:path w="1174350" h="485938">
                <a:moveTo>
                  <a:pt x="1174350" y="485938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21" name="Freeform"/>
          <p:cNvSpPr/>
          <p:nvPr/>
        </p:nvSpPr>
        <p:spPr>
          <a:xfrm>
            <a:off x="6230982" y="2834640"/>
            <a:ext cx="485938" cy="931381"/>
          </a:xfrm>
          <a:custGeom>
            <a:avLst/>
            <a:gdLst/>
            <a:pathLst>
              <a:path w="485938" h="931381">
                <a:moveTo>
                  <a:pt x="485938" y="931381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22" name="Freeform"/>
          <p:cNvSpPr/>
          <p:nvPr/>
        </p:nvSpPr>
        <p:spPr>
          <a:xfrm>
            <a:off x="6230982" y="1903258"/>
            <a:ext cx="485938" cy="931381"/>
          </a:xfrm>
          <a:custGeom>
            <a:avLst/>
            <a:gdLst/>
            <a:pathLst>
              <a:path w="485938" h="931381">
                <a:moveTo>
                  <a:pt x="0" y="931381"/>
                </a:moveTo>
                <a:lnTo>
                  <a:pt x="485938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23" name="Freeform"/>
          <p:cNvSpPr/>
          <p:nvPr/>
        </p:nvSpPr>
        <p:spPr>
          <a:xfrm>
            <a:off x="6716921" y="1417319"/>
            <a:ext cx="1174350" cy="485938"/>
          </a:xfrm>
          <a:custGeom>
            <a:avLst/>
            <a:gdLst/>
            <a:pathLst>
              <a:path w="1174350" h="485938">
                <a:moveTo>
                  <a:pt x="0" y="485938"/>
                </a:moveTo>
                <a:lnTo>
                  <a:pt x="1174350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24" name="Freeform"/>
          <p:cNvSpPr/>
          <p:nvPr/>
        </p:nvSpPr>
        <p:spPr>
          <a:xfrm>
            <a:off x="7891272" y="1012371"/>
            <a:ext cx="0" cy="3644537"/>
          </a:xfrm>
          <a:custGeom>
            <a:avLst/>
            <a:gdLst/>
            <a:pathLst>
              <a:path w="0" h="3644537">
                <a:moveTo>
                  <a:pt x="0" y="0"/>
                </a:moveTo>
                <a:lnTo>
                  <a:pt x="0" y="3644537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25" name="Freeform"/>
          <p:cNvSpPr/>
          <p:nvPr/>
        </p:nvSpPr>
        <p:spPr>
          <a:xfrm>
            <a:off x="5826034" y="2834640"/>
            <a:ext cx="4130475" cy="0"/>
          </a:xfrm>
          <a:custGeom>
            <a:avLst/>
            <a:gdLst/>
            <a:pathLst>
              <a:path w="4130475" h="0">
                <a:moveTo>
                  <a:pt x="0" y="0"/>
                </a:moveTo>
                <a:lnTo>
                  <a:pt x="4130475" y="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26" name="Freeform"/>
          <p:cNvSpPr/>
          <p:nvPr/>
        </p:nvSpPr>
        <p:spPr>
          <a:xfrm>
            <a:off x="7891272" y="583125"/>
            <a:ext cx="0" cy="4357246"/>
          </a:xfrm>
          <a:custGeom>
            <a:avLst/>
            <a:gdLst/>
            <a:pathLst>
              <a:path w="0" h="4357246">
                <a:moveTo>
                  <a:pt x="0" y="0"/>
                </a:moveTo>
                <a:lnTo>
                  <a:pt x="0" y="4357246"/>
                </a:lnTo>
                <a:close/>
              </a:path>
            </a:pathLst>
          </a:custGeom>
          <a:solidFill>
            <a:srgbClr val="FFFFFF"/>
          </a:solidFill>
          <a:ln w="14604">
            <a:solidFill>
              <a:srgbClr val="B18C58"/>
            </a:solidFill>
          </a:ln>
        </p:spPr>
      </p:sp>
      <p:sp>
        <p:nvSpPr>
          <p:cNvPr id="27" name="Freeform"/>
          <p:cNvSpPr/>
          <p:nvPr/>
        </p:nvSpPr>
        <p:spPr>
          <a:xfrm>
            <a:off x="5493976" y="2834640"/>
            <a:ext cx="4794591" cy="0"/>
          </a:xfrm>
          <a:custGeom>
            <a:avLst/>
            <a:gdLst/>
            <a:pathLst>
              <a:path w="4794591" h="0">
                <a:moveTo>
                  <a:pt x="0" y="0"/>
                </a:moveTo>
                <a:lnTo>
                  <a:pt x="4794591" y="0"/>
                </a:lnTo>
                <a:close/>
              </a:path>
            </a:pathLst>
          </a:custGeom>
          <a:solidFill>
            <a:srgbClr val="FFFFFF"/>
          </a:solidFill>
          <a:ln w="14604">
            <a:solidFill>
              <a:srgbClr val="B18C58"/>
            </a:solidFill>
          </a:ln>
        </p:spPr>
      </p:sp>
      <p:sp>
        <p:nvSpPr>
          <p:cNvPr id="28" name="Freeform"/>
          <p:cNvSpPr/>
          <p:nvPr/>
        </p:nvSpPr>
        <p:spPr>
          <a:xfrm>
            <a:off x="7850777" y="971876"/>
            <a:ext cx="80989" cy="80989"/>
          </a:xfrm>
          <a:custGeom>
            <a:avLst/>
            <a:gdLst/>
            <a:pathLst>
              <a:path w="80989" h="80989">
                <a:moveTo>
                  <a:pt x="80989" y="40494"/>
                </a:moveTo>
                <a:cubicBezTo>
                  <a:pt x="80989" y="18130"/>
                  <a:pt x="62858" y="0"/>
                  <a:pt x="40494" y="0"/>
                </a:cubicBezTo>
                <a:cubicBezTo>
                  <a:pt x="18130" y="0"/>
                  <a:pt x="0" y="18130"/>
                  <a:pt x="0" y="40494"/>
                </a:cubicBezTo>
                <a:cubicBezTo>
                  <a:pt x="0" y="62858"/>
                  <a:pt x="18130" y="80989"/>
                  <a:pt x="40494" y="80989"/>
                </a:cubicBezTo>
                <a:cubicBezTo>
                  <a:pt x="62858" y="80989"/>
                  <a:pt x="80989" y="62858"/>
                  <a:pt x="80989" y="40494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29" name="Freeform"/>
          <p:cNvSpPr/>
          <p:nvPr/>
        </p:nvSpPr>
        <p:spPr>
          <a:xfrm>
            <a:off x="9924113" y="2802244"/>
            <a:ext cx="64791" cy="64791"/>
          </a:xfrm>
          <a:custGeom>
            <a:avLst/>
            <a:gdLst/>
            <a:pathLst>
              <a:path w="64791" h="64791">
                <a:moveTo>
                  <a:pt x="64791" y="32395"/>
                </a:moveTo>
                <a:cubicBezTo>
                  <a:pt x="64791" y="14503"/>
                  <a:pt x="50287" y="0"/>
                  <a:pt x="32395" y="0"/>
                </a:cubicBezTo>
                <a:cubicBezTo>
                  <a:pt x="14503" y="0"/>
                  <a:pt x="0" y="14503"/>
                  <a:pt x="0" y="32395"/>
                </a:cubicBezTo>
                <a:cubicBezTo>
                  <a:pt x="0" y="50287"/>
                  <a:pt x="14503" y="64791"/>
                  <a:pt x="32395" y="64791"/>
                </a:cubicBezTo>
                <a:cubicBezTo>
                  <a:pt x="50287" y="64791"/>
                  <a:pt x="64791" y="50287"/>
                  <a:pt x="64791" y="32395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30" name="Freeform"/>
          <p:cNvSpPr/>
          <p:nvPr/>
        </p:nvSpPr>
        <p:spPr>
          <a:xfrm>
            <a:off x="7850777" y="4616413"/>
            <a:ext cx="80989" cy="80989"/>
          </a:xfrm>
          <a:custGeom>
            <a:avLst/>
            <a:gdLst/>
            <a:pathLst>
              <a:path w="80989" h="80989">
                <a:moveTo>
                  <a:pt x="80989" y="40494"/>
                </a:moveTo>
                <a:cubicBezTo>
                  <a:pt x="80989" y="18130"/>
                  <a:pt x="62858" y="0"/>
                  <a:pt x="40494" y="0"/>
                </a:cubicBezTo>
                <a:cubicBezTo>
                  <a:pt x="18130" y="0"/>
                  <a:pt x="0" y="18130"/>
                  <a:pt x="0" y="40494"/>
                </a:cubicBezTo>
                <a:cubicBezTo>
                  <a:pt x="0" y="62858"/>
                  <a:pt x="18130" y="80989"/>
                  <a:pt x="40494" y="80989"/>
                </a:cubicBezTo>
                <a:cubicBezTo>
                  <a:pt x="62858" y="80989"/>
                  <a:pt x="80989" y="62858"/>
                  <a:pt x="80989" y="40494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31" name="Freeform"/>
          <p:cNvSpPr/>
          <p:nvPr/>
        </p:nvSpPr>
        <p:spPr>
          <a:xfrm>
            <a:off x="5793638" y="2802244"/>
            <a:ext cx="64791" cy="64791"/>
          </a:xfrm>
          <a:custGeom>
            <a:avLst/>
            <a:gdLst/>
            <a:pathLst>
              <a:path w="64791" h="64791">
                <a:moveTo>
                  <a:pt x="64791" y="32395"/>
                </a:moveTo>
                <a:cubicBezTo>
                  <a:pt x="64791" y="14503"/>
                  <a:pt x="50287" y="0"/>
                  <a:pt x="32395" y="0"/>
                </a:cubicBezTo>
                <a:cubicBezTo>
                  <a:pt x="14503" y="0"/>
                  <a:pt x="0" y="14503"/>
                  <a:pt x="0" y="32395"/>
                </a:cubicBezTo>
                <a:cubicBezTo>
                  <a:pt x="0" y="50287"/>
                  <a:pt x="14503" y="64791"/>
                  <a:pt x="32395" y="64791"/>
                </a:cubicBezTo>
                <a:cubicBezTo>
                  <a:pt x="50287" y="64791"/>
                  <a:pt x="64791" y="50287"/>
                  <a:pt x="64791" y="32395"/>
                </a:cubicBezTo>
                <a:close/>
              </a:path>
            </a:pathLst>
          </a:custGeom>
          <a:solidFill>
            <a:srgbClr val="7D9499"/>
          </a:solidFill>
          <a:ln w="12700">
            <a:noFill/>
          </a:ln>
        </p:spPr>
      </p:sp>
      <p:sp>
        <p:nvSpPr>
          <p:cNvPr id="32" name="Freeform"/>
          <p:cNvSpPr/>
          <p:nvPr/>
        </p:nvSpPr>
        <p:spPr>
          <a:xfrm>
            <a:off x="7858876" y="2802244"/>
            <a:ext cx="64791" cy="64791"/>
          </a:xfrm>
          <a:custGeom>
            <a:avLst/>
            <a:gdLst/>
            <a:pathLst>
              <a:path w="64791" h="64791">
                <a:moveTo>
                  <a:pt x="64791" y="32395"/>
                </a:moveTo>
                <a:cubicBezTo>
                  <a:pt x="64791" y="14503"/>
                  <a:pt x="50287" y="0"/>
                  <a:pt x="32395" y="0"/>
                </a:cubicBezTo>
                <a:cubicBezTo>
                  <a:pt x="14503" y="0"/>
                  <a:pt x="0" y="14503"/>
                  <a:pt x="0" y="32395"/>
                </a:cubicBezTo>
                <a:cubicBezTo>
                  <a:pt x="0" y="50287"/>
                  <a:pt x="14503" y="64791"/>
                  <a:pt x="32395" y="64791"/>
                </a:cubicBezTo>
                <a:cubicBezTo>
                  <a:pt x="50287" y="64791"/>
                  <a:pt x="64791" y="50287"/>
                  <a:pt x="64791" y="32395"/>
                </a:cubicBezTo>
                <a:close/>
              </a:path>
            </a:pathLst>
          </a:custGeom>
          <a:solidFill>
            <a:srgbClr val="7D9499"/>
          </a:solidFill>
          <a:ln w="12700">
            <a:noFill/>
          </a:ln>
        </p:spPr>
      </p:sp>
      <p:sp>
        <p:nvSpPr>
          <p:cNvPr id="33" name="Freeform"/>
          <p:cNvSpPr/>
          <p:nvPr/>
        </p:nvSpPr>
        <p:spPr>
          <a:xfrm>
            <a:off x="9041325" y="1878961"/>
            <a:ext cx="48593" cy="48593"/>
          </a:xfrm>
          <a:custGeom>
            <a:avLst/>
            <a:gdLst/>
            <a:pathLst>
              <a:path w="48593" h="48593">
                <a:moveTo>
                  <a:pt x="48593" y="24296"/>
                </a:moveTo>
                <a:cubicBezTo>
                  <a:pt x="48593" y="10877"/>
                  <a:pt x="37715" y="0"/>
                  <a:pt x="24296" y="0"/>
                </a:cubicBezTo>
                <a:cubicBezTo>
                  <a:pt x="10877" y="0"/>
                  <a:pt x="0" y="10877"/>
                  <a:pt x="0" y="24296"/>
                </a:cubicBezTo>
                <a:cubicBezTo>
                  <a:pt x="0" y="37715"/>
                  <a:pt x="10877" y="48593"/>
                  <a:pt x="24296" y="48593"/>
                </a:cubicBezTo>
                <a:cubicBezTo>
                  <a:pt x="37715" y="48593"/>
                  <a:pt x="48593" y="37715"/>
                  <a:pt x="48593" y="24296"/>
                </a:cubicBezTo>
                <a:close/>
              </a:path>
            </a:pathLst>
          </a:custGeom>
          <a:solidFill>
            <a:srgbClr val="7D9499"/>
          </a:solidFill>
          <a:ln w="12700">
            <a:noFill/>
          </a:ln>
        </p:spPr>
      </p:sp>
      <p:sp>
        <p:nvSpPr>
          <p:cNvPr id="34" name="Rectangle 33"/>
          <p:cNvSpPr/>
          <p:nvPr/>
        </p:nvSpPr>
        <p:spPr>
          <a:xfrm>
            <a:off x="4791456" y="5404104"/>
            <a:ext cx="6291072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5605272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252D"/>
                </a:solidFill>
                <a:latin typeface="Arial Narrow"/>
              </a:rPr>
              <a:t>36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769864"/>
            <a:ext cx="1463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586A73"/>
                </a:solidFill>
                <a:latin typeface="Arial Narrow"/>
              </a:rPr>
              <a:t>DOME ABOVE GROUND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5605272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252D"/>
                </a:solidFill>
                <a:latin typeface="Arial Narrow"/>
              </a:rPr>
              <a:t>7,500 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7232" y="5769864"/>
            <a:ext cx="1060704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586A73"/>
                </a:solidFill>
                <a:latin typeface="Arial Narrow"/>
              </a:rPr>
              <a:t>DOME WEIGHT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6318504"/>
            <a:ext cx="321868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586A73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20877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CCD4D3"/>
                </a:solidFill>
                <a:latin typeface="Georgi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21207"/>
            <a:ext cx="21945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3C1C4"/>
                </a:solidFill>
                <a:latin typeface="Arial Narrow"/>
              </a:rPr>
              <a:t>06  /  SPATIAL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96696"/>
            <a:ext cx="5623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F6F6F1"/>
                </a:solidFill>
                <a:latin typeface="Georgia"/>
              </a:rPr>
              <a:t>WALK  /  PAUSE  / 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7112" y="1161288"/>
            <a:ext cx="25146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60" b="1">
                <a:solidFill>
                  <a:srgbClr val="B18C58"/>
                </a:solidFill>
                <a:latin typeface="Arial Narrow"/>
              </a:rPr>
              <a:t>A MUSEUM DESIGNED AS A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746504"/>
            <a:ext cx="10972800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e1a686ac60da072e8160be734c2fde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03120"/>
            <a:ext cx="3291840" cy="3419856"/>
          </a:xfrm>
          <a:prstGeom prst="rect">
            <a:avLst/>
          </a:prstGeom>
        </p:spPr>
      </p:pic>
      <p:pic>
        <p:nvPicPr>
          <p:cNvPr id="8" name="Picture 7" descr="fd661c9d268c7e3949f736a379db9b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103120"/>
            <a:ext cx="3291840" cy="3419856"/>
          </a:xfrm>
          <a:prstGeom prst="rect">
            <a:avLst/>
          </a:prstGeom>
        </p:spPr>
      </p:pic>
      <p:pic>
        <p:nvPicPr>
          <p:cNvPr id="9" name="Picture 8" descr="1349f3adf38b16ca5dff4c5fd44221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2103120"/>
            <a:ext cx="3291840" cy="3419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788152"/>
            <a:ext cx="2423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B3C1C4"/>
                </a:solidFill>
                <a:latin typeface="Arial Narrow"/>
              </a:rPr>
              <a:t>01  /  FILTERED DAYLIGHT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1376" y="5788152"/>
            <a:ext cx="23317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B3C1C4"/>
                </a:solidFill>
                <a:latin typeface="Arial Narrow"/>
              </a:rPr>
              <a:t>02  /  CITY + SEA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5788152"/>
            <a:ext cx="2514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B3C1C4"/>
                </a:solidFill>
                <a:latin typeface="Arial Narrow"/>
              </a:rPr>
              <a:t>03  /  CIVIC WATERROOM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6336792"/>
            <a:ext cx="3675887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B18C58"/>
                </a:solidFill>
                <a:latin typeface="Arial Narrow"/>
              </a:rPr>
              <a:t>THREE ATMOSPHERES, ONE CONTINUOUS 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1944" y="618134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48626B"/>
                </a:solidFill>
                <a:latin typeface="Georgi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b4425e90e53fbc8637dd6a1de677a0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995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995928"/>
            <a:ext cx="12191695" cy="2862072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325112"/>
            <a:ext cx="2377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86A73"/>
                </a:solidFill>
                <a:latin typeface="Arial Narrow"/>
              </a:rPr>
              <a:t>07  /  MATERIAL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4782312"/>
            <a:ext cx="5925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0">
                <a:solidFill>
                  <a:srgbClr val="16252D"/>
                </a:solidFill>
                <a:latin typeface="Georgia"/>
              </a:rPr>
              <a:t>MATERIAL IS A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686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1">
                <a:solidFill>
                  <a:srgbClr val="16252D"/>
                </a:solidFill>
                <a:latin typeface="Arial Narrow"/>
              </a:rPr>
              <a:t>Steel, aluminium and patterned voids work as a single
optical instrument between sky and ground.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1775" y="4325112"/>
            <a:ext cx="21945" cy="1810512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44383" y="445312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6252D"/>
                </a:solidFill>
                <a:latin typeface="Arial Narrow"/>
              </a:rPr>
              <a:t>8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6" y="4882896"/>
            <a:ext cx="3081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586A73"/>
                </a:solidFill>
                <a:latin typeface="Arial Narrow"/>
              </a:rPr>
              <a:t>4 STAINLESS STEEL / 4 ALUMINIUM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4383" y="5394960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86A73"/>
                </a:solidFill>
                <a:latin typeface="Arial"/>
              </a:rPr>
              <a:t>The roof permits daylight
without excessive heat or wind.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6473952"/>
            <a:ext cx="321868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586A73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1944" y="639165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CCD4D3"/>
                </a:solidFill>
                <a:latin typeface="Georgi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"/>
          <p:cNvSpPr/>
          <p:nvPr/>
        </p:nvSpPr>
        <p:spPr>
          <a:xfrm>
            <a:off x="7146950" y="1238390"/>
            <a:ext cx="1039489" cy="430133"/>
          </a:xfrm>
          <a:custGeom>
            <a:avLst/>
            <a:gdLst/>
            <a:pathLst>
              <a:path w="1039489" h="430133">
                <a:moveTo>
                  <a:pt x="0" y="0"/>
                </a:moveTo>
                <a:lnTo>
                  <a:pt x="1039489" y="43013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4" name="Freeform"/>
          <p:cNvSpPr/>
          <p:nvPr/>
        </p:nvSpPr>
        <p:spPr>
          <a:xfrm>
            <a:off x="8186440" y="1668523"/>
            <a:ext cx="430133" cy="1017983"/>
          </a:xfrm>
          <a:custGeom>
            <a:avLst/>
            <a:gdLst/>
            <a:pathLst>
              <a:path w="430133" h="1017983">
                <a:moveTo>
                  <a:pt x="0" y="0"/>
                </a:moveTo>
                <a:lnTo>
                  <a:pt x="430133" y="101798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5" name="Freeform"/>
          <p:cNvSpPr/>
          <p:nvPr/>
        </p:nvSpPr>
        <p:spPr>
          <a:xfrm>
            <a:off x="8186440" y="2686507"/>
            <a:ext cx="430133" cy="1017983"/>
          </a:xfrm>
          <a:custGeom>
            <a:avLst/>
            <a:gdLst/>
            <a:pathLst>
              <a:path w="430133" h="1017983">
                <a:moveTo>
                  <a:pt x="430133" y="0"/>
                </a:moveTo>
                <a:lnTo>
                  <a:pt x="0" y="101798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6" name="Freeform"/>
          <p:cNvSpPr/>
          <p:nvPr/>
        </p:nvSpPr>
        <p:spPr>
          <a:xfrm>
            <a:off x="7146950" y="3704490"/>
            <a:ext cx="1039489" cy="430133"/>
          </a:xfrm>
          <a:custGeom>
            <a:avLst/>
            <a:gdLst/>
            <a:pathLst>
              <a:path w="1039489" h="430133">
                <a:moveTo>
                  <a:pt x="1039489" y="0"/>
                </a:moveTo>
                <a:lnTo>
                  <a:pt x="0" y="43013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7" name="Freeform"/>
          <p:cNvSpPr/>
          <p:nvPr/>
        </p:nvSpPr>
        <p:spPr>
          <a:xfrm>
            <a:off x="6107460" y="3704490"/>
            <a:ext cx="1039489" cy="430133"/>
          </a:xfrm>
          <a:custGeom>
            <a:avLst/>
            <a:gdLst/>
            <a:pathLst>
              <a:path w="1039489" h="430133">
                <a:moveTo>
                  <a:pt x="1039489" y="430133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8" name="Freeform"/>
          <p:cNvSpPr/>
          <p:nvPr/>
        </p:nvSpPr>
        <p:spPr>
          <a:xfrm>
            <a:off x="5677326" y="2686507"/>
            <a:ext cx="430133" cy="1017983"/>
          </a:xfrm>
          <a:custGeom>
            <a:avLst/>
            <a:gdLst/>
            <a:pathLst>
              <a:path w="430133" h="1017983">
                <a:moveTo>
                  <a:pt x="430133" y="1017983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9" name="Freeform"/>
          <p:cNvSpPr/>
          <p:nvPr/>
        </p:nvSpPr>
        <p:spPr>
          <a:xfrm>
            <a:off x="5677326" y="1668523"/>
            <a:ext cx="430133" cy="1017983"/>
          </a:xfrm>
          <a:custGeom>
            <a:avLst/>
            <a:gdLst/>
            <a:pathLst>
              <a:path w="430133" h="1017983">
                <a:moveTo>
                  <a:pt x="0" y="1017983"/>
                </a:moveTo>
                <a:lnTo>
                  <a:pt x="430133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0" name="Freeform"/>
          <p:cNvSpPr/>
          <p:nvPr/>
        </p:nvSpPr>
        <p:spPr>
          <a:xfrm>
            <a:off x="6107460" y="1238390"/>
            <a:ext cx="1039489" cy="430133"/>
          </a:xfrm>
          <a:custGeom>
            <a:avLst/>
            <a:gdLst/>
            <a:pathLst>
              <a:path w="1039489" h="430133">
                <a:moveTo>
                  <a:pt x="0" y="430133"/>
                </a:moveTo>
                <a:lnTo>
                  <a:pt x="1039489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1" name="Freeform"/>
          <p:cNvSpPr/>
          <p:nvPr/>
        </p:nvSpPr>
        <p:spPr>
          <a:xfrm>
            <a:off x="9154241" y="1955279"/>
            <a:ext cx="860267" cy="358444"/>
          </a:xfrm>
          <a:custGeom>
            <a:avLst/>
            <a:gdLst/>
            <a:pathLst>
              <a:path w="860267" h="358444">
                <a:moveTo>
                  <a:pt x="0" y="0"/>
                </a:moveTo>
                <a:lnTo>
                  <a:pt x="860267" y="358444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2" name="Freeform"/>
          <p:cNvSpPr/>
          <p:nvPr/>
        </p:nvSpPr>
        <p:spPr>
          <a:xfrm>
            <a:off x="10014508" y="2313724"/>
            <a:ext cx="358444" cy="860267"/>
          </a:xfrm>
          <a:custGeom>
            <a:avLst/>
            <a:gdLst/>
            <a:pathLst>
              <a:path w="358444" h="860267">
                <a:moveTo>
                  <a:pt x="0" y="0"/>
                </a:moveTo>
                <a:lnTo>
                  <a:pt x="358444" y="860267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3" name="Freeform"/>
          <p:cNvSpPr/>
          <p:nvPr/>
        </p:nvSpPr>
        <p:spPr>
          <a:xfrm>
            <a:off x="10014508" y="3173992"/>
            <a:ext cx="358444" cy="860267"/>
          </a:xfrm>
          <a:custGeom>
            <a:avLst/>
            <a:gdLst/>
            <a:pathLst>
              <a:path w="358444" h="860267">
                <a:moveTo>
                  <a:pt x="358444" y="0"/>
                </a:moveTo>
                <a:lnTo>
                  <a:pt x="0" y="860267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4" name="Freeform"/>
          <p:cNvSpPr/>
          <p:nvPr/>
        </p:nvSpPr>
        <p:spPr>
          <a:xfrm>
            <a:off x="9154241" y="4034259"/>
            <a:ext cx="860267" cy="358444"/>
          </a:xfrm>
          <a:custGeom>
            <a:avLst/>
            <a:gdLst/>
            <a:pathLst>
              <a:path w="860267" h="358444">
                <a:moveTo>
                  <a:pt x="860267" y="0"/>
                </a:moveTo>
                <a:lnTo>
                  <a:pt x="0" y="358444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5" name="Freeform"/>
          <p:cNvSpPr/>
          <p:nvPr/>
        </p:nvSpPr>
        <p:spPr>
          <a:xfrm>
            <a:off x="8293973" y="4034259"/>
            <a:ext cx="860267" cy="358444"/>
          </a:xfrm>
          <a:custGeom>
            <a:avLst/>
            <a:gdLst/>
            <a:pathLst>
              <a:path w="860267" h="358444">
                <a:moveTo>
                  <a:pt x="860267" y="358444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6" name="Freeform"/>
          <p:cNvSpPr/>
          <p:nvPr/>
        </p:nvSpPr>
        <p:spPr>
          <a:xfrm>
            <a:off x="7935528" y="3173992"/>
            <a:ext cx="358444" cy="860267"/>
          </a:xfrm>
          <a:custGeom>
            <a:avLst/>
            <a:gdLst/>
            <a:pathLst>
              <a:path w="358444" h="860267">
                <a:moveTo>
                  <a:pt x="358444" y="860267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7" name="Freeform"/>
          <p:cNvSpPr/>
          <p:nvPr/>
        </p:nvSpPr>
        <p:spPr>
          <a:xfrm>
            <a:off x="7935528" y="2313724"/>
            <a:ext cx="358444" cy="860267"/>
          </a:xfrm>
          <a:custGeom>
            <a:avLst/>
            <a:gdLst/>
            <a:pathLst>
              <a:path w="358444" h="860267">
                <a:moveTo>
                  <a:pt x="0" y="860267"/>
                </a:moveTo>
                <a:lnTo>
                  <a:pt x="358444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8" name="Freeform"/>
          <p:cNvSpPr/>
          <p:nvPr/>
        </p:nvSpPr>
        <p:spPr>
          <a:xfrm>
            <a:off x="8293973" y="1955279"/>
            <a:ext cx="860267" cy="358444"/>
          </a:xfrm>
          <a:custGeom>
            <a:avLst/>
            <a:gdLst/>
            <a:pathLst>
              <a:path w="860267" h="358444">
                <a:moveTo>
                  <a:pt x="0" y="358444"/>
                </a:moveTo>
                <a:lnTo>
                  <a:pt x="860267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19" name="Freeform"/>
          <p:cNvSpPr/>
          <p:nvPr/>
        </p:nvSpPr>
        <p:spPr>
          <a:xfrm>
            <a:off x="7146950" y="1238390"/>
            <a:ext cx="0" cy="2896233"/>
          </a:xfrm>
          <a:custGeom>
            <a:avLst/>
            <a:gdLst/>
            <a:pathLst>
              <a:path w="0" h="2896233">
                <a:moveTo>
                  <a:pt x="0" y="0"/>
                </a:moveTo>
                <a:lnTo>
                  <a:pt x="0" y="289623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20" name="Freeform"/>
          <p:cNvSpPr/>
          <p:nvPr/>
        </p:nvSpPr>
        <p:spPr>
          <a:xfrm>
            <a:off x="5677326" y="2686507"/>
            <a:ext cx="2939247" cy="0"/>
          </a:xfrm>
          <a:custGeom>
            <a:avLst/>
            <a:gdLst/>
            <a:pathLst>
              <a:path w="2939247" h="0">
                <a:moveTo>
                  <a:pt x="0" y="0"/>
                </a:moveTo>
                <a:lnTo>
                  <a:pt x="2939247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38535D"/>
            </a:solidFill>
          </a:ln>
        </p:spPr>
      </p:sp>
      <p:sp>
        <p:nvSpPr>
          <p:cNvPr id="21" name="Freeform"/>
          <p:cNvSpPr/>
          <p:nvPr/>
        </p:nvSpPr>
        <p:spPr>
          <a:xfrm>
            <a:off x="7125443" y="1216883"/>
            <a:ext cx="43013" cy="43013"/>
          </a:xfrm>
          <a:custGeom>
            <a:avLst/>
            <a:gdLst/>
            <a:pathLst>
              <a:path w="43013" h="43013">
                <a:moveTo>
                  <a:pt x="43013" y="21506"/>
                </a:moveTo>
                <a:cubicBezTo>
                  <a:pt x="43013" y="9628"/>
                  <a:pt x="33384" y="0"/>
                  <a:pt x="21506" y="0"/>
                </a:cubicBezTo>
                <a:cubicBezTo>
                  <a:pt x="9628" y="0"/>
                  <a:pt x="0" y="9628"/>
                  <a:pt x="0" y="21506"/>
                </a:cubicBezTo>
                <a:cubicBezTo>
                  <a:pt x="0" y="33384"/>
                  <a:pt x="9628" y="43013"/>
                  <a:pt x="21506" y="43013"/>
                </a:cubicBezTo>
                <a:cubicBezTo>
                  <a:pt x="33384" y="43013"/>
                  <a:pt x="43013" y="33384"/>
                  <a:pt x="43013" y="21506"/>
                </a:cubicBezTo>
                <a:close/>
              </a:path>
            </a:pathLst>
          </a:custGeom>
          <a:solidFill>
            <a:srgbClr val="536D75"/>
          </a:solidFill>
          <a:ln w="12700">
            <a:noFill/>
          </a:ln>
        </p:spPr>
      </p:sp>
      <p:sp>
        <p:nvSpPr>
          <p:cNvPr id="22" name="Freeform"/>
          <p:cNvSpPr/>
          <p:nvPr/>
        </p:nvSpPr>
        <p:spPr>
          <a:xfrm>
            <a:off x="8595067" y="2665000"/>
            <a:ext cx="43013" cy="43013"/>
          </a:xfrm>
          <a:custGeom>
            <a:avLst/>
            <a:gdLst/>
            <a:pathLst>
              <a:path w="43013" h="43013">
                <a:moveTo>
                  <a:pt x="43013" y="21506"/>
                </a:moveTo>
                <a:cubicBezTo>
                  <a:pt x="43013" y="9628"/>
                  <a:pt x="33384" y="0"/>
                  <a:pt x="21506" y="0"/>
                </a:cubicBezTo>
                <a:cubicBezTo>
                  <a:pt x="9628" y="0"/>
                  <a:pt x="0" y="9628"/>
                  <a:pt x="0" y="21506"/>
                </a:cubicBezTo>
                <a:cubicBezTo>
                  <a:pt x="0" y="33384"/>
                  <a:pt x="9628" y="43013"/>
                  <a:pt x="21506" y="43013"/>
                </a:cubicBezTo>
                <a:cubicBezTo>
                  <a:pt x="33384" y="43013"/>
                  <a:pt x="43013" y="33384"/>
                  <a:pt x="43013" y="21506"/>
                </a:cubicBezTo>
                <a:close/>
              </a:path>
            </a:pathLst>
          </a:custGeom>
          <a:solidFill>
            <a:srgbClr val="536D75"/>
          </a:solidFill>
          <a:ln w="12700">
            <a:noFill/>
          </a:ln>
        </p:spPr>
      </p:sp>
      <p:sp>
        <p:nvSpPr>
          <p:cNvPr id="23" name="Freeform"/>
          <p:cNvSpPr/>
          <p:nvPr/>
        </p:nvSpPr>
        <p:spPr>
          <a:xfrm>
            <a:off x="9132734" y="1933773"/>
            <a:ext cx="43013" cy="43013"/>
          </a:xfrm>
          <a:custGeom>
            <a:avLst/>
            <a:gdLst/>
            <a:pathLst>
              <a:path w="43013" h="43013">
                <a:moveTo>
                  <a:pt x="43013" y="21506"/>
                </a:moveTo>
                <a:cubicBezTo>
                  <a:pt x="43013" y="9628"/>
                  <a:pt x="33384" y="0"/>
                  <a:pt x="21506" y="0"/>
                </a:cubicBezTo>
                <a:cubicBezTo>
                  <a:pt x="9628" y="0"/>
                  <a:pt x="0" y="9628"/>
                  <a:pt x="0" y="21506"/>
                </a:cubicBezTo>
                <a:cubicBezTo>
                  <a:pt x="0" y="33384"/>
                  <a:pt x="9628" y="43013"/>
                  <a:pt x="21506" y="43013"/>
                </a:cubicBezTo>
                <a:cubicBezTo>
                  <a:pt x="33384" y="43013"/>
                  <a:pt x="43013" y="33384"/>
                  <a:pt x="43013" y="21506"/>
                </a:cubicBezTo>
                <a:close/>
              </a:path>
            </a:pathLst>
          </a:custGeom>
          <a:solidFill>
            <a:srgbClr val="536D75"/>
          </a:solidFill>
          <a:ln w="12700">
            <a:noFill/>
          </a:ln>
        </p:spPr>
      </p:sp>
      <p:sp>
        <p:nvSpPr>
          <p:cNvPr id="24" name="Freeform"/>
          <p:cNvSpPr/>
          <p:nvPr/>
        </p:nvSpPr>
        <p:spPr>
          <a:xfrm>
            <a:off x="10351446" y="3152485"/>
            <a:ext cx="43013" cy="43013"/>
          </a:xfrm>
          <a:custGeom>
            <a:avLst/>
            <a:gdLst/>
            <a:pathLst>
              <a:path w="43013" h="43013">
                <a:moveTo>
                  <a:pt x="43013" y="21506"/>
                </a:moveTo>
                <a:cubicBezTo>
                  <a:pt x="43013" y="9628"/>
                  <a:pt x="33384" y="0"/>
                  <a:pt x="21506" y="0"/>
                </a:cubicBezTo>
                <a:cubicBezTo>
                  <a:pt x="9628" y="0"/>
                  <a:pt x="0" y="9628"/>
                  <a:pt x="0" y="21506"/>
                </a:cubicBezTo>
                <a:cubicBezTo>
                  <a:pt x="0" y="33384"/>
                  <a:pt x="9628" y="43013"/>
                  <a:pt x="21506" y="43013"/>
                </a:cubicBezTo>
                <a:cubicBezTo>
                  <a:pt x="33384" y="43013"/>
                  <a:pt x="43013" y="33384"/>
                  <a:pt x="43013" y="21506"/>
                </a:cubicBezTo>
                <a:close/>
              </a:path>
            </a:pathLst>
          </a:custGeom>
          <a:solidFill>
            <a:srgbClr val="536D75"/>
          </a:solidFill>
          <a:ln w="12700"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603504" y="566928"/>
            <a:ext cx="2423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3C1C4"/>
                </a:solidFill>
                <a:latin typeface="Arial Narrow"/>
              </a:rPr>
              <a:t>08  /  ARCHITECTURAL POSITION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" y="1042415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1527048"/>
            <a:ext cx="57790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6F6F1"/>
                </a:solidFill>
                <a:latin typeface="Georgia"/>
              </a:rPr>
              <a:t>A WELCOMING WORLD
OF LIGHT, SHADOW,
REFLECTION AND CALM.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5020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>
                <a:solidFill>
                  <a:srgbClr val="B3C1C4"/>
                </a:solidFill>
                <a:latin typeface="Arial"/>
              </a:rPr>
              <a:t>A museum-city that belongs to its geography
without becoming a literal interpretation of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93792"/>
            <a:ext cx="2697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B18C58"/>
                </a:solidFill>
                <a:latin typeface="Arial Narrow"/>
              </a:rPr>
              <a:t>JEAN NOUVEL  /  ARCHITECT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36792"/>
            <a:ext cx="3520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B3C1C4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20877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46616A"/>
                </a:solidFill>
                <a:latin typeface="Georgi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2286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3C1C4"/>
                </a:solidFill>
                <a:latin typeface="Arial Narrow"/>
              </a:rPr>
              <a:t>09  /  CODA</a:t>
            </a:r>
          </a:p>
        </p:txBody>
      </p:sp>
      <p:pic>
        <p:nvPicPr>
          <p:cNvPr id="5" name="Picture 4" descr="630409b97d363c8a8a0ec0146b89a5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62456"/>
            <a:ext cx="681228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" y="5468112"/>
            <a:ext cx="6812280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2980944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B3C1C4"/>
                </a:solidFill>
                <a:latin typeface="Arial Narrow"/>
              </a:rPr>
              <a:t>LOUVRE ABU DHABI  /  SAADIYAT ISLAND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44752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6F6F1"/>
                </a:solidFill>
                <a:latin typeface="Georgia"/>
              </a:rPr>
              <a:t>LIGHT.
WATER.
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1856" y="3666744"/>
            <a:ext cx="2807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B3C1C4"/>
                </a:solidFill>
                <a:latin typeface="Arial Narrow"/>
              </a:rPr>
              <a:t>A common sky turns architecture
into a public cultural landscape.</a:t>
            </a:r>
          </a:p>
        </p:txBody>
      </p:sp>
      <p:sp>
        <p:nvSpPr>
          <p:cNvPr id="10" name="Freeform"/>
          <p:cNvSpPr/>
          <p:nvPr/>
        </p:nvSpPr>
        <p:spPr>
          <a:xfrm>
            <a:off x="7836408" y="4718303"/>
            <a:ext cx="3291839" cy="0"/>
          </a:xfrm>
          <a:custGeom>
            <a:avLst/>
            <a:gdLst/>
            <a:pathLst>
              <a:path w="3291839" h="0">
                <a:moveTo>
                  <a:pt x="0" y="0"/>
                </a:moveTo>
                <a:lnTo>
                  <a:pt x="3291839" y="0"/>
                </a:lnTo>
                <a:close/>
              </a:path>
            </a:pathLst>
          </a:custGeom>
          <a:solidFill>
            <a:srgbClr val="FFFFFF"/>
          </a:solidFill>
          <a:ln w="14604">
            <a:solidFill>
              <a:srgbClr val="6D858D"/>
            </a:solidFill>
          </a:ln>
        </p:spPr>
      </p:sp>
      <p:sp>
        <p:nvSpPr>
          <p:cNvPr id="11" name="Freeform"/>
          <p:cNvSpPr/>
          <p:nvPr/>
        </p:nvSpPr>
        <p:spPr>
          <a:xfrm>
            <a:off x="8247888" y="5056631"/>
            <a:ext cx="2468879" cy="0"/>
          </a:xfrm>
          <a:custGeom>
            <a:avLst/>
            <a:gdLst/>
            <a:pathLst>
              <a:path w="2468879" h="0">
                <a:moveTo>
                  <a:pt x="0" y="0"/>
                </a:moveTo>
                <a:lnTo>
                  <a:pt x="2468879" y="0"/>
                </a:lnTo>
                <a:close/>
              </a:path>
            </a:pathLst>
          </a:custGeom>
          <a:solidFill>
            <a:srgbClr val="FFFFFF"/>
          </a:solidFill>
          <a:ln w="14604">
            <a:solidFill>
              <a:srgbClr val="6D858D"/>
            </a:solidFill>
          </a:ln>
        </p:spPr>
      </p:sp>
      <p:sp>
        <p:nvSpPr>
          <p:cNvPr id="12" name="Freeform"/>
          <p:cNvSpPr/>
          <p:nvPr/>
        </p:nvSpPr>
        <p:spPr>
          <a:xfrm>
            <a:off x="8659368" y="5394959"/>
            <a:ext cx="1645919" cy="0"/>
          </a:xfrm>
          <a:custGeom>
            <a:avLst/>
            <a:gdLst/>
            <a:pathLst>
              <a:path w="1645919" h="0">
                <a:moveTo>
                  <a:pt x="0" y="0"/>
                </a:moveTo>
                <a:lnTo>
                  <a:pt x="1645919" y="0"/>
                </a:lnTo>
                <a:close/>
              </a:path>
            </a:pathLst>
          </a:custGeom>
          <a:solidFill>
            <a:srgbClr val="FFFFFF"/>
          </a:solidFill>
          <a:ln w="14604">
            <a:solidFill>
              <a:srgbClr val="6D858D"/>
            </a:solidFill>
          </a:ln>
        </p:spPr>
      </p:sp>
      <p:sp>
        <p:nvSpPr>
          <p:cNvPr id="13" name="Freeform"/>
          <p:cNvSpPr/>
          <p:nvPr/>
        </p:nvSpPr>
        <p:spPr>
          <a:xfrm>
            <a:off x="7836408" y="4718303"/>
            <a:ext cx="822960" cy="850392"/>
          </a:xfrm>
          <a:custGeom>
            <a:avLst/>
            <a:gdLst/>
            <a:pathLst>
              <a:path w="822960" h="850392">
                <a:moveTo>
                  <a:pt x="0" y="0"/>
                </a:moveTo>
                <a:lnTo>
                  <a:pt x="822960" y="85039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B18C58"/>
            </a:solidFill>
          </a:ln>
        </p:spPr>
      </p:sp>
      <p:sp>
        <p:nvSpPr>
          <p:cNvPr id="14" name="Freeform"/>
          <p:cNvSpPr/>
          <p:nvPr/>
        </p:nvSpPr>
        <p:spPr>
          <a:xfrm>
            <a:off x="10305288" y="4718303"/>
            <a:ext cx="822960" cy="850392"/>
          </a:xfrm>
          <a:custGeom>
            <a:avLst/>
            <a:gdLst/>
            <a:pathLst>
              <a:path w="822960" h="850392">
                <a:moveTo>
                  <a:pt x="822960" y="0"/>
                </a:moveTo>
                <a:lnTo>
                  <a:pt x="0" y="85039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B18C58"/>
            </a:solidFill>
          </a:ln>
        </p:spPr>
      </p:sp>
      <p:sp>
        <p:nvSpPr>
          <p:cNvPr id="15" name="Freeform"/>
          <p:cNvSpPr/>
          <p:nvPr/>
        </p:nvSpPr>
        <p:spPr>
          <a:xfrm>
            <a:off x="7818120" y="4700016"/>
            <a:ext cx="36575" cy="36576"/>
          </a:xfrm>
          <a:custGeom>
            <a:avLst/>
            <a:gdLst/>
            <a:pathLst>
              <a:path w="36575" h="36576">
                <a:moveTo>
                  <a:pt x="36575" y="18287"/>
                </a:moveTo>
                <a:cubicBezTo>
                  <a:pt x="36575" y="8187"/>
                  <a:pt x="28387" y="0"/>
                  <a:pt x="18287" y="0"/>
                </a:cubicBezTo>
                <a:cubicBezTo>
                  <a:pt x="8187" y="0"/>
                  <a:pt x="0" y="8187"/>
                  <a:pt x="0" y="18287"/>
                </a:cubicBezTo>
                <a:cubicBezTo>
                  <a:pt x="0" y="28388"/>
                  <a:pt x="8187" y="36576"/>
                  <a:pt x="18287" y="36576"/>
                </a:cubicBezTo>
                <a:cubicBezTo>
                  <a:pt x="28387" y="36576"/>
                  <a:pt x="36575" y="28388"/>
                  <a:pt x="36575" y="18287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6" name="Freeform"/>
          <p:cNvSpPr/>
          <p:nvPr/>
        </p:nvSpPr>
        <p:spPr>
          <a:xfrm>
            <a:off x="11109960" y="4700016"/>
            <a:ext cx="36575" cy="36576"/>
          </a:xfrm>
          <a:custGeom>
            <a:avLst/>
            <a:gdLst/>
            <a:pathLst>
              <a:path w="36575" h="36576">
                <a:moveTo>
                  <a:pt x="36575" y="18287"/>
                </a:moveTo>
                <a:cubicBezTo>
                  <a:pt x="36575" y="8187"/>
                  <a:pt x="28387" y="0"/>
                  <a:pt x="18287" y="0"/>
                </a:cubicBezTo>
                <a:cubicBezTo>
                  <a:pt x="8187" y="0"/>
                  <a:pt x="0" y="8187"/>
                  <a:pt x="0" y="18287"/>
                </a:cubicBezTo>
                <a:cubicBezTo>
                  <a:pt x="0" y="28388"/>
                  <a:pt x="8187" y="36576"/>
                  <a:pt x="18287" y="36576"/>
                </a:cubicBezTo>
                <a:cubicBezTo>
                  <a:pt x="28387" y="36576"/>
                  <a:pt x="36575" y="28388"/>
                  <a:pt x="36575" y="18287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7" name="Freeform"/>
          <p:cNvSpPr/>
          <p:nvPr/>
        </p:nvSpPr>
        <p:spPr>
          <a:xfrm>
            <a:off x="8645652" y="5554979"/>
            <a:ext cx="27432" cy="27432"/>
          </a:xfrm>
          <a:custGeom>
            <a:avLst/>
            <a:gdLst/>
            <a:pathLst>
              <a:path w="27432" h="27432">
                <a:moveTo>
                  <a:pt x="27432" y="13716"/>
                </a:moveTo>
                <a:cubicBezTo>
                  <a:pt x="27432" y="6140"/>
                  <a:pt x="21291" y="0"/>
                  <a:pt x="13716" y="0"/>
                </a:cubicBezTo>
                <a:cubicBezTo>
                  <a:pt x="6140" y="0"/>
                  <a:pt x="0" y="6140"/>
                  <a:pt x="0" y="13716"/>
                </a:cubicBezTo>
                <a:cubicBezTo>
                  <a:pt x="0" y="21291"/>
                  <a:pt x="6140" y="27432"/>
                  <a:pt x="13716" y="27432"/>
                </a:cubicBezTo>
                <a:cubicBezTo>
                  <a:pt x="21291" y="27432"/>
                  <a:pt x="27432" y="21291"/>
                  <a:pt x="27432" y="13716"/>
                </a:cubicBezTo>
                <a:close/>
              </a:path>
            </a:pathLst>
          </a:custGeom>
          <a:solidFill>
            <a:srgbClr val="6D858D"/>
          </a:solidFill>
          <a:ln w="12700">
            <a:noFill/>
          </a:ln>
        </p:spPr>
      </p:sp>
      <p:sp>
        <p:nvSpPr>
          <p:cNvPr id="18" name="Freeform"/>
          <p:cNvSpPr/>
          <p:nvPr/>
        </p:nvSpPr>
        <p:spPr>
          <a:xfrm>
            <a:off x="10291572" y="5554979"/>
            <a:ext cx="27431" cy="27432"/>
          </a:xfrm>
          <a:custGeom>
            <a:avLst/>
            <a:gdLst/>
            <a:pathLst>
              <a:path w="27431" h="27432">
                <a:moveTo>
                  <a:pt x="27431" y="13716"/>
                </a:moveTo>
                <a:cubicBezTo>
                  <a:pt x="27431" y="6140"/>
                  <a:pt x="21290" y="0"/>
                  <a:pt x="13715" y="0"/>
                </a:cubicBezTo>
                <a:cubicBezTo>
                  <a:pt x="6140" y="0"/>
                  <a:pt x="0" y="6140"/>
                  <a:pt x="0" y="13716"/>
                </a:cubicBezTo>
                <a:cubicBezTo>
                  <a:pt x="0" y="21291"/>
                  <a:pt x="6140" y="27432"/>
                  <a:pt x="13715" y="27432"/>
                </a:cubicBezTo>
                <a:cubicBezTo>
                  <a:pt x="21290" y="27432"/>
                  <a:pt x="27431" y="21291"/>
                  <a:pt x="27431" y="13716"/>
                </a:cubicBezTo>
                <a:close/>
              </a:path>
            </a:pathLst>
          </a:custGeom>
          <a:solidFill>
            <a:srgbClr val="6D858D"/>
          </a:solidFill>
          <a:ln w="12700"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7991856" y="6062472"/>
            <a:ext cx="19019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0" b="1">
                <a:solidFill>
                  <a:srgbClr val="B18C58"/>
                </a:solidFill>
                <a:latin typeface="Arial Narrow"/>
              </a:rPr>
              <a:t>END OF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81944" y="618134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48626B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