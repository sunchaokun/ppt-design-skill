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INFRASTRUCTURE 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914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Aptos"/>
              </a:rPr>
              <a:t>AI INFRASTRUCTURE
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0299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Capital moves first. Constraints decide what ships.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6473B"/>
                </a:solidFill>
                <a:latin typeface="Aptos"/>
              </a:rPr>
              <a:t>A report on capacity,
capital, and the physical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" y="3429000"/>
            <a:ext cx="1325880" cy="54864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94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300" b="0">
                <a:solidFill>
                  <a:srgbClr val="6B7280"/>
                </a:solidFill>
              </a:rPr>
              <a:t>A source-led editorial data study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300" b="0">
                <a:solidFill>
                  <a:srgbClr val="6B7280"/>
                </a:solidFill>
              </a:rPr>
              <a:t>for strategy and platform operators.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37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THE VALUE CHAIN IS PHYSICAL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148840"/>
            <a:ext cx="4434840" cy="438912"/>
          </a:xfrm>
          <a:prstGeom prst="roundRect">
            <a:avLst/>
          </a:prstGeom>
          <a:solidFill>
            <a:srgbClr val="E9E1D4"/>
          </a:solidFill>
          <a:ln w="12700">
            <a:solidFill>
              <a:srgbClr val="6B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2267712"/>
            <a:ext cx="421538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8E5A"/>
                </a:solidFill>
                <a:latin typeface="Consolas"/>
              </a:rPr>
              <a:t>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2276856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2743200"/>
            <a:ext cx="3886200" cy="438912"/>
          </a:xfrm>
          <a:prstGeom prst="roundRect">
            <a:avLst/>
          </a:prstGeom>
          <a:solidFill>
            <a:srgbClr val="E9E1D4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2862072"/>
            <a:ext cx="36667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45BDB"/>
                </a:solidFill>
                <a:latin typeface="Consolas"/>
              </a:rPr>
              <a:t>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2871216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distribution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78040" y="3337560"/>
            <a:ext cx="3337560" cy="438912"/>
          </a:xfrm>
          <a:prstGeom prst="roundRect">
            <a:avLst/>
          </a:prstGeom>
          <a:solidFill>
            <a:srgbClr val="E9E1D4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87768" y="3456432"/>
            <a:ext cx="31181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6473B"/>
                </a:solidFill>
                <a:latin typeface="Consolas"/>
              </a:rPr>
              <a:t>COMPUTE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3465576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scarcity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931920"/>
            <a:ext cx="2788920" cy="438912"/>
          </a:xfrm>
          <a:prstGeom prst="roundRect">
            <a:avLst/>
          </a:prstGeom>
          <a:solidFill>
            <a:srgbClr val="E9E1D4"/>
          </a:solidFill>
          <a:ln w="12700">
            <a:solidFill>
              <a:srgbClr val="1720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4050791"/>
            <a:ext cx="256946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Consolas"/>
              </a:rPr>
              <a:t>POWER + 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4059935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constraint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126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onsolas"/>
              </a:rPr>
              <a:t>PUBLIC DISCLOSURES / ILLUSTRATIVE SYSTEMS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SOURCES: ALPHABET IR · MICROSOFT IR · SEE SOURCE NOTES IN PAGE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01 / THE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AI is not one market. It is a stack of dependencies.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The margin pool can move upward; the bottleneck often stays physical.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2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783080"/>
            <a:ext cx="101498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1938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8E5A"/>
                </a:solidFill>
                <a:latin typeface="Consolas"/>
              </a:rPr>
              <a:t>07 /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1938528"/>
            <a:ext cx="79095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workflow · distribution · willingness to pay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2514600"/>
            <a:ext cx="93268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67004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5BDB"/>
                </a:solidFill>
                <a:latin typeface="Consolas"/>
              </a:rPr>
              <a:t>06 /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670048"/>
            <a:ext cx="708659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training · inference ·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7360" y="3246120"/>
            <a:ext cx="8503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340156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5BDB"/>
                </a:solidFill>
                <a:latin typeface="Consolas"/>
              </a:rPr>
              <a:t>05 /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401568"/>
            <a:ext cx="6263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orchestration · serving · observability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977639"/>
            <a:ext cx="76809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4133087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73B"/>
                </a:solidFill>
                <a:latin typeface="Consolas"/>
              </a:rPr>
              <a:t>04 /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133087"/>
            <a:ext cx="5440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accelerator · memory · network fabric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709160"/>
            <a:ext cx="68580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486460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73B"/>
                </a:solidFill>
                <a:latin typeface="Consolas"/>
              </a:rPr>
              <a:t>03 / DATA CENTERS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64608"/>
            <a:ext cx="4617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Aptos"/>
              </a:rPr>
              <a:t>land · cooling · power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513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6473B"/>
                </a:solidFill>
                <a:latin typeface="Consolas"/>
              </a:rPr>
              <a:t>dependency ↑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058400" y="1828800"/>
            <a:ext cx="228600" cy="3429000"/>
          </a:xfrm>
          <a:prstGeom prst="rightArrow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INTERPRETATION / THE ECONOMICS OF AI ARE DISTRIBUTED ACROSS THE STACK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02 /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Capital is accelerating — but the periods are not interchangeable.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Reported figures are shown with company and fiscal-period labels, not as a false league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3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20824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72033"/>
                </a:solidFill>
                <a:latin typeface="Aptos"/>
              </a:rPr>
              <a:t>Alphabet FY2025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1874519"/>
            <a:ext cx="5715000" cy="475488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0200" y="1874519"/>
            <a:ext cx="2901950" cy="475488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0710" y="2020824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72033"/>
                </a:solidFill>
                <a:latin typeface="Consolas"/>
              </a:rPr>
              <a:t>$91.4B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79191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72033"/>
                </a:solidFill>
                <a:latin typeface="Aptos"/>
              </a:rPr>
              <a:t>Microsoft FY25 Q4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2532887"/>
            <a:ext cx="5715000" cy="475488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00200" y="2532887"/>
            <a:ext cx="768350" cy="475488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77110" y="2679191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72033"/>
                </a:solidFill>
                <a:latin typeface="Consolas"/>
              </a:rPr>
              <a:t>$24.2B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960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172033"/>
                </a:solidFill>
                <a:latin typeface="Aptos"/>
              </a:rPr>
              <a:t>Alphabet FY2026 outlook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3191256"/>
            <a:ext cx="5715000" cy="475488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00200" y="3191256"/>
            <a:ext cx="5715000" cy="4754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3337560"/>
            <a:ext cx="777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72033"/>
                </a:solidFill>
                <a:latin typeface="Consolas"/>
              </a:rPr>
              <a:t>$175–185B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1828800"/>
            <a:ext cx="3154680" cy="2423160"/>
          </a:xfrm>
          <a:prstGeom prst="roundRect">
            <a:avLst/>
          </a:prstGeom>
          <a:solidFill>
            <a:srgbClr val="E9E1D4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1828800"/>
            <a:ext cx="45720" cy="242316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1" y="1975104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READ THIS 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1" y="2331720"/>
            <a:ext cx="2862072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directional evidence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not a single-period ranking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different disclosure periods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different business mix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754880"/>
            <a:ext cx="10332720" cy="22860"/>
          </a:xfrm>
          <a:prstGeom prst="rect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109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5BDB"/>
                </a:solidFill>
                <a:latin typeface="Consolas"/>
              </a:rPr>
              <a:t>WHAT IS REPORTED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0109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73B"/>
                </a:solidFill>
                <a:latin typeface="Consolas"/>
              </a:rPr>
              <a:t>WHAT IT SUGGESTS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0109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8E5A"/>
                </a:solidFill>
                <a:latin typeface="Consolas"/>
              </a:rPr>
              <a:t>WHAT IT DOES NOT PROVE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349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172033"/>
                </a:solidFill>
              </a:rPr>
              <a:t>Large technical-infrastructure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172033"/>
                </a:solidFill>
              </a:rPr>
              <a:t>commitments are visible.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349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172033"/>
                </a:solidFill>
              </a:rPr>
              <a:t>Capacity is becoming a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172033"/>
                </a:solidFill>
              </a:rPr>
              <a:t>strategic balance-sheet item.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3492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172033"/>
                </a:solidFill>
              </a:rPr>
              <a:t>CapEx alone does not tell us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172033"/>
                </a:solidFill>
              </a:rPr>
              <a:t>who captures the margin.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SOURCES: ALPHABET 2025 Q4 EARNINGS CALL · MICROSOFT FY25 Q4 EARNINGS · FIGURES IN USD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03 / 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Where the money lands changes the depreciation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One disclosed split makes the physical stack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4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920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onsolas"/>
              </a:rPr>
              <a:t>ALPHABET FY2025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9572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72033"/>
                </a:solidFill>
                <a:latin typeface="Aptos"/>
              </a:rPr>
              <a:t>$91.4B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46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technical infrastructure CapEx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20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APPROXIMATE 2025 COMPOSITION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560320"/>
            <a:ext cx="6035040" cy="658368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2560320"/>
            <a:ext cx="2414016" cy="658368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77063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60%  SERVERS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706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40%  DC + NETWORK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749039"/>
            <a:ext cx="2743200" cy="1325880"/>
          </a:xfrm>
          <a:prstGeom prst="roundRect">
            <a:avLst/>
          </a:prstGeom>
          <a:solidFill>
            <a:srgbClr val="DDE7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749039"/>
            <a:ext cx="45720" cy="132588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3895344"/>
            <a:ext cx="2450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SHORTER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4251959"/>
            <a:ext cx="24505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servers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faster refresh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utilization pressure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749039"/>
            <a:ext cx="2743200" cy="1325880"/>
          </a:xfrm>
          <a:prstGeom prst="roundRect">
            <a:avLst/>
          </a:prstGeom>
          <a:solidFill>
            <a:srgbClr val="F3DAD3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3749039"/>
            <a:ext cx="45720" cy="132588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3895344"/>
            <a:ext cx="24505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LONGER DURATION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4251959"/>
            <a:ext cx="24505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data centers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networking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depreciation horizon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091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6473B"/>
                </a:solidFill>
                <a:latin typeface="Aptos"/>
              </a:rPr>
              <a:t>The stack has different clocks.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6B7280"/>
                </a:solidFill>
              </a:rPr>
              <a:t>A server cycle can move faster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6B7280"/>
                </a:solidFill>
              </a:rPr>
              <a:t>than a building or grid connection.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SOURCE: ALPHABET 2025 Q4 EARNINGS CALL / APPROXIMATELY 60% SERVERS, 40% DATA CENTERS + NETWORKING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04 /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The constraint is not “compute.” It is the coordination of four physical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Land, energy, networking, and servers arrive on different timelines.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5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057400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057400"/>
            <a:ext cx="45720" cy="141732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2560320"/>
            <a:ext cx="18562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permitted + buildable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lead time ≠ demand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2057400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11880" y="2057400"/>
            <a:ext cx="45720" cy="141732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6472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560320"/>
            <a:ext cx="18562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predictable supply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lead time ≠ demand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057400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057400"/>
            <a:ext cx="45720" cy="141732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560320"/>
            <a:ext cx="18562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fabric + interconnect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lead time ≠ demand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057400"/>
            <a:ext cx="2148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057400"/>
            <a:ext cx="45720" cy="141732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72033"/>
                </a:solidFill>
                <a:latin typeface="Aptos"/>
              </a:rPr>
              <a:t>SERVERS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2560320"/>
            <a:ext cx="18562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GPU + components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lead time ≠ demand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154680" y="2651760"/>
            <a:ext cx="256032" cy="201168"/>
          </a:xfrm>
          <a:prstGeom prst="rightArrow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5897880" y="2651760"/>
            <a:ext cx="256032" cy="201168"/>
          </a:xfrm>
          <a:prstGeom prst="rightArrow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8641080" y="2651760"/>
            <a:ext cx="256032" cy="201168"/>
          </a:xfrm>
          <a:prstGeom prst="rightArrow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251960"/>
            <a:ext cx="9875520" cy="27432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572000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6473B"/>
                </a:solidFill>
                <a:latin typeface="Consolas"/>
              </a:rPr>
              <a:t>CAPACITY ONLY SHIPS WHEN THE SLOWEST LAYER ARRIVES.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663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300" b="0">
                <a:solidFill>
                  <a:srgbClr val="172033"/>
                </a:solidFill>
              </a:rPr>
              <a:t>This is why supply-chain risk belongs inside the AI strategy — not in a footnote after the model roadmap.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SOURCE: MICROSOFT FY2025 ANNUAL REPORT / DATA CENTER LAND, ENERGY, NETWORKING, SERVERS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05 /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Capacity becomes economics only through utilization.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The flywheel is simple to draw — and difficult to keep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6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Oval 14"/>
          <p:cNvSpPr/>
          <p:nvPr/>
        </p:nvSpPr>
        <p:spPr>
          <a:xfrm>
            <a:off x="4892040" y="2743200"/>
            <a:ext cx="2194560" cy="1097280"/>
          </a:xfrm>
          <a:prstGeom prst="ellipse">
            <a:avLst/>
          </a:prstGeom>
          <a:solidFill>
            <a:srgbClr val="E9E1D4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1272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6473B"/>
                </a:solidFill>
                <a:latin typeface="Consolas"/>
              </a:rPr>
              <a:t>OPERATING
LEVERAGE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05740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057400"/>
            <a:ext cx="45720" cy="91440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203704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56032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hardware + power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05740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057400"/>
            <a:ext cx="45720" cy="914400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2203704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256032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serving demand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34340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4343400"/>
            <a:ext cx="45720" cy="91440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4489704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CASH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484632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depreciation + margin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43400"/>
            <a:ext cx="22402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343400"/>
            <a:ext cx="45720" cy="91440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489704"/>
            <a:ext cx="1947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UTILIZATION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4632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load + scheduling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246120" y="2423160"/>
            <a:ext cx="1417320" cy="201168"/>
          </a:xfrm>
          <a:prstGeom prst="rightArrow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9144000" y="3337560"/>
            <a:ext cx="201168" cy="640080"/>
          </a:xfrm>
          <a:prstGeom prst="rightArrow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315200" y="4663440"/>
            <a:ext cx="1417320" cy="201168"/>
          </a:xfrm>
          <a:prstGeom prst="rightArrow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2697480" y="3657600"/>
            <a:ext cx="201168" cy="640080"/>
          </a:xfrm>
          <a:prstGeom prst="rightArrow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56692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6473B"/>
                </a:solidFill>
                <a:latin typeface="Consolas"/>
              </a:rPr>
              <a:t>NO UTILIZATION → NO LEVERAGE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INTERPRETATION / THE UNIT ECONOMICS OF AI ARE A CAPACITY-MANAGEMENT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06 /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Training is episodic. Inference is continuous.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Illustrative curves show why utilization and serving efficiency can matter more than a single benchmark.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7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257800"/>
            <a:ext cx="6675120" cy="228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057400"/>
            <a:ext cx="22860" cy="32004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6916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54681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2743200"/>
            <a:ext cx="1280160" cy="36576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3246120"/>
            <a:ext cx="1280160" cy="36576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03320" y="3657600"/>
            <a:ext cx="1280160" cy="36576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80" y="4069080"/>
            <a:ext cx="1280160" cy="36576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434840"/>
            <a:ext cx="1280160" cy="36576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663440"/>
            <a:ext cx="1280160" cy="36576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23160" y="4526280"/>
            <a:ext cx="1280160" cy="36576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03320" y="4389120"/>
            <a:ext cx="1280160" cy="36576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3480" y="4251960"/>
            <a:ext cx="1280160" cy="36576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114800"/>
            <a:ext cx="1280160" cy="36576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473B"/>
                </a:solidFill>
                <a:latin typeface="Consolas"/>
              </a:rPr>
              <a:t>TRAINING / burst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006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5BDB"/>
                </a:solidFill>
                <a:latin typeface="Consolas"/>
              </a:rPr>
              <a:t>INFERENCE / stream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148840"/>
            <a:ext cx="2514600" cy="1234440"/>
          </a:xfrm>
          <a:prstGeom prst="roundRect">
            <a:avLst/>
          </a:prstGeom>
          <a:solidFill>
            <a:srgbClr val="DCE7D3"/>
          </a:solidFill>
          <a:ln w="12700">
            <a:solidFill>
              <a:srgbClr val="6B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40" y="2148840"/>
            <a:ext cx="45720" cy="1234440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4232" y="2295144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OPERATOR QUESTION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14232" y="2651760"/>
            <a:ext cx="22219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Can the load be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scheduled, shifted,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or pooled?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3794760"/>
            <a:ext cx="2514600" cy="1234440"/>
          </a:xfrm>
          <a:prstGeom prst="roundRect">
            <a:avLst/>
          </a:prstGeom>
          <a:solidFill>
            <a:srgbClr val="F3DAD3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49640" y="3794760"/>
            <a:ext cx="45720" cy="123444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3941064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ILLUSTRATIVE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4232" y="4297680"/>
            <a:ext cx="22219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Shape of curve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is conceptual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not a benchmark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ANALYTICAL MODEL / ILLUSTRATIVE CURVES — NOT A PERFORMANCE CLAIM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07 /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The margin pool is a flow, not a single layer.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Compute creates the possibility; platforms and applications decide where value compounds.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8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2860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286000"/>
            <a:ext cx="45720" cy="123444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2432304"/>
            <a:ext cx="18105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POWER + 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2788920"/>
            <a:ext cx="1810511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fixed assets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22860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286000"/>
            <a:ext cx="45720" cy="123444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2432304"/>
            <a:ext cx="18105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2788920"/>
            <a:ext cx="1810511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scarce capacity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2860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2286000"/>
            <a:ext cx="45720" cy="123444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71031" y="2432304"/>
            <a:ext cx="18105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1031" y="2788920"/>
            <a:ext cx="1810511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orchestration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28600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2286000"/>
            <a:ext cx="45720" cy="1234440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2432304"/>
            <a:ext cx="18105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2788920"/>
            <a:ext cx="1810511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workflow value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999232" y="2788920"/>
            <a:ext cx="292608" cy="201168"/>
          </a:xfrm>
          <a:prstGeom prst="rightArrow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5468112" y="2788920"/>
            <a:ext cx="292608" cy="201168"/>
          </a:xfrm>
          <a:prstGeom prst="rightArrow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936992" y="2788920"/>
            <a:ext cx="292608" cy="201168"/>
          </a:xfrm>
          <a:prstGeom prst="rightArrow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480560"/>
            <a:ext cx="9509760" cy="27432"/>
          </a:xfrm>
          <a:prstGeom prst="rect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00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73B"/>
                </a:solidFill>
                <a:latin typeface="Consolas"/>
              </a:rPr>
              <a:t>CAPITAL INTENSITY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800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5BDB"/>
                </a:solidFill>
                <a:latin typeface="Consolas"/>
              </a:rPr>
              <a:t>OPERATING LEVERAGE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800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8E5A"/>
                </a:solidFill>
                <a:latin typeface="Consolas"/>
              </a:rPr>
              <a:t>CUSTOMER LOCK-IN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12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6B7280"/>
                </a:solidFill>
              </a:rPr>
              <a:t>low flexibility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6B7280"/>
                </a:solidFill>
              </a:rPr>
              <a:t>high fixed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212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6B7280"/>
                </a:solidFill>
              </a:rPr>
              <a:t>shared capacity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6B7280"/>
                </a:solidFill>
              </a:rPr>
              <a:t>better scheduling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212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6B7280"/>
                </a:solidFill>
              </a:rPr>
              <a:t>workflow fit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200" b="0">
                <a:solidFill>
                  <a:srgbClr val="6B7280"/>
                </a:solidFill>
              </a:rPr>
              <a:t>switching friction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INTERPRETATION / VALUE MOVES UP THE STACK, BUT DEPENDENCIES MOVE WITH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08 /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The dangerous asset is capacity you cannot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A simple matrix makes the hidden risk visible: high lead time plus low utilization.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9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257800"/>
            <a:ext cx="6583680" cy="2286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2011680"/>
            <a:ext cx="22860" cy="324612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55321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45BDB"/>
                </a:solidFill>
                <a:latin typeface="Consolas"/>
              </a:rPr>
              <a:t>UTILIZATION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08960"/>
            <a:ext cx="228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6473B"/>
                </a:solidFill>
                <a:latin typeface="Consolas"/>
              </a:rPr>
              <a:t>L
E
A
D
T
I
M
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931920"/>
            <a:ext cx="2423160" cy="914400"/>
          </a:xfrm>
          <a:prstGeom prst="roundRect">
            <a:avLst/>
          </a:prstGeom>
          <a:solidFill>
            <a:srgbClr val="DCE7D3"/>
          </a:solidFill>
          <a:ln w="12700">
            <a:solidFill>
              <a:srgbClr val="6B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3931920"/>
            <a:ext cx="45720" cy="914400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4078224"/>
            <a:ext cx="2130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UNDERUSE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4434840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capacity exists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demand is soft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931920"/>
            <a:ext cx="2423160" cy="914400"/>
          </a:xfrm>
          <a:prstGeom prst="roundRect">
            <a:avLst/>
          </a:prstGeom>
          <a:solidFill>
            <a:srgbClr val="DDE7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931920"/>
            <a:ext cx="45720" cy="91440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4078224"/>
            <a:ext cx="2130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HEALTHY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4434840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matched load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optionality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2514600"/>
            <a:ext cx="2423160" cy="914400"/>
          </a:xfrm>
          <a:prstGeom prst="roundRect">
            <a:avLst/>
          </a:prstGeom>
          <a:solidFill>
            <a:srgbClr val="F3DAD3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0" y="2514600"/>
            <a:ext cx="45720" cy="91440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3392" y="2660904"/>
            <a:ext cx="2130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STRANDED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3017520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fixed cost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no flexibility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2514600"/>
            <a:ext cx="2423160" cy="914400"/>
          </a:xfrm>
          <a:prstGeom prst="roundRect">
            <a:avLst/>
          </a:prstGeom>
          <a:solidFill>
            <a:srgbClr val="F3DAD3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2514600"/>
            <a:ext cx="45720" cy="91440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2660904"/>
            <a:ext cx="2130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2033"/>
                </a:solidFill>
                <a:latin typeface="Aptos"/>
              </a:rPr>
              <a:t>BOTTLENECK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6592" y="3017520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demand exists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supply lags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2240280"/>
            <a:ext cx="2743200" cy="2743200"/>
          </a:xfrm>
          <a:prstGeom prst="roundRect">
            <a:avLst/>
          </a:prstGeom>
          <a:solidFill>
            <a:srgbClr val="E9E1D4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13648" y="256032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73B"/>
                </a:solidFill>
                <a:latin typeface="Consolas"/>
              </a:rPr>
              <a:t>WATCH ITEM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306324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Lead time
can outlive
demand.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100" b="0">
                <a:solidFill>
                  <a:srgbClr val="6B7280"/>
                </a:solidFill>
              </a:rPr>
              <a:t>Treat capacity as an option</a:t>
            </a:r>
          </a:p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100" b="0">
                <a:solidFill>
                  <a:srgbClr val="6B7280"/>
                </a:solidFill>
              </a:rPr>
              <a:t>until demand is proven.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ILLUSTRATIVE DECISION MATRIX / RISK IS A JOINT FUNCTION OF LEAD TIME AND UTILIZATION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09 /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There are three ways to buy capacity. None is free.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The right answer depends on demand certainty, capital appetite, and control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10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033"/>
                </a:solidFill>
                <a:latin typeface="Aptos"/>
              </a:rPr>
              <a:t>BUY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402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606040"/>
            <a:ext cx="2148840" cy="32004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033"/>
                </a:solidFill>
                <a:latin typeface="Aptos"/>
              </a:rPr>
              <a:t>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2402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optionality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2606040"/>
            <a:ext cx="2148840" cy="32004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72033"/>
                </a:solidFill>
                <a:latin typeface="Aptos"/>
              </a:rPr>
              <a:t>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24028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differentiation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606040"/>
            <a:ext cx="2148840" cy="32004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6324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onsolas"/>
              </a:rPr>
              <a:t>CAPITAL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0632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Consolas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0632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5BDB"/>
                </a:solidFill>
                <a:latin typeface="Consolas"/>
              </a:rPr>
              <a:t>variable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0632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73B"/>
                </a:solidFill>
                <a:latin typeface="Consolas"/>
              </a:rPr>
              <a:t>very 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364992"/>
            <a:ext cx="8092440" cy="10972"/>
          </a:xfrm>
          <a:prstGeom prst="rect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6118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onsolas"/>
              </a:rPr>
              <a:t>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6118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Consolas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6118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5BDB"/>
                </a:solidFill>
                <a:latin typeface="Consolas"/>
              </a:rPr>
              <a:t>fast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61188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73B"/>
                </a:solidFill>
                <a:latin typeface="Consolas"/>
              </a:rPr>
              <a:t>slow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913632"/>
            <a:ext cx="8092440" cy="10972"/>
          </a:xfrm>
          <a:prstGeom prst="rect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16052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onsolas"/>
              </a:rP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41605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Consolas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1605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5BDB"/>
                </a:solidFill>
                <a:latin typeface="Consolas"/>
              </a:rPr>
              <a:t>shared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605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73B"/>
                </a:solidFill>
                <a:latin typeface="Consolas"/>
              </a:rPr>
              <a:t>highest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462272"/>
            <a:ext cx="8092440" cy="10972"/>
          </a:xfrm>
          <a:prstGeom prst="rect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70916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onsolas"/>
              </a:rPr>
              <a:t>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7091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72033"/>
                </a:solidFill>
                <a:latin typeface="Consolas"/>
              </a:rPr>
              <a:t>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47091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45BDB"/>
                </a:solidFill>
                <a:latin typeface="Consolas"/>
              </a:rPr>
              <a:t>vendor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70916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473B"/>
                </a:solidFill>
                <a:latin typeface="Consolas"/>
              </a:rPr>
              <a:t>execution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5010912"/>
            <a:ext cx="8092440" cy="10972"/>
          </a:xfrm>
          <a:prstGeom prst="rect">
            <a:avLst/>
          </a:prstGeom>
          <a:solidFill>
            <a:srgbClr val="C9C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81160" y="1828800"/>
            <a:ext cx="1828800" cy="3611880"/>
          </a:xfrm>
          <a:prstGeom prst="roundRect">
            <a:avLst/>
          </a:prstGeom>
          <a:solidFill>
            <a:srgbClr val="E9E1D4"/>
          </a:solidFill>
          <a:ln w="12700">
            <a:solidFill>
              <a:srgbClr val="6B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219456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8E5A"/>
                </a:solidFill>
                <a:latin typeface="Consolas"/>
              </a:rPr>
              <a:t>OPERATOR 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2743200"/>
            <a:ext cx="1280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1400" b="0">
                <a:solidFill>
                  <a:srgbClr val="172033"/>
                </a:solidFill>
              </a:rPr>
              <a:t>How certain</a:t>
            </a:r>
          </a:p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1400" b="0">
                <a:solidFill>
                  <a:srgbClr val="172033"/>
                </a:solidFill>
              </a:rPr>
              <a:t>is demand?</a:t>
            </a:r>
          </a:p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1400" b="0">
                <a:solidFill>
                  <a:srgbClr val="172033"/>
                </a:solidFill>
              </a:rPr>
              <a:t>How unique</a:t>
            </a:r>
          </a:p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1400" b="0">
                <a:solidFill>
                  <a:srgbClr val="172033"/>
                </a:solidFill>
              </a:rPr>
              <a:t>is the workload?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DECISION MODEL / CAPACITY STRATEGY IS A PORTFOLIO, NOT A SINGLE PROCUREMENT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10 /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Run infrastructure like an operating system, not a warehouse.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Five measures reveal whether the asset is earning its keep.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11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05740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057400"/>
            <a:ext cx="45720" cy="105156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2203704"/>
            <a:ext cx="15819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033"/>
                </a:solidFill>
                <a:latin typeface="Aptos"/>
              </a:rP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2560320"/>
            <a:ext cx="1581911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what 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29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5BDB"/>
                </a:solidFill>
                <a:latin typeface="Consolas"/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840480"/>
            <a:ext cx="1508760" cy="32004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63239" y="205740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3239" y="2057400"/>
            <a:ext cx="45720" cy="1051560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7832" y="2203704"/>
            <a:ext cx="15819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033"/>
                </a:solidFill>
                <a:latin typeface="Aptos"/>
              </a:rPr>
              <a:t>UTILIZATION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7832" y="2560320"/>
            <a:ext cx="1581911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what is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429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8E5A"/>
                </a:solidFill>
                <a:latin typeface="Consolas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840480"/>
            <a:ext cx="1508760" cy="32004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257800" y="205740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2057400"/>
            <a:ext cx="45720" cy="105156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2392" y="2203704"/>
            <a:ext cx="15819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033"/>
                </a:solidFill>
                <a:latin typeface="Aptos"/>
              </a:rPr>
              <a:t>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2392" y="2560320"/>
            <a:ext cx="1581911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what users feel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429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5BDB"/>
                </a:solidFill>
                <a:latin typeface="Consolas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40680" y="3840480"/>
            <a:ext cx="1508760" cy="32004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52359" y="205740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59" y="2057400"/>
            <a:ext cx="45720" cy="105156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16951" y="2203704"/>
            <a:ext cx="15819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033"/>
                </a:solidFill>
                <a:latin typeface="Aptos"/>
              </a:rPr>
              <a:t>DEPRECIATION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6951" y="2560320"/>
            <a:ext cx="1581911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what time costs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39" y="3429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73B"/>
                </a:solidFill>
                <a:latin typeface="Consolas"/>
              </a:rPr>
              <a:t>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39" y="3840480"/>
            <a:ext cx="1508760" cy="32004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46919" y="2057400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47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46919" y="2057400"/>
            <a:ext cx="45720" cy="1051560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11511" y="2203704"/>
            <a:ext cx="158191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033"/>
                </a:solidFill>
                <a:latin typeface="Aptos"/>
              </a:rPr>
              <a:t>POWER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1" y="2560320"/>
            <a:ext cx="1581911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</a:rPr>
              <a:t>what scale requires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799" y="34290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473B"/>
                </a:solidFill>
                <a:latin typeface="Consolas"/>
              </a:rPr>
              <a:t>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799" y="3840480"/>
            <a:ext cx="1508760" cy="32004"/>
          </a:xfrm>
          <a:prstGeom prst="rect">
            <a:avLst/>
          </a:prstGeom>
          <a:solidFill>
            <a:srgbClr val="C64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6634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2033"/>
                </a:solidFill>
                <a:latin typeface="Consolas"/>
              </a:rPr>
              <a:t>THE SCORECARD TURNS CAPEX INTO A FEEDBACK SYSTEM.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2120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0"/>
              </a:spcBef>
              <a:spcAft>
                <a:spcPts val="110"/>
              </a:spcAft>
            </a:pPr>
            <a:r>
              <a:rPr sz="1300" b="0">
                <a:solidFill>
                  <a:srgbClr val="6B7280"/>
                </a:solidFill>
              </a:rPr>
              <a:t>If one measure is missing, the operator is managing a blind spot — not a platform.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OPERATOR CONTROL / MEASURE CAPACITY, UTILIZATION, USER EXPERIENCE, TIME, AND POWER TOGETHER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3464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12880" y="411480"/>
            <a:ext cx="10972" cy="5669280"/>
          </a:xfrm>
          <a:prstGeom prst="rect">
            <a:avLst/>
          </a:prstGeom>
          <a:solidFill>
            <a:srgbClr val="E9E1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411480"/>
            <a:ext cx="1828800" cy="246888"/>
          </a:xfrm>
          <a:prstGeom prst="roundRect">
            <a:avLst/>
          </a:prstGeom>
          <a:solidFill>
            <a:srgbClr val="F5F0E8"/>
          </a:solidFill>
          <a:ln w="12700">
            <a:solidFill>
              <a:srgbClr val="245BD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5720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45BDB"/>
                </a:solidFill>
                <a:latin typeface="Consolas"/>
              </a:rPr>
              <a:t>11 /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Aptos"/>
              </a:rPr>
              <a:t>The winning infrastructure is not the biggest. It is the most legible.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7957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Capital creates the option. Constraints define the clock. Control decides the return.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12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5029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INFRA /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288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72033"/>
                </a:solidFill>
                <a:latin typeface="Aptos"/>
              </a:rPr>
              <a:t>Capital creates
the option.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6473B"/>
                </a:solidFill>
                <a:latin typeface="Aptos"/>
              </a:rPr>
              <a:t>Constraints define
the clock.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8E5A"/>
                </a:solidFill>
                <a:latin typeface="Aptos"/>
              </a:rPr>
              <a:t>Control decides
the return.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4389120" cy="34747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0E8"/>
                </a:solidFill>
                <a:latin typeface="Consolas"/>
              </a:rPr>
              <a:t>THE OPERATOR’S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78892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2000" b="0">
                <a:solidFill>
                  <a:srgbClr val="F5F0E8"/>
                </a:solidFill>
              </a:rPr>
              <a:t>Where is the bottleneck?</a:t>
            </a:r>
          </a:p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2000" b="0">
                <a:solidFill>
                  <a:srgbClr val="F5F0E8"/>
                </a:solidFill>
              </a:rPr>
              <a:t>What can we flex?</a:t>
            </a:r>
          </a:p>
          <a:p>
            <a:pPr algn="l">
              <a:spcBef>
                <a:spcPts val="135"/>
              </a:spcBef>
              <a:spcAft>
                <a:spcPts val="135"/>
              </a:spcAft>
            </a:pPr>
            <a:r>
              <a:rPr sz="2000" b="0">
                <a:solidFill>
                  <a:srgbClr val="F5F0E8"/>
                </a:solidFill>
              </a:rPr>
              <a:t>What must we own?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4754880"/>
            <a:ext cx="3474720" cy="36576"/>
          </a:xfrm>
          <a:prstGeom prst="rect">
            <a:avLst/>
          </a:prstGeom>
          <a:solidFill>
            <a:srgbClr val="6B8E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9834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8E5A"/>
                </a:solidFill>
                <a:latin typeface="Consolas"/>
              </a:rPr>
              <a:t>MAKE THE STACK LEGIBLE.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6446520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onsolas"/>
              </a:rPr>
              <a:t>AI INFRASTRUCTURE ECONOMICS / END OF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