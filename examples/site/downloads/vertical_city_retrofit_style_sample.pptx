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8c7bae71af4e3b8e626b4deb57d5b4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49808" y="749808"/>
            <a:ext cx="2697480" cy="41148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1005840"/>
            <a:ext cx="4389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6F8B"/>
                </a:solidFill>
                <a:latin typeface="Consolas"/>
              </a:rPr>
              <a:t>URBAN SYSTEMS / CASE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481328"/>
            <a:ext cx="4480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20272B"/>
                </a:solidFill>
                <a:latin typeface="Aptos"/>
              </a:rPr>
              <a:t>VERTICAL CITY
RETROFIT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944368"/>
            <a:ext cx="42519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0272B"/>
                </a:solidFill>
                <a:latin typeface="Aptos"/>
              </a:rPr>
              <a:t>The next city is not built from scratch.
It is upgraded in place.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886200"/>
            <a:ext cx="41148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5"/>
              </a:spcBef>
              <a:spcAft>
                <a:spcPts val="125"/>
              </a:spcAft>
            </a:pPr>
            <a:r>
              <a:rPr sz="1050" b="0">
                <a:solidFill>
                  <a:srgbClr val="6F7775"/>
                </a:solidFill>
              </a:rPr>
              <a:t>A strategy for aging high-rise housing</a:t>
            </a:r>
          </a:p>
          <a:p>
            <a:pPr algn="l">
              <a:spcBef>
                <a:spcPts val="125"/>
              </a:spcBef>
              <a:spcAft>
                <a:spcPts val="125"/>
              </a:spcAft>
            </a:pPr>
            <a:r>
              <a:rPr sz="1050" b="0">
                <a:solidFill>
                  <a:srgbClr val="6F7775"/>
                </a:solidFill>
              </a:rPr>
              <a:t>envelope · energy · shared space · care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5870448"/>
            <a:ext cx="41148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30" b="1">
                <a:solidFill>
                  <a:srgbClr val="1F6F8B"/>
                </a:solidFill>
                <a:latin typeface="Consolas"/>
              </a:rPr>
              <a:t>CONCEPTUAL HERO VISUAL / NOT A REAL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6236208"/>
            <a:ext cx="41148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F7775"/>
                </a:solidFill>
                <a:latin typeface="Consolas"/>
              </a:rPr>
              <a:t>VERTICAL CITY RETROFIT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E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1792" y="411480"/>
            <a:ext cx="10972" cy="5715000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07792" y="411480"/>
            <a:ext cx="10972" cy="5715000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193792" y="411480"/>
            <a:ext cx="10972" cy="5715000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79792" y="411480"/>
            <a:ext cx="10972" cy="5715000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65792" y="411480"/>
            <a:ext cx="10972" cy="5715000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594592" y="411480"/>
            <a:ext cx="10972" cy="5715000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402336"/>
            <a:ext cx="1783080" cy="32004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530352"/>
            <a:ext cx="20116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F6F8B"/>
                </a:solidFill>
                <a:latin typeface="Consolas"/>
              </a:rPr>
              <a:t>01 / THE VISIBLE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84124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0272B"/>
                </a:solidFill>
                <a:latin typeface="Aptos"/>
              </a:rPr>
              <a:t>An aging tower is a stack of hidden pressures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225296"/>
            <a:ext cx="10607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F7775"/>
                </a:solidFill>
                <a:latin typeface="Aptos"/>
              </a:rPr>
              <a:t>The façade is only the visible layer; the retrofit brief begins where energy, access, and care intersect.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</a:rPr>
              <a:t>2 / 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78440" y="548640"/>
            <a:ext cx="10972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F7775"/>
                </a:solidFill>
                <a:latin typeface="Consolas"/>
              </a:rPr>
              <a:t>CITY /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1664208"/>
            <a:ext cx="374903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F6F8B"/>
                </a:solidFill>
                <a:latin typeface="Consolas"/>
              </a:rPr>
              <a:t>SECTIONAL DIAGNOSIS / EXISTING CONDITION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1901952"/>
            <a:ext cx="4069080" cy="2286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25880" y="2212848"/>
            <a:ext cx="2057400" cy="3429000"/>
          </a:xfrm>
          <a:prstGeom prst="rect">
            <a:avLst/>
          </a:prstGeom>
          <a:solidFill>
            <a:srgbClr val="E5DED2"/>
          </a:solidFill>
          <a:ln w="12700">
            <a:solidFill>
              <a:srgbClr val="20272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148840" y="2450592"/>
            <a:ext cx="347472" cy="2907792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417320" y="2377440"/>
            <a:ext cx="1874519" cy="12801"/>
          </a:xfrm>
          <a:prstGeom prst="rect">
            <a:avLst/>
          </a:prstGeom>
          <a:solidFill>
            <a:srgbClr val="C9C2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536192" y="2478024"/>
            <a:ext cx="384048" cy="54864"/>
          </a:xfrm>
          <a:prstGeom prst="rect">
            <a:avLst/>
          </a:prstGeom>
          <a:solidFill>
            <a:srgbClr val="B85C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697480" y="2478024"/>
            <a:ext cx="457200" cy="54864"/>
          </a:xfrm>
          <a:prstGeom prst="rect">
            <a:avLst/>
          </a:prstGeom>
          <a:solidFill>
            <a:srgbClr val="5974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417320" y="2770632"/>
            <a:ext cx="1874519" cy="12801"/>
          </a:xfrm>
          <a:prstGeom prst="rect">
            <a:avLst/>
          </a:prstGeom>
          <a:solidFill>
            <a:srgbClr val="C9C2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536192" y="2871216"/>
            <a:ext cx="384048" cy="54864"/>
          </a:xfrm>
          <a:prstGeom prst="rect">
            <a:avLst/>
          </a:prstGeom>
          <a:solidFill>
            <a:srgbClr val="B85C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697480" y="2871216"/>
            <a:ext cx="457200" cy="54864"/>
          </a:xfrm>
          <a:prstGeom prst="rect">
            <a:avLst/>
          </a:prstGeom>
          <a:solidFill>
            <a:srgbClr val="5974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417320" y="3163824"/>
            <a:ext cx="1874519" cy="12801"/>
          </a:xfrm>
          <a:prstGeom prst="rect">
            <a:avLst/>
          </a:prstGeom>
          <a:solidFill>
            <a:srgbClr val="C9C2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536192" y="3264408"/>
            <a:ext cx="384048" cy="54864"/>
          </a:xfrm>
          <a:prstGeom prst="rect">
            <a:avLst/>
          </a:prstGeom>
          <a:solidFill>
            <a:srgbClr val="B85C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697480" y="3264408"/>
            <a:ext cx="457200" cy="54864"/>
          </a:xfrm>
          <a:prstGeom prst="rect">
            <a:avLst/>
          </a:prstGeom>
          <a:solidFill>
            <a:srgbClr val="5974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7320" y="3557016"/>
            <a:ext cx="1874519" cy="12801"/>
          </a:xfrm>
          <a:prstGeom prst="rect">
            <a:avLst/>
          </a:prstGeom>
          <a:solidFill>
            <a:srgbClr val="C9C2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36192" y="3657600"/>
            <a:ext cx="384048" cy="54864"/>
          </a:xfrm>
          <a:prstGeom prst="rect">
            <a:avLst/>
          </a:prstGeom>
          <a:solidFill>
            <a:srgbClr val="B85C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697480" y="3657600"/>
            <a:ext cx="457200" cy="54864"/>
          </a:xfrm>
          <a:prstGeom prst="rect">
            <a:avLst/>
          </a:prstGeom>
          <a:solidFill>
            <a:srgbClr val="5974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417320" y="3950208"/>
            <a:ext cx="1874519" cy="12801"/>
          </a:xfrm>
          <a:prstGeom prst="rect">
            <a:avLst/>
          </a:prstGeom>
          <a:solidFill>
            <a:srgbClr val="C9C2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536192" y="4050792"/>
            <a:ext cx="384048" cy="54864"/>
          </a:xfrm>
          <a:prstGeom prst="rect">
            <a:avLst/>
          </a:prstGeom>
          <a:solidFill>
            <a:srgbClr val="B85C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697480" y="4050792"/>
            <a:ext cx="457200" cy="54864"/>
          </a:xfrm>
          <a:prstGeom prst="rect">
            <a:avLst/>
          </a:prstGeom>
          <a:solidFill>
            <a:srgbClr val="5974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417320" y="4343400"/>
            <a:ext cx="1874519" cy="12801"/>
          </a:xfrm>
          <a:prstGeom prst="rect">
            <a:avLst/>
          </a:prstGeom>
          <a:solidFill>
            <a:srgbClr val="C9C2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536192" y="4443984"/>
            <a:ext cx="384048" cy="54864"/>
          </a:xfrm>
          <a:prstGeom prst="rect">
            <a:avLst/>
          </a:prstGeom>
          <a:solidFill>
            <a:srgbClr val="B85C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697480" y="4443984"/>
            <a:ext cx="457200" cy="54864"/>
          </a:xfrm>
          <a:prstGeom prst="rect">
            <a:avLst/>
          </a:prstGeom>
          <a:solidFill>
            <a:srgbClr val="5974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417320" y="4736592"/>
            <a:ext cx="1874519" cy="12801"/>
          </a:xfrm>
          <a:prstGeom prst="rect">
            <a:avLst/>
          </a:prstGeom>
          <a:solidFill>
            <a:srgbClr val="C9C2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536192" y="4837176"/>
            <a:ext cx="384048" cy="54864"/>
          </a:xfrm>
          <a:prstGeom prst="rect">
            <a:avLst/>
          </a:prstGeom>
          <a:solidFill>
            <a:srgbClr val="B85C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697480" y="4837176"/>
            <a:ext cx="457200" cy="54864"/>
          </a:xfrm>
          <a:prstGeom prst="rect">
            <a:avLst/>
          </a:prstGeom>
          <a:solidFill>
            <a:srgbClr val="5974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417320" y="5129783"/>
            <a:ext cx="1874519" cy="12801"/>
          </a:xfrm>
          <a:prstGeom prst="rect">
            <a:avLst/>
          </a:prstGeom>
          <a:solidFill>
            <a:srgbClr val="C9C2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536192" y="5230368"/>
            <a:ext cx="384048" cy="54864"/>
          </a:xfrm>
          <a:prstGeom prst="rect">
            <a:avLst/>
          </a:prstGeom>
          <a:solidFill>
            <a:srgbClr val="B85C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697480" y="5230368"/>
            <a:ext cx="457200" cy="54864"/>
          </a:xfrm>
          <a:prstGeom prst="rect">
            <a:avLst/>
          </a:prstGeom>
          <a:solidFill>
            <a:srgbClr val="5974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70432" y="5650992"/>
            <a:ext cx="2377440" cy="164592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401568" y="2523744"/>
            <a:ext cx="658368" cy="12801"/>
          </a:xfrm>
          <a:prstGeom prst="rect">
            <a:avLst/>
          </a:prstGeom>
          <a:solidFill>
            <a:srgbClr val="B85C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ight Arrow 44"/>
          <p:cNvSpPr/>
          <p:nvPr/>
        </p:nvSpPr>
        <p:spPr>
          <a:xfrm>
            <a:off x="4041648" y="2496312"/>
            <a:ext cx="274320" cy="91440"/>
          </a:xfrm>
          <a:prstGeom prst="rightArrow">
            <a:avLst/>
          </a:prstGeom>
          <a:solidFill>
            <a:srgbClr val="B85C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98848" y="2423160"/>
            <a:ext cx="8229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1">
                <a:solidFill>
                  <a:srgbClr val="B85C42"/>
                </a:solidFill>
                <a:latin typeface="Consolas"/>
              </a:rPr>
              <a:t>HEAT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76672" y="2423160"/>
            <a:ext cx="16459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20272B"/>
                </a:solidFill>
                <a:latin typeface="Aptos"/>
              </a:rPr>
              <a:t>envelope loss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401568" y="3566160"/>
            <a:ext cx="658368" cy="12801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ight Arrow 48"/>
          <p:cNvSpPr/>
          <p:nvPr/>
        </p:nvSpPr>
        <p:spPr>
          <a:xfrm>
            <a:off x="4041648" y="3538728"/>
            <a:ext cx="274320" cy="91440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98848" y="3465576"/>
            <a:ext cx="8229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1">
                <a:solidFill>
                  <a:srgbClr val="1F6F8B"/>
                </a:solidFill>
                <a:latin typeface="Consolas"/>
              </a:rPr>
              <a:t>ACCESS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76672" y="3465576"/>
            <a:ext cx="16459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20272B"/>
                </a:solidFill>
                <a:latin typeface="Aptos"/>
              </a:rPr>
              <a:t>lift + threshold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401568" y="4626864"/>
            <a:ext cx="658368" cy="12801"/>
          </a:xfrm>
          <a:prstGeom prst="rect">
            <a:avLst/>
          </a:prstGeom>
          <a:solidFill>
            <a:srgbClr val="5974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ight Arrow 52"/>
          <p:cNvSpPr/>
          <p:nvPr/>
        </p:nvSpPr>
        <p:spPr>
          <a:xfrm>
            <a:off x="4041648" y="4599431"/>
            <a:ext cx="274320" cy="91440"/>
          </a:xfrm>
          <a:prstGeom prst="rightArrow">
            <a:avLst/>
          </a:prstGeom>
          <a:solidFill>
            <a:srgbClr val="5974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98848" y="4526279"/>
            <a:ext cx="8229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1">
                <a:solidFill>
                  <a:srgbClr val="597461"/>
                </a:solidFill>
                <a:latin typeface="Consolas"/>
              </a:rPr>
              <a:t>CARE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76672" y="4526279"/>
            <a:ext cx="16459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20272B"/>
                </a:solidFill>
                <a:latin typeface="Aptos"/>
              </a:rPr>
              <a:t>isolated shared space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401568" y="5486400"/>
            <a:ext cx="658368" cy="12801"/>
          </a:xfrm>
          <a:prstGeom prst="rect">
            <a:avLst/>
          </a:prstGeom>
          <a:solidFill>
            <a:srgbClr val="B85C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ight Arrow 56"/>
          <p:cNvSpPr/>
          <p:nvPr/>
        </p:nvSpPr>
        <p:spPr>
          <a:xfrm>
            <a:off x="4041648" y="5458968"/>
            <a:ext cx="274320" cy="91440"/>
          </a:xfrm>
          <a:prstGeom prst="rightArrow">
            <a:avLst/>
          </a:prstGeom>
          <a:solidFill>
            <a:srgbClr val="B85C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498848" y="5385816"/>
            <a:ext cx="8229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1">
                <a:solidFill>
                  <a:srgbClr val="B85C42"/>
                </a:solidFill>
                <a:latin typeface="Consolas"/>
              </a:rPr>
              <a:t>ENERGY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376672" y="5385816"/>
            <a:ext cx="16459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>
                <a:solidFill>
                  <a:srgbClr val="20272B"/>
                </a:solidFill>
                <a:latin typeface="Aptos"/>
              </a:rPr>
              <a:t>plant at end-of-life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87184" y="1682496"/>
            <a:ext cx="3840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85C42"/>
                </a:solidFill>
                <a:latin typeface="Consolas"/>
              </a:rPr>
              <a:t>THE RETROFIT BRIEF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187184" y="1938528"/>
            <a:ext cx="3950208" cy="27432"/>
          </a:xfrm>
          <a:prstGeom prst="rect">
            <a:avLst/>
          </a:prstGeom>
          <a:solidFill>
            <a:srgbClr val="B85C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187184" y="2267712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0272B"/>
                </a:solidFill>
                <a:latin typeface="Aptos"/>
              </a:rPr>
              <a:t>Upgrade the
whole section.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05472" y="3072384"/>
            <a:ext cx="3566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18"/>
              </a:spcBef>
              <a:spcAft>
                <a:spcPts val="118"/>
              </a:spcAft>
            </a:pPr>
            <a:r>
              <a:rPr sz="1150" b="0">
                <a:solidFill>
                  <a:srgbClr val="6F7775"/>
                </a:solidFill>
              </a:rPr>
              <a:t>A façade-only fix can lower heat loss,</a:t>
            </a:r>
          </a:p>
          <a:p>
            <a:pPr algn="l">
              <a:spcBef>
                <a:spcPts val="118"/>
              </a:spcBef>
              <a:spcAft>
                <a:spcPts val="118"/>
              </a:spcAft>
            </a:pPr>
            <a:r>
              <a:rPr sz="1150" b="0">
                <a:solidFill>
                  <a:srgbClr val="6F7775"/>
                </a:solidFill>
              </a:rPr>
              <a:t>but it cannot repair the social and</a:t>
            </a:r>
          </a:p>
          <a:p>
            <a:pPr algn="l">
              <a:spcBef>
                <a:spcPts val="118"/>
              </a:spcBef>
              <a:spcAft>
                <a:spcPts val="118"/>
              </a:spcAft>
            </a:pPr>
            <a:r>
              <a:rPr sz="1150" b="0">
                <a:solidFill>
                  <a:srgbClr val="6F7775"/>
                </a:solidFill>
              </a:rPr>
              <a:t>operational systems around the home.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187184" y="4169663"/>
            <a:ext cx="3657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F6F8B"/>
                </a:solidFill>
                <a:latin typeface="Consolas"/>
              </a:rPr>
              <a:t>PRESSURE INDEX / ILLUSTRATIVE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187184" y="4425696"/>
            <a:ext cx="3703320" cy="16459"/>
          </a:xfrm>
          <a:prstGeom prst="rect">
            <a:avLst/>
          </a:prstGeom>
          <a:solidFill>
            <a:srgbClr val="C9C2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205472" y="4681728"/>
            <a:ext cx="7772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>
                <a:solidFill>
                  <a:srgbClr val="6F7775"/>
                </a:solidFill>
                <a:latin typeface="Consolas"/>
              </a:rPr>
              <a:t>THERMAL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19872" y="4709160"/>
            <a:ext cx="2395728" cy="82296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119872" y="4709160"/>
            <a:ext cx="2060326" cy="82296"/>
          </a:xfrm>
          <a:prstGeom prst="rect">
            <a:avLst/>
          </a:prstGeom>
          <a:solidFill>
            <a:srgbClr val="B85C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680192" y="4672584"/>
            <a:ext cx="3200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B85C42"/>
                </a:solidFill>
                <a:latin typeface="Consolas"/>
              </a:rPr>
              <a:t>86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05472" y="5010912"/>
            <a:ext cx="7772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>
                <a:solidFill>
                  <a:srgbClr val="6F7775"/>
                </a:solidFill>
                <a:latin typeface="Consolas"/>
              </a:rPr>
              <a:t>ACCESS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119872" y="5038344"/>
            <a:ext cx="2395728" cy="82296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119872" y="5038344"/>
            <a:ext cx="1485351" cy="82296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680192" y="5001768"/>
            <a:ext cx="3200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1F6F8B"/>
                </a:solidFill>
                <a:latin typeface="Consolas"/>
              </a:rPr>
              <a:t>62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205472" y="5340096"/>
            <a:ext cx="7772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1">
                <a:solidFill>
                  <a:srgbClr val="6F7775"/>
                </a:solidFill>
                <a:latin typeface="Consolas"/>
              </a:rPr>
              <a:t>SOCIAL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119872" y="5367528"/>
            <a:ext cx="2395728" cy="82296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119872" y="5367528"/>
            <a:ext cx="1772838" cy="82296"/>
          </a:xfrm>
          <a:prstGeom prst="rect">
            <a:avLst/>
          </a:prstGeom>
          <a:solidFill>
            <a:srgbClr val="5974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680192" y="5330952"/>
            <a:ext cx="3200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>
                <a:solidFill>
                  <a:srgbClr val="597461"/>
                </a:solidFill>
                <a:latin typeface="Consolas"/>
              </a:rPr>
              <a:t>74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187184" y="5760720"/>
            <a:ext cx="3703320" cy="2286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187184" y="5989320"/>
            <a:ext cx="4023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F6F8B"/>
                </a:solidFill>
                <a:latin typeface="Aptos"/>
              </a:rPr>
              <a:t>The unit of change is the building section.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94944" y="6446520"/>
            <a:ext cx="105156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6F7775"/>
                </a:solidFill>
                <a:latin typeface="Consolas"/>
              </a:rPr>
              <a:t>Scenario framing is illustrative; visual language separates diagnosis from future intervention.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E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1792" y="411480"/>
            <a:ext cx="10972" cy="5715000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07792" y="411480"/>
            <a:ext cx="10972" cy="5715000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193792" y="411480"/>
            <a:ext cx="10972" cy="5715000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79792" y="411480"/>
            <a:ext cx="10972" cy="5715000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65792" y="411480"/>
            <a:ext cx="10972" cy="5715000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594592" y="411480"/>
            <a:ext cx="10972" cy="5715000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402336"/>
            <a:ext cx="1783080" cy="32004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530352"/>
            <a:ext cx="20116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F6F8B"/>
                </a:solidFill>
                <a:latin typeface="Consolas"/>
              </a:rPr>
              <a:t>02 / SYSTEMS 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84124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0272B"/>
                </a:solidFill>
                <a:latin typeface="Aptos"/>
              </a:rPr>
              <a:t>One tower, five systems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225296"/>
            <a:ext cx="10607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F7775"/>
                </a:solidFill>
                <a:latin typeface="Aptos"/>
              </a:rPr>
              <a:t>The retrofit is not a façade package. It is a coordinated intervention across the whole vertical section.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</a:rPr>
              <a:t>3 / 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78440" y="548640"/>
            <a:ext cx="10972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F7775"/>
                </a:solidFill>
                <a:latin typeface="Consolas"/>
              </a:rPr>
              <a:t>CITY /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1664208"/>
            <a:ext cx="3657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F6F8B"/>
                </a:solidFill>
                <a:latin typeface="Consolas"/>
              </a:rPr>
              <a:t>EXPLODED AXONOMETRIC / OPERATING SECTION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1901952"/>
            <a:ext cx="10469880" cy="2286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304288"/>
            <a:ext cx="3154680" cy="2889504"/>
          </a:xfrm>
          <a:prstGeom prst="rect">
            <a:avLst/>
          </a:prstGeom>
          <a:solidFill>
            <a:srgbClr val="E5DED2"/>
          </a:solidFill>
          <a:ln w="12700">
            <a:solidFill>
              <a:srgbClr val="20272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61104" y="2487168"/>
            <a:ext cx="475488" cy="2505456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035808" y="2615184"/>
            <a:ext cx="2898648" cy="12801"/>
          </a:xfrm>
          <a:prstGeom prst="rect">
            <a:avLst/>
          </a:prstGeom>
          <a:solidFill>
            <a:srgbClr val="C9C2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035808" y="3054096"/>
            <a:ext cx="2898648" cy="12801"/>
          </a:xfrm>
          <a:prstGeom prst="rect">
            <a:avLst/>
          </a:prstGeom>
          <a:solidFill>
            <a:srgbClr val="C9C2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035808" y="3493008"/>
            <a:ext cx="2898648" cy="12801"/>
          </a:xfrm>
          <a:prstGeom prst="rect">
            <a:avLst/>
          </a:prstGeom>
          <a:solidFill>
            <a:srgbClr val="C9C2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35808" y="3931920"/>
            <a:ext cx="2898648" cy="12801"/>
          </a:xfrm>
          <a:prstGeom prst="rect">
            <a:avLst/>
          </a:prstGeom>
          <a:solidFill>
            <a:srgbClr val="C9C2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35808" y="4370832"/>
            <a:ext cx="2898648" cy="12801"/>
          </a:xfrm>
          <a:prstGeom prst="rect">
            <a:avLst/>
          </a:prstGeom>
          <a:solidFill>
            <a:srgbClr val="C9C2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35808" y="4809744"/>
            <a:ext cx="2898648" cy="12801"/>
          </a:xfrm>
          <a:prstGeom prst="rect">
            <a:avLst/>
          </a:prstGeom>
          <a:solidFill>
            <a:srgbClr val="C9C2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615184" y="2212848"/>
            <a:ext cx="3730752" cy="50292"/>
          </a:xfrm>
          <a:prstGeom prst="rect">
            <a:avLst/>
          </a:prstGeom>
          <a:solidFill>
            <a:srgbClr val="B85C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24912" y="2313432"/>
            <a:ext cx="3511296" cy="10972"/>
          </a:xfrm>
          <a:prstGeom prst="rect">
            <a:avLst/>
          </a:prstGeom>
          <a:solidFill>
            <a:srgbClr val="B85C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79776" y="2944368"/>
            <a:ext cx="3566160" cy="50292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889504" y="3044952"/>
            <a:ext cx="3346704" cy="10972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44368" y="3675887"/>
            <a:ext cx="3401568" cy="50292"/>
          </a:xfrm>
          <a:prstGeom prst="rect">
            <a:avLst/>
          </a:prstGeom>
          <a:solidFill>
            <a:srgbClr val="5974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54096" y="3776472"/>
            <a:ext cx="3182112" cy="10972"/>
          </a:xfrm>
          <a:prstGeom prst="rect">
            <a:avLst/>
          </a:prstGeom>
          <a:solidFill>
            <a:srgbClr val="5974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108960" y="4407408"/>
            <a:ext cx="3236976" cy="50292"/>
          </a:xfrm>
          <a:prstGeom prst="rect">
            <a:avLst/>
          </a:prstGeom>
          <a:solidFill>
            <a:srgbClr val="B85C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18688" y="4507992"/>
            <a:ext cx="3017520" cy="10972"/>
          </a:xfrm>
          <a:prstGeom prst="rect">
            <a:avLst/>
          </a:prstGeom>
          <a:solidFill>
            <a:srgbClr val="B85C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670048" y="5340096"/>
            <a:ext cx="3675887" cy="146304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0" y="5632704"/>
            <a:ext cx="20116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19" b="1">
                <a:solidFill>
                  <a:srgbClr val="1F6F8B"/>
                </a:solidFill>
                <a:latin typeface="Consolas"/>
              </a:rPr>
              <a:t>ONE SECTION / FIVE OPERATING LAYERS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" y="2322576"/>
            <a:ext cx="3108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85C42"/>
                </a:solidFill>
                <a:latin typeface="Consolas"/>
              </a:rPr>
              <a:t>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16736" y="2322576"/>
            <a:ext cx="13258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40" b="1">
                <a:solidFill>
                  <a:srgbClr val="B85C42"/>
                </a:solidFill>
                <a:latin typeface="Consolas"/>
              </a:rPr>
              <a:t>ENVELOPE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16736" y="2551176"/>
            <a:ext cx="157276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F7775"/>
                </a:solidFill>
                <a:latin typeface="Aptos"/>
              </a:rPr>
              <a:t>thermal skin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88336" y="2395728"/>
            <a:ext cx="219456" cy="12801"/>
          </a:xfrm>
          <a:prstGeom prst="rect">
            <a:avLst/>
          </a:prstGeom>
          <a:solidFill>
            <a:srgbClr val="B85C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7824" y="3054096"/>
            <a:ext cx="3108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F6F8B"/>
                </a:solidFill>
                <a:latin typeface="Consolas"/>
              </a:rPr>
              <a:t>02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16736" y="3054096"/>
            <a:ext cx="13258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40" b="1">
                <a:solidFill>
                  <a:srgbClr val="1F6F8B"/>
                </a:solidFill>
                <a:latin typeface="Consolas"/>
              </a:rPr>
              <a:t>ENERGY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16736" y="3282696"/>
            <a:ext cx="157276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F7775"/>
                </a:solidFill>
                <a:latin typeface="Aptos"/>
              </a:rPr>
              <a:t>plant + distribution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88336" y="3127248"/>
            <a:ext cx="91440" cy="12801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7824" y="3785615"/>
            <a:ext cx="3108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97461"/>
                </a:solidFill>
                <a:latin typeface="Consolas"/>
              </a:rPr>
              <a:t>03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16736" y="3785615"/>
            <a:ext cx="13258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40" b="1">
                <a:solidFill>
                  <a:srgbClr val="597461"/>
                </a:solidFill>
                <a:latin typeface="Consolas"/>
              </a:rPr>
              <a:t>MOBILITY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16736" y="4014215"/>
            <a:ext cx="157276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F7775"/>
                </a:solidFill>
                <a:latin typeface="Aptos"/>
              </a:rPr>
              <a:t>lift + threshold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688336" y="3858768"/>
            <a:ext cx="256032" cy="12801"/>
          </a:xfrm>
          <a:prstGeom prst="rect">
            <a:avLst/>
          </a:prstGeom>
          <a:solidFill>
            <a:srgbClr val="5974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23760" y="4078224"/>
            <a:ext cx="3108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85C42"/>
                </a:solidFill>
                <a:latin typeface="Consolas"/>
              </a:rPr>
              <a:t>04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62672" y="4078224"/>
            <a:ext cx="13258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40" b="1">
                <a:solidFill>
                  <a:srgbClr val="B85C42"/>
                </a:solidFill>
                <a:latin typeface="Consolas"/>
              </a:rPr>
              <a:t>SHARED SPACE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62672" y="4306824"/>
            <a:ext cx="157276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F7775"/>
                </a:solidFill>
                <a:latin typeface="Aptos"/>
              </a:rPr>
              <a:t>lobby + terrace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45936" y="4151376"/>
            <a:ext cx="713232" cy="12801"/>
          </a:xfrm>
          <a:prstGeom prst="rect">
            <a:avLst/>
          </a:prstGeom>
          <a:solidFill>
            <a:srgbClr val="B85C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223760" y="4736592"/>
            <a:ext cx="3108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97461"/>
                </a:solidFill>
                <a:latin typeface="Consolas"/>
              </a:rPr>
              <a:t>05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62672" y="4736592"/>
            <a:ext cx="13258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40" b="1">
                <a:solidFill>
                  <a:srgbClr val="597461"/>
                </a:solidFill>
                <a:latin typeface="Consolas"/>
              </a:rPr>
              <a:t>CARE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62672" y="4965192"/>
            <a:ext cx="157276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F7775"/>
                </a:solidFill>
                <a:latin typeface="Aptos"/>
              </a:rPr>
              <a:t>neighbourhood support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45936" y="4809744"/>
            <a:ext cx="713232" cy="12801"/>
          </a:xfrm>
          <a:prstGeom prst="rect">
            <a:avLst/>
          </a:prstGeom>
          <a:solidFill>
            <a:srgbClr val="5974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33488" y="2084831"/>
            <a:ext cx="3474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85C42"/>
                </a:solidFill>
                <a:latin typeface="Consolas"/>
              </a:rPr>
              <a:t>FROM BUILDING TO OPERATING MODEL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333488" y="2340864"/>
            <a:ext cx="3474720" cy="27432"/>
          </a:xfrm>
          <a:prstGeom prst="rect">
            <a:avLst/>
          </a:prstGeom>
          <a:solidFill>
            <a:srgbClr val="B85C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33488" y="2651760"/>
            <a:ext cx="3429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20272B"/>
                </a:solidFill>
                <a:latin typeface="Aptos"/>
              </a:rPr>
              <a:t>Value appears
in the connections.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51775" y="3419856"/>
            <a:ext cx="3246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14"/>
              </a:spcBef>
              <a:spcAft>
                <a:spcPts val="114"/>
              </a:spcAft>
            </a:pPr>
            <a:r>
              <a:rPr sz="1080" b="0">
                <a:solidFill>
                  <a:srgbClr val="6F7775"/>
                </a:solidFill>
              </a:rPr>
              <a:t>The same section can reduce loss,</a:t>
            </a:r>
          </a:p>
          <a:p>
            <a:pPr algn="l">
              <a:spcBef>
                <a:spcPts val="114"/>
              </a:spcBef>
              <a:spcAft>
                <a:spcPts val="114"/>
              </a:spcAft>
            </a:pPr>
            <a:r>
              <a:rPr sz="1080" b="0">
                <a:solidFill>
                  <a:srgbClr val="6F7775"/>
                </a:solidFill>
              </a:rPr>
              <a:t>restore access, and create care capacity.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33488" y="5138928"/>
            <a:ext cx="3474720" cy="2286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33488" y="5413248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F6F8B"/>
                </a:solidFill>
                <a:latin typeface="Aptos"/>
              </a:rPr>
              <a:t>The tower behaves like a city when its layers work together.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4944" y="6446520"/>
            <a:ext cx="105156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6F7775"/>
                </a:solidFill>
                <a:latin typeface="Consolas"/>
              </a:rPr>
              <a:t>Conceptual axonometric; system labels define the retrofit vocabulary and are not measured project outcomes.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E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1792" y="411480"/>
            <a:ext cx="10972" cy="5715000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07792" y="411480"/>
            <a:ext cx="10972" cy="5715000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193792" y="411480"/>
            <a:ext cx="10972" cy="5715000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79792" y="411480"/>
            <a:ext cx="10972" cy="5715000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65792" y="411480"/>
            <a:ext cx="10972" cy="5715000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594592" y="411480"/>
            <a:ext cx="10972" cy="5715000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402336"/>
            <a:ext cx="1783080" cy="32004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530352"/>
            <a:ext cx="20116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F6F8B"/>
                </a:solidFill>
                <a:latin typeface="Consolas"/>
              </a:rPr>
              <a:t>03 / DELIVERY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84124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0272B"/>
                </a:solidFill>
                <a:latin typeface="Aptos"/>
              </a:rPr>
              <a:t>The intervention moves in five deliberate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225296"/>
            <a:ext cx="10607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F7775"/>
                </a:solidFill>
                <a:latin typeface="Aptos"/>
              </a:rPr>
              <a:t>A retrofit succeeds when each move unlocks the next one without interrupting the life of the building.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</a:rPr>
              <a:t>4 / 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78440" y="548640"/>
            <a:ext cx="10972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F7775"/>
                </a:solidFill>
                <a:latin typeface="Consolas"/>
              </a:rPr>
              <a:t>CITY /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1700784"/>
            <a:ext cx="32918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F6F8B"/>
                </a:solidFill>
                <a:latin typeface="Consolas"/>
              </a:rPr>
              <a:t>OCCUPIED-BUILDING SEQUENCE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1938528"/>
            <a:ext cx="10561320" cy="2286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" y="2798064"/>
            <a:ext cx="1572768" cy="1335024"/>
          </a:xfrm>
          <a:prstGeom prst="rect">
            <a:avLst/>
          </a:prstGeom>
          <a:solidFill>
            <a:srgbClr val="E5DED2"/>
          </a:solidFill>
          <a:ln w="12700">
            <a:solidFill>
              <a:srgbClr val="B85C4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1248" y="2798064"/>
            <a:ext cx="1572768" cy="73152"/>
          </a:xfrm>
          <a:prstGeom prst="rect">
            <a:avLst/>
          </a:prstGeom>
          <a:solidFill>
            <a:srgbClr val="B85C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2999232"/>
            <a:ext cx="3108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85C42"/>
                </a:solidFill>
                <a:latin typeface="Consolas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3273552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B85C42"/>
                </a:solidFill>
                <a:latin typeface="Aptos Display"/>
              </a:rPr>
              <a:t>MEASURE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3547872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0272B"/>
                </a:solidFill>
                <a:latin typeface="Aptos"/>
              </a:rPr>
              <a:t>baseline the
whole section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3968496"/>
            <a:ext cx="12344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F7775"/>
                </a:solidFill>
                <a:latin typeface="Consolas"/>
              </a:rPr>
              <a:t>thermal + social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2505456" y="3383280"/>
            <a:ext cx="347472" cy="91440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944368" y="2651760"/>
            <a:ext cx="1572768" cy="1335024"/>
          </a:xfrm>
          <a:prstGeom prst="rect">
            <a:avLst/>
          </a:prstGeom>
          <a:solidFill>
            <a:srgbClr val="E5DED2"/>
          </a:solidFill>
          <a:ln w="12700">
            <a:solidFill>
              <a:srgbClr val="1F6F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44368" y="2651760"/>
            <a:ext cx="1572768" cy="73152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90672" y="2852928"/>
            <a:ext cx="3108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F6F8B"/>
                </a:solidFill>
                <a:latin typeface="Consolas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90672" y="3127248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F6F8B"/>
                </a:solidFill>
                <a:latin typeface="Aptos Display"/>
              </a:rPr>
              <a:t>WRAP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90672" y="3401568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0272B"/>
                </a:solidFill>
                <a:latin typeface="Aptos"/>
              </a:rPr>
              <a:t>reduce loss
first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90672" y="3822191"/>
            <a:ext cx="12344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F7775"/>
                </a:solidFill>
                <a:latin typeface="Consolas"/>
              </a:rPr>
              <a:t>envelope + plant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4608576" y="3236976"/>
            <a:ext cx="347472" cy="91440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47488" y="2505456"/>
            <a:ext cx="1572768" cy="1335024"/>
          </a:xfrm>
          <a:prstGeom prst="rect">
            <a:avLst/>
          </a:prstGeom>
          <a:solidFill>
            <a:srgbClr val="E5DED2"/>
          </a:solidFill>
          <a:ln w="12700">
            <a:solidFill>
              <a:srgbClr val="5974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47488" y="2505456"/>
            <a:ext cx="1572768" cy="73152"/>
          </a:xfrm>
          <a:prstGeom prst="rect">
            <a:avLst/>
          </a:prstGeom>
          <a:solidFill>
            <a:srgbClr val="5974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93792" y="2706624"/>
            <a:ext cx="3108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97461"/>
                </a:solidFill>
                <a:latin typeface="Consolas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93792" y="2980944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97461"/>
                </a:solidFill>
                <a:latin typeface="Aptos Display"/>
              </a:rPr>
              <a:t>OPEN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93792" y="3255264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0272B"/>
                </a:solidFill>
                <a:latin typeface="Aptos"/>
              </a:rPr>
              <a:t>repair the
threshold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93792" y="3675888"/>
            <a:ext cx="12344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F7775"/>
                </a:solidFill>
                <a:latin typeface="Consolas"/>
              </a:rPr>
              <a:t>lift + lobby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6711696" y="3090672"/>
            <a:ext cx="347472" cy="91440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150608" y="2359152"/>
            <a:ext cx="1572768" cy="1335024"/>
          </a:xfrm>
          <a:prstGeom prst="rect">
            <a:avLst/>
          </a:prstGeom>
          <a:solidFill>
            <a:srgbClr val="E5DED2"/>
          </a:solidFill>
          <a:ln w="12700">
            <a:solidFill>
              <a:srgbClr val="B85C4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150608" y="2359152"/>
            <a:ext cx="1572768" cy="73152"/>
          </a:xfrm>
          <a:prstGeom prst="rect">
            <a:avLst/>
          </a:prstGeom>
          <a:solidFill>
            <a:srgbClr val="B85C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96912" y="2560320"/>
            <a:ext cx="3108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85C42"/>
                </a:solidFill>
                <a:latin typeface="Consolas"/>
              </a:rPr>
              <a:t>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6912" y="2834640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B85C42"/>
                </a:solidFill>
                <a:latin typeface="Aptos Display"/>
              </a:rPr>
              <a:t>SHARE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96912" y="3108960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0272B"/>
                </a:solidFill>
                <a:latin typeface="Aptos"/>
              </a:rPr>
              <a:t>activate
common life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96912" y="3529584"/>
            <a:ext cx="12344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F7775"/>
                </a:solidFill>
                <a:latin typeface="Consolas"/>
              </a:rPr>
              <a:t>terrace + care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8814816" y="2944368"/>
            <a:ext cx="347472" cy="91440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253728" y="2212848"/>
            <a:ext cx="1572768" cy="1335024"/>
          </a:xfrm>
          <a:prstGeom prst="rect">
            <a:avLst/>
          </a:prstGeom>
          <a:solidFill>
            <a:srgbClr val="E5DED2"/>
          </a:solidFill>
          <a:ln w="12700">
            <a:solidFill>
              <a:srgbClr val="1F6F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253728" y="2212848"/>
            <a:ext cx="1572768" cy="73152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400032" y="2414016"/>
            <a:ext cx="31089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F6F8B"/>
                </a:solidFill>
                <a:latin typeface="Consolas"/>
              </a:rPr>
              <a:t>05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00032" y="2688336"/>
            <a:ext cx="1188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F6F8B"/>
                </a:solidFill>
                <a:latin typeface="Aptos Display"/>
              </a:rPr>
              <a:t>ADAPT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00032" y="2962656"/>
            <a:ext cx="1234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0272B"/>
                </a:solidFill>
                <a:latin typeface="Aptos"/>
              </a:rPr>
              <a:t>operate
and learn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00032" y="3383280"/>
            <a:ext cx="12344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F7775"/>
                </a:solidFill>
                <a:latin typeface="Consolas"/>
              </a:rPr>
              <a:t>data + feedback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41248" y="4846320"/>
            <a:ext cx="9985248" cy="32004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1248" y="5138928"/>
            <a:ext cx="20116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B85C42"/>
                </a:solidFill>
                <a:latin typeface="Consolas"/>
              </a:rPr>
              <a:t>THE DELIVERY TEST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" y="5468112"/>
            <a:ext cx="987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0272B"/>
                </a:solidFill>
                <a:latin typeface="Aptos"/>
              </a:rPr>
              <a:t>Can the building become more comfortable, more connected, and more useful while people remain inside it?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1248" y="5925312"/>
            <a:ext cx="97840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F6F8B"/>
                </a:solidFill>
                <a:latin typeface="Aptos"/>
              </a:rPr>
              <a:t>The sequence is the value proposition: reduce loss → restore access → create shared capacity → learn through operation.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4944" y="6446520"/>
            <a:ext cx="105156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6F7775"/>
                </a:solidFill>
                <a:latin typeface="Consolas"/>
              </a:rPr>
              <a:t>Conceptual delivery path; stage logic is a strategy hypothesis, not a measured project schedule.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E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1792" y="411480"/>
            <a:ext cx="10972" cy="5715000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07792" y="411480"/>
            <a:ext cx="10972" cy="5715000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193792" y="411480"/>
            <a:ext cx="10972" cy="5715000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79792" y="411480"/>
            <a:ext cx="10972" cy="5715000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65792" y="411480"/>
            <a:ext cx="10972" cy="5715000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594592" y="411480"/>
            <a:ext cx="10972" cy="5715000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402336"/>
            <a:ext cx="1783080" cy="32004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530352"/>
            <a:ext cx="20116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F6F8B"/>
                </a:solidFill>
                <a:latin typeface="Consolas"/>
              </a:rPr>
              <a:t>04 / ENERGY CONSTRAINT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84124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0272B"/>
                </a:solidFill>
                <a:latin typeface="Aptos"/>
              </a:rPr>
              <a:t>Energy is the first constraint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225296"/>
            <a:ext cx="10607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F7775"/>
                </a:solidFill>
                <a:latin typeface="Aptos"/>
              </a:rPr>
              <a:t>Before adding new capacity, reduce the amount of energy the building needs to perform everyday life.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</a:rPr>
              <a:t>5 / 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78440" y="548640"/>
            <a:ext cx="10972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F7775"/>
                </a:solidFill>
                <a:latin typeface="Consolas"/>
              </a:rPr>
              <a:t>CITY /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1664208"/>
            <a:ext cx="40233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F6F8B"/>
                </a:solidFill>
                <a:latin typeface="Consolas"/>
              </a:rPr>
              <a:t>ILLUSTRATIVE LOAD INDEX / EXISTING = 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1901952"/>
            <a:ext cx="6583680" cy="2286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084831" y="2267712"/>
            <a:ext cx="10972" cy="2852928"/>
          </a:xfrm>
          <a:prstGeom prst="rect">
            <a:avLst/>
          </a:prstGeom>
          <a:solidFill>
            <a:srgbClr val="C9C2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83663" y="5321808"/>
            <a:ext cx="53035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" b="0">
                <a:solidFill>
                  <a:srgbClr val="6F7775"/>
                </a:solidFill>
                <a:latin typeface="Consolas"/>
              </a:rP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2267712"/>
            <a:ext cx="10972" cy="2852928"/>
          </a:xfrm>
          <a:prstGeom prst="rect">
            <a:avLst/>
          </a:prstGeom>
          <a:solidFill>
            <a:srgbClr val="C9C2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90672" y="5321808"/>
            <a:ext cx="53035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" b="0">
                <a:solidFill>
                  <a:srgbClr val="6F7775"/>
                </a:solidFill>
                <a:latin typeface="Consolas"/>
              </a:rPr>
              <a:t>25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98848" y="2267712"/>
            <a:ext cx="10972" cy="2852928"/>
          </a:xfrm>
          <a:prstGeom prst="rect">
            <a:avLst/>
          </a:prstGeom>
          <a:solidFill>
            <a:srgbClr val="C9C2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97680" y="5321808"/>
            <a:ext cx="53035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" b="0">
                <a:solidFill>
                  <a:srgbClr val="6F7775"/>
                </a:solidFill>
                <a:latin typeface="Consolas"/>
              </a:rPr>
              <a:t>50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05856" y="2267712"/>
            <a:ext cx="10972" cy="2852928"/>
          </a:xfrm>
          <a:prstGeom prst="rect">
            <a:avLst/>
          </a:prstGeom>
          <a:solidFill>
            <a:srgbClr val="C9C2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04688" y="5321808"/>
            <a:ext cx="53035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" b="0">
                <a:solidFill>
                  <a:srgbClr val="6F7775"/>
                </a:solidFill>
                <a:latin typeface="Consolas"/>
              </a:rPr>
              <a:t>75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12864" y="2267712"/>
            <a:ext cx="10972" cy="2852928"/>
          </a:xfrm>
          <a:prstGeom prst="rect">
            <a:avLst/>
          </a:prstGeom>
          <a:solidFill>
            <a:srgbClr val="C9C2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11696" y="5321808"/>
            <a:ext cx="53035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" b="0">
                <a:solidFill>
                  <a:srgbClr val="6F7775"/>
                </a:solidFill>
                <a:latin typeface="Consolas"/>
              </a:rPr>
              <a:t>100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" y="2505456"/>
            <a:ext cx="107899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B85C42"/>
                </a:solidFill>
                <a:latin typeface="Consolas"/>
              </a:rPr>
              <a:t>EXISTING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84831" y="2468880"/>
            <a:ext cx="4828032" cy="237744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084831" y="2468880"/>
            <a:ext cx="4828032" cy="237744"/>
          </a:xfrm>
          <a:prstGeom prst="rect">
            <a:avLst/>
          </a:prstGeom>
          <a:solidFill>
            <a:srgbClr val="B85C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86016" y="2487168"/>
            <a:ext cx="5669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B85C42"/>
                </a:solidFill>
                <a:latin typeface="Aptos Display"/>
              </a:rPr>
              <a:t>100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" y="2724912"/>
            <a:ext cx="107899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F7775"/>
                </a:solidFill>
                <a:latin typeface="Consolas"/>
              </a:rPr>
              <a:t>uncoordinated demand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" y="3163824"/>
            <a:ext cx="107899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F6F8B"/>
                </a:solidFill>
                <a:latin typeface="Consolas"/>
              </a:rPr>
              <a:t>WRAP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84831" y="3127248"/>
            <a:ext cx="4828032" cy="237744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084831" y="3127248"/>
            <a:ext cx="3283061" cy="237744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86016" y="3145536"/>
            <a:ext cx="5669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1F6F8B"/>
                </a:solidFill>
                <a:latin typeface="Aptos Display"/>
              </a:rPr>
              <a:t>68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" y="3383280"/>
            <a:ext cx="107899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F7775"/>
                </a:solidFill>
                <a:latin typeface="Consolas"/>
              </a:rPr>
              <a:t>envelope first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" y="3822192"/>
            <a:ext cx="107899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597461"/>
                </a:solidFill>
                <a:latin typeface="Consolas"/>
              </a:rPr>
              <a:t>REWIRE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84831" y="3785616"/>
            <a:ext cx="4828032" cy="237744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084831" y="3785616"/>
            <a:ext cx="2607137" cy="237744"/>
          </a:xfrm>
          <a:prstGeom prst="rect">
            <a:avLst/>
          </a:prstGeom>
          <a:solidFill>
            <a:srgbClr val="5974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86016" y="3803904"/>
            <a:ext cx="5669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597461"/>
                </a:solidFill>
                <a:latin typeface="Aptos Display"/>
              </a:rPr>
              <a:t>54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6384" y="4041648"/>
            <a:ext cx="107899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F7775"/>
                </a:solidFill>
                <a:latin typeface="Consolas"/>
              </a:rPr>
              <a:t>plant + controls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6384" y="4480560"/>
            <a:ext cx="107899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F6F8B"/>
                </a:solidFill>
                <a:latin typeface="Consolas"/>
              </a:rPr>
              <a:t>SHARE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84831" y="4443984"/>
            <a:ext cx="4828032" cy="237744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084831" y="4443984"/>
            <a:ext cx="2269175" cy="237744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86016" y="4462272"/>
            <a:ext cx="5669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>
                <a:solidFill>
                  <a:srgbClr val="1F6F8B"/>
                </a:solidFill>
                <a:latin typeface="Aptos Display"/>
              </a:rPr>
              <a:t>47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6384" y="4700016"/>
            <a:ext cx="1078992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>
                <a:solidFill>
                  <a:srgbClr val="6F7775"/>
                </a:solidFill>
                <a:latin typeface="Consolas"/>
              </a:rPr>
              <a:t>shared load / care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" y="5833872"/>
            <a:ext cx="6492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>
                <a:solidFill>
                  <a:srgbClr val="1F6F8B"/>
                </a:solidFill>
                <a:latin typeface="Aptos"/>
              </a:rPr>
              <a:t>Illustrative sequence: reduce loss → rewire capacity → share the gain.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91856" y="1682496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85C42"/>
                </a:solidFill>
                <a:latin typeface="Consolas"/>
              </a:rPr>
              <a:t>THE STRATEGIC READ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91856" y="1938528"/>
            <a:ext cx="2834640" cy="27432"/>
          </a:xfrm>
          <a:prstGeom prst="rect">
            <a:avLst/>
          </a:prstGeom>
          <a:solidFill>
            <a:srgbClr val="B85C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91856" y="2340864"/>
            <a:ext cx="2971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0272B"/>
                </a:solidFill>
                <a:latin typeface="Aptos"/>
              </a:rPr>
              <a:t>Reduce loss
before adding capacity.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10144" y="3310128"/>
            <a:ext cx="278892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15"/>
              </a:spcBef>
              <a:spcAft>
                <a:spcPts val="115"/>
              </a:spcAft>
            </a:pPr>
            <a:r>
              <a:rPr sz="1120" b="0">
                <a:solidFill>
                  <a:srgbClr val="6F7775"/>
                </a:solidFill>
              </a:rPr>
              <a:t>A plant upgrade can improve</a:t>
            </a:r>
          </a:p>
          <a:p>
            <a:pPr algn="l">
              <a:spcBef>
                <a:spcPts val="115"/>
              </a:spcBef>
              <a:spcAft>
                <a:spcPts val="115"/>
              </a:spcAft>
            </a:pPr>
            <a:r>
              <a:rPr sz="1120" b="0">
                <a:solidFill>
                  <a:srgbClr val="6F7775"/>
                </a:solidFill>
              </a:rPr>
              <a:t>efficiency; an envelope upgrade</a:t>
            </a:r>
          </a:p>
          <a:p>
            <a:pPr algn="l">
              <a:spcBef>
                <a:spcPts val="115"/>
              </a:spcBef>
              <a:spcAft>
                <a:spcPts val="115"/>
              </a:spcAft>
            </a:pPr>
            <a:r>
              <a:rPr sz="1120" b="0">
                <a:solidFill>
                  <a:srgbClr val="6F7775"/>
                </a:solidFill>
              </a:rPr>
              <a:t>changes the demand itself.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991856" y="4279392"/>
            <a:ext cx="2834640" cy="2286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10144" y="4590288"/>
            <a:ext cx="31089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1">
                <a:solidFill>
                  <a:srgbClr val="B85C42"/>
                </a:solidFill>
                <a:latin typeface="Consolas"/>
              </a:rPr>
              <a:t>01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40496" y="4590288"/>
            <a:ext cx="9144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1">
                <a:solidFill>
                  <a:srgbClr val="B85C42"/>
                </a:solidFill>
                <a:latin typeface="Consolas"/>
              </a:rPr>
              <a:t>DEMAND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47504" y="4581144"/>
            <a:ext cx="1097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20272B"/>
                </a:solidFill>
                <a:latin typeface="Aptos"/>
              </a:rPr>
              <a:t>lower the peak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10144" y="5010912"/>
            <a:ext cx="31089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1">
                <a:solidFill>
                  <a:srgbClr val="1F6F8B"/>
                </a:solidFill>
                <a:latin typeface="Consolas"/>
              </a:rPr>
              <a:t>02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40496" y="5010912"/>
            <a:ext cx="9144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1">
                <a:solidFill>
                  <a:srgbClr val="1F6F8B"/>
                </a:solidFill>
                <a:latin typeface="Consolas"/>
              </a:rPr>
              <a:t>CAPACITY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747504" y="5001768"/>
            <a:ext cx="1097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20272B"/>
                </a:solidFill>
                <a:latin typeface="Aptos"/>
              </a:rPr>
              <a:t>right-size the plant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10144" y="5431536"/>
            <a:ext cx="31089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1">
                <a:solidFill>
                  <a:srgbClr val="597461"/>
                </a:solidFill>
                <a:latin typeface="Consolas"/>
              </a:rPr>
              <a:t>03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40496" y="5431536"/>
            <a:ext cx="9144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1">
                <a:solidFill>
                  <a:srgbClr val="597461"/>
                </a:solidFill>
                <a:latin typeface="Consolas"/>
              </a:rPr>
              <a:t>RESILIENCE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747504" y="5422392"/>
            <a:ext cx="1097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9" b="0">
                <a:solidFill>
                  <a:srgbClr val="20272B"/>
                </a:solidFill>
                <a:latin typeface="Aptos"/>
              </a:rPr>
              <a:t>keep options open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991856" y="5833872"/>
            <a:ext cx="2834640" cy="2286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991856" y="6016752"/>
            <a:ext cx="3108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1">
                <a:solidFill>
                  <a:srgbClr val="1F6F8B"/>
                </a:solidFill>
                <a:latin typeface="Aptos"/>
              </a:rPr>
              <a:t>The first retrofit is a demand decision.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4944" y="6446520"/>
            <a:ext cx="105156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6F7775"/>
                </a:solidFill>
                <a:latin typeface="Consolas"/>
              </a:rPr>
              <a:t>Illustrative load index for visual explanation only; not a measured building-energy result.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E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1792" y="411480"/>
            <a:ext cx="10972" cy="5715000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07792" y="411480"/>
            <a:ext cx="10972" cy="5715000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193792" y="411480"/>
            <a:ext cx="10972" cy="5715000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79792" y="411480"/>
            <a:ext cx="10972" cy="5715000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65792" y="411480"/>
            <a:ext cx="10972" cy="5715000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594592" y="411480"/>
            <a:ext cx="10972" cy="5715000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402336"/>
            <a:ext cx="1783080" cy="32004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530352"/>
            <a:ext cx="20116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F6F8B"/>
                </a:solidFill>
                <a:latin typeface="Consolas"/>
              </a:rPr>
              <a:t>05 / SHARED GROUND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84124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0272B"/>
                </a:solidFill>
                <a:latin typeface="Aptos"/>
              </a:rPr>
              <a:t>The ground floor is the social switch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225296"/>
            <a:ext cx="10607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F7775"/>
                </a:solidFill>
                <a:latin typeface="Aptos"/>
              </a:rPr>
              <a:t>A small change at the threshold can turn circulation space into shared civic capacity.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</a:rPr>
              <a:t>6 / 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78440" y="548640"/>
            <a:ext cx="10972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F7775"/>
                </a:solidFill>
                <a:latin typeface="Consolas"/>
              </a:rPr>
              <a:t>CITY /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1664208"/>
            <a:ext cx="40233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F6F8B"/>
                </a:solidFill>
                <a:latin typeface="Consolas"/>
              </a:rPr>
              <a:t>GROUND-FLOOR PLAN / BEFORE → AFTER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1901952"/>
            <a:ext cx="10469880" cy="2286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2249424"/>
            <a:ext cx="2651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85C42"/>
                </a:solidFill>
                <a:latin typeface="Consolas"/>
              </a:rPr>
              <a:t>01 / EXISTING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2542032"/>
            <a:ext cx="2651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0272B"/>
                </a:solidFill>
                <a:latin typeface="Aptos"/>
              </a:rPr>
              <a:t>sealed threshold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" y="2962656"/>
            <a:ext cx="3703320" cy="1865376"/>
          </a:xfrm>
          <a:prstGeom prst="rect">
            <a:avLst/>
          </a:prstGeom>
          <a:solidFill>
            <a:srgbClr val="E5DED2"/>
          </a:solidFill>
          <a:ln w="12700">
            <a:solidFill>
              <a:srgbClr val="20272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97280" y="3218688"/>
            <a:ext cx="3291840" cy="4572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7280" y="3840480"/>
            <a:ext cx="3291840" cy="4572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" y="4462272"/>
            <a:ext cx="3291840" cy="4572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920240" y="3218688"/>
            <a:ext cx="45720" cy="1243584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17520" y="3840480"/>
            <a:ext cx="45720" cy="621792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70432" y="3310128"/>
            <a:ext cx="512064" cy="347472"/>
          </a:xfrm>
          <a:prstGeom prst="rect">
            <a:avLst/>
          </a:prstGeom>
          <a:solidFill>
            <a:srgbClr val="B85C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18688" y="3968496"/>
            <a:ext cx="640080" cy="292608"/>
          </a:xfrm>
          <a:prstGeom prst="rect">
            <a:avLst/>
          </a:prstGeom>
          <a:solidFill>
            <a:srgbClr val="B85C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70432" y="5047488"/>
            <a:ext cx="32918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6F7775"/>
                </a:solidFill>
                <a:latin typeface="Consolas"/>
              </a:rPr>
              <a:t>lobby / parking edge / no shared program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5468112"/>
            <a:ext cx="37490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1">
                <a:solidFill>
                  <a:srgbClr val="B85C42"/>
                </a:solidFill>
                <a:latin typeface="Aptos"/>
              </a:rPr>
              <a:t>Movement passes through. Nothing stays.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4791456" y="3822191"/>
            <a:ext cx="749808" cy="91440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0" y="4169663"/>
            <a:ext cx="89611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19" b="1">
                <a:solidFill>
                  <a:srgbClr val="1F6F8B"/>
                </a:solidFill>
                <a:latin typeface="Consolas"/>
              </a:rPr>
              <a:t>OPEN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93792" y="2944368"/>
            <a:ext cx="22860" cy="1847088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97296" y="2249424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97461"/>
                </a:solidFill>
                <a:latin typeface="Consolas"/>
              </a:rPr>
              <a:t>02 / SHARED GROUND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97296" y="2542032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0272B"/>
                </a:solidFill>
                <a:latin typeface="Aptos"/>
              </a:rPr>
              <a:t>porous threshold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97296" y="2962656"/>
            <a:ext cx="3703320" cy="1865376"/>
          </a:xfrm>
          <a:prstGeom prst="rect">
            <a:avLst/>
          </a:prstGeom>
          <a:solidFill>
            <a:srgbClr val="E5DED2"/>
          </a:solidFill>
          <a:ln w="12700">
            <a:solidFill>
              <a:srgbClr val="20272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98464" y="3218688"/>
            <a:ext cx="3291840" cy="4572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98464" y="4370832"/>
            <a:ext cx="3291840" cy="4572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26480" y="3364992"/>
            <a:ext cx="713232" cy="658368"/>
          </a:xfrm>
          <a:prstGeom prst="rect">
            <a:avLst/>
          </a:prstGeom>
          <a:solidFill>
            <a:srgbClr val="5974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004304" y="3364992"/>
            <a:ext cx="960120" cy="658368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19872" y="3364992"/>
            <a:ext cx="1097280" cy="658368"/>
          </a:xfrm>
          <a:prstGeom prst="rect">
            <a:avLst/>
          </a:prstGeom>
          <a:solidFill>
            <a:srgbClr val="B85C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19088" y="4535424"/>
            <a:ext cx="1920240" cy="164592"/>
          </a:xfrm>
          <a:prstGeom prst="rect">
            <a:avLst/>
          </a:prstGeom>
          <a:solidFill>
            <a:srgbClr val="5974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92240" y="4133087"/>
            <a:ext cx="2468880" cy="2286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ight Arrow 41"/>
          <p:cNvSpPr/>
          <p:nvPr/>
        </p:nvSpPr>
        <p:spPr>
          <a:xfrm>
            <a:off x="6656832" y="3968496"/>
            <a:ext cx="566928" cy="91440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ight Arrow 42"/>
          <p:cNvSpPr/>
          <p:nvPr/>
        </p:nvSpPr>
        <p:spPr>
          <a:xfrm>
            <a:off x="7717536" y="3968496"/>
            <a:ext cx="566928" cy="91440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71616" y="5047488"/>
            <a:ext cx="3474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6F7775"/>
                </a:solidFill>
                <a:latin typeface="Consolas"/>
              </a:rPr>
              <a:t>lobby / care / terrace / flexible room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97296" y="5468112"/>
            <a:ext cx="3749039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1">
                <a:solidFill>
                  <a:srgbClr val="597461"/>
                </a:solidFill>
                <a:latin typeface="Aptos"/>
              </a:rPr>
              <a:t>Movement meets. Something can happen.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6112" y="5925312"/>
            <a:ext cx="9217152" cy="2286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6112" y="6108192"/>
            <a:ext cx="9875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F6F8B"/>
                </a:solidFill>
                <a:latin typeface="Aptos"/>
              </a:rPr>
              <a:t>The retrofit does not only improve the envelope; it increases the number of useful encounters the building can support.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" y="6446520"/>
            <a:ext cx="105156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6F7775"/>
                </a:solidFill>
                <a:latin typeface="Consolas"/>
              </a:rPr>
              <a:t>Conceptual plan comparison; program labels describe a strategy hypothesis, not a built project outcome.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E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1792" y="411480"/>
            <a:ext cx="10972" cy="5715000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07792" y="411480"/>
            <a:ext cx="10972" cy="5715000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193792" y="411480"/>
            <a:ext cx="10972" cy="5715000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79792" y="411480"/>
            <a:ext cx="10972" cy="5715000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65792" y="411480"/>
            <a:ext cx="10972" cy="5715000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594592" y="411480"/>
            <a:ext cx="10972" cy="5715000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402336"/>
            <a:ext cx="1783080" cy="32004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530352"/>
            <a:ext cx="20116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F6F8B"/>
                </a:solidFill>
                <a:latin typeface="Consolas"/>
              </a:rPr>
              <a:t>06 / DAILY LIFE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84124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0272B"/>
                </a:solidFill>
                <a:latin typeface="Aptos"/>
              </a:rPr>
              <a:t>A vertical city is measured in moments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225296"/>
            <a:ext cx="10607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F7775"/>
                </a:solidFill>
                <a:latin typeface="Aptos"/>
              </a:rPr>
              <a:t>The retrofit succeeds when the building supports more useful moments across an ordinary day.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</a:rPr>
              <a:t>7 / 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78440" y="548640"/>
            <a:ext cx="10972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F7775"/>
                </a:solidFill>
                <a:latin typeface="Consolas"/>
              </a:rPr>
              <a:t>CITY /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1682496"/>
            <a:ext cx="3474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F6F8B"/>
                </a:solidFill>
                <a:latin typeface="Consolas"/>
              </a:rPr>
              <a:t>DAY STORYBOARD / OCCUPIED BUILDING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1938528"/>
            <a:ext cx="10469880" cy="2286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24128" y="3767328"/>
            <a:ext cx="9528048" cy="32004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70432" y="3474720"/>
            <a:ext cx="585216" cy="585216"/>
          </a:xfrm>
          <a:prstGeom prst="ellipse">
            <a:avLst/>
          </a:prstGeom>
          <a:solidFill>
            <a:srgbClr val="B85C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4440" y="3685032"/>
            <a:ext cx="4572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1EEE8"/>
                </a:solidFill>
                <a:latin typeface="Consolas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2980944"/>
            <a:ext cx="95097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B85C42"/>
                </a:solidFill>
                <a:latin typeface="Consolas"/>
              </a:rPr>
              <a:t>07:30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4352544"/>
            <a:ext cx="1170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B85C42"/>
                </a:solidFill>
                <a:latin typeface="Aptos Display"/>
              </a:rPr>
              <a:t>LEAVE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" y="4681728"/>
            <a:ext cx="1353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0272B"/>
                </a:solidFill>
                <a:latin typeface="Aptos"/>
              </a:rPr>
              <a:t>threshold becomes
legible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1920240" y="3730752"/>
            <a:ext cx="1335024" cy="91440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401568" y="3474720"/>
            <a:ext cx="585216" cy="585216"/>
          </a:xfrm>
          <a:prstGeom prst="ellipse">
            <a:avLst/>
          </a:prstGeom>
          <a:solidFill>
            <a:srgbClr val="5974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65576" y="3685032"/>
            <a:ext cx="4572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1EEE8"/>
                </a:solidFill>
                <a:latin typeface="Consolas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18688" y="2980944"/>
            <a:ext cx="95097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597461"/>
                </a:solidFill>
                <a:latin typeface="Consolas"/>
              </a:rPr>
              <a:t>12:15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4352544"/>
            <a:ext cx="1170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597461"/>
                </a:solidFill>
                <a:latin typeface="Aptos Display"/>
              </a:rPr>
              <a:t>MEET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4681728"/>
            <a:ext cx="1353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0272B"/>
                </a:solidFill>
                <a:latin typeface="Aptos"/>
              </a:rPr>
              <a:t>lobby becomes
shared ground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4151376" y="3730752"/>
            <a:ext cx="1335024" cy="91440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632704" y="3474720"/>
            <a:ext cx="585216" cy="585216"/>
          </a:xfrm>
          <a:prstGeom prst="ellipse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96712" y="3685032"/>
            <a:ext cx="4572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1EEE8"/>
                </a:solidFill>
                <a:latin typeface="Consolas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9824" y="2980944"/>
            <a:ext cx="95097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1F6F8B"/>
                </a:solidFill>
                <a:latin typeface="Consolas"/>
              </a:rPr>
              <a:t>17:45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0096" y="4352544"/>
            <a:ext cx="1170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1F6F8B"/>
                </a:solidFill>
                <a:latin typeface="Aptos Display"/>
              </a:rPr>
              <a:t>RETURN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48656" y="4681728"/>
            <a:ext cx="1353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0272B"/>
                </a:solidFill>
                <a:latin typeface="Aptos"/>
              </a:rPr>
              <a:t>lift becomes
a social hinge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6382512" y="3730752"/>
            <a:ext cx="1335024" cy="91440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863840" y="3474720"/>
            <a:ext cx="585216" cy="585216"/>
          </a:xfrm>
          <a:prstGeom prst="ellipse">
            <a:avLst/>
          </a:prstGeom>
          <a:solidFill>
            <a:srgbClr val="B85C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27848" y="3685032"/>
            <a:ext cx="4572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1EEE8"/>
                </a:solidFill>
                <a:latin typeface="Consolas"/>
              </a:rPr>
              <a:t>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0" y="2980944"/>
            <a:ext cx="95097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B85C42"/>
                </a:solidFill>
                <a:latin typeface="Consolas"/>
              </a:rPr>
              <a:t>20:30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71231" y="4352544"/>
            <a:ext cx="1170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B85C42"/>
                </a:solidFill>
                <a:latin typeface="Aptos Display"/>
              </a:rPr>
              <a:t>CARE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79792" y="4681728"/>
            <a:ext cx="1353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0272B"/>
                </a:solidFill>
                <a:latin typeface="Aptos"/>
              </a:rPr>
              <a:t>terrace becomes
visible support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8613648" y="3730752"/>
            <a:ext cx="1335024" cy="91440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857232" y="3474720"/>
            <a:ext cx="585216" cy="585216"/>
          </a:xfrm>
          <a:prstGeom prst="ellipse">
            <a:avLst/>
          </a:prstGeom>
          <a:solidFill>
            <a:srgbClr val="5974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921240" y="3685032"/>
            <a:ext cx="4572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1EEE8"/>
                </a:solidFill>
                <a:latin typeface="Consolas"/>
              </a:rPr>
              <a:t>05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74352" y="2980944"/>
            <a:ext cx="95097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597461"/>
                </a:solidFill>
                <a:latin typeface="Consolas"/>
              </a:rPr>
              <a:t>22:00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64624" y="4352544"/>
            <a:ext cx="11704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597461"/>
                </a:solidFill>
                <a:latin typeface="Aptos Display"/>
              </a:rPr>
              <a:t>REST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73184" y="4681728"/>
            <a:ext cx="1353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0272B"/>
                </a:solidFill>
                <a:latin typeface="Aptos"/>
              </a:rPr>
              <a:t>comfort becomes
quiet infrastructure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6112" y="2523744"/>
            <a:ext cx="9875520" cy="12801"/>
          </a:xfrm>
          <a:prstGeom prst="rect">
            <a:avLst/>
          </a:prstGeom>
          <a:solidFill>
            <a:srgbClr val="C9C2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96112" y="2267712"/>
            <a:ext cx="31089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B85C42"/>
                </a:solidFill>
                <a:latin typeface="Consolas"/>
              </a:rPr>
              <a:t>FROM MOVEMENT TO CAPACITY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6112" y="5687568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8B"/>
                </a:solidFill>
                <a:latin typeface="Aptos"/>
              </a:rPr>
              <a:t>A retrofit is not finished when the construction ends; it is finished when daily life has more room to work.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4944" y="6446520"/>
            <a:ext cx="105156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6F7775"/>
                </a:solidFill>
                <a:latin typeface="Consolas"/>
              </a:rPr>
              <a:t>Conceptual day storyboard; moments describe intended user experience, not measured post-occupancy results.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E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1792" y="411480"/>
            <a:ext cx="10972" cy="5715000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07792" y="411480"/>
            <a:ext cx="10972" cy="5715000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193792" y="411480"/>
            <a:ext cx="10972" cy="5715000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79792" y="411480"/>
            <a:ext cx="10972" cy="5715000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65792" y="411480"/>
            <a:ext cx="10972" cy="5715000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594592" y="411480"/>
            <a:ext cx="10972" cy="5715000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402336"/>
            <a:ext cx="1783080" cy="32004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530352"/>
            <a:ext cx="20116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F6F8B"/>
                </a:solidFill>
                <a:latin typeface="Consolas"/>
              </a:rPr>
              <a:t>07 / ARCHETYPES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84124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0272B"/>
                </a:solidFill>
                <a:latin typeface="Aptos"/>
              </a:rPr>
              <a:t>There is no single retrofit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225296"/>
            <a:ext cx="10607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F7775"/>
                </a:solidFill>
                <a:latin typeface="Aptos"/>
              </a:rPr>
              <a:t>The right depth depends on capital, disruption, and the amount of shared capacity the building needs to recover.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</a:rPr>
              <a:t>8 / 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78440" y="548640"/>
            <a:ext cx="10972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F7775"/>
                </a:solidFill>
                <a:latin typeface="Consolas"/>
              </a:rPr>
              <a:t>CITY /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1682496"/>
            <a:ext cx="3474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F6F8B"/>
                </a:solidFill>
                <a:latin typeface="Consolas"/>
              </a:rPr>
              <a:t>THREE INTERVENTION DEPTHS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1938528"/>
            <a:ext cx="10469880" cy="2286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50976" y="3749039"/>
            <a:ext cx="1920240" cy="1481328"/>
          </a:xfrm>
          <a:prstGeom prst="rect">
            <a:avLst/>
          </a:prstGeom>
          <a:solidFill>
            <a:srgbClr val="E5DED2"/>
          </a:solidFill>
          <a:ln w="12700">
            <a:solidFill>
              <a:srgbClr val="B85C4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37360" y="3913631"/>
            <a:ext cx="347472" cy="1152144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15568" y="4059935"/>
            <a:ext cx="1591056" cy="10972"/>
          </a:xfrm>
          <a:prstGeom prst="rect">
            <a:avLst/>
          </a:prstGeom>
          <a:solidFill>
            <a:srgbClr val="C9C2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15568" y="4407407"/>
            <a:ext cx="1591056" cy="10972"/>
          </a:xfrm>
          <a:prstGeom prst="rect">
            <a:avLst/>
          </a:prstGeom>
          <a:solidFill>
            <a:srgbClr val="C9C2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15568" y="4754879"/>
            <a:ext cx="1591056" cy="10972"/>
          </a:xfrm>
          <a:prstGeom prst="rect">
            <a:avLst/>
          </a:prstGeom>
          <a:solidFill>
            <a:srgbClr val="C9C2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15568" y="5102352"/>
            <a:ext cx="1591056" cy="10972"/>
          </a:xfrm>
          <a:prstGeom prst="rect">
            <a:avLst/>
          </a:prstGeom>
          <a:solidFill>
            <a:srgbClr val="C9C2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50976" y="3749039"/>
            <a:ext cx="1920240" cy="64008"/>
          </a:xfrm>
          <a:prstGeom prst="rect">
            <a:avLst/>
          </a:prstGeom>
          <a:solidFill>
            <a:srgbClr val="B85C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5468112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B85C42"/>
                </a:solidFill>
                <a:latin typeface="Consolas"/>
              </a:rPr>
              <a:t>LIGHT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" y="5760720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0272B"/>
                </a:solidFill>
                <a:latin typeface="Aptos Display"/>
              </a:rPr>
              <a:t>protect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" y="6053328"/>
            <a:ext cx="19202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>
                <a:solidFill>
                  <a:srgbClr val="6F7775"/>
                </a:solidFill>
                <a:latin typeface="Consolas"/>
              </a:rPr>
              <a:t>skin + controls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968496" y="3127248"/>
            <a:ext cx="1920240" cy="2103120"/>
          </a:xfrm>
          <a:prstGeom prst="rect">
            <a:avLst/>
          </a:prstGeom>
          <a:solidFill>
            <a:srgbClr val="E5DED2"/>
          </a:solidFill>
          <a:ln w="12700">
            <a:solidFill>
              <a:srgbClr val="1F6F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54880" y="3291840"/>
            <a:ext cx="347472" cy="1773936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33087" y="3438144"/>
            <a:ext cx="1591056" cy="10972"/>
          </a:xfrm>
          <a:prstGeom prst="rect">
            <a:avLst/>
          </a:prstGeom>
          <a:solidFill>
            <a:srgbClr val="C9C2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33087" y="3785615"/>
            <a:ext cx="1591056" cy="10972"/>
          </a:xfrm>
          <a:prstGeom prst="rect">
            <a:avLst/>
          </a:prstGeom>
          <a:solidFill>
            <a:srgbClr val="C9C2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33087" y="4133087"/>
            <a:ext cx="1591056" cy="10972"/>
          </a:xfrm>
          <a:prstGeom prst="rect">
            <a:avLst/>
          </a:prstGeom>
          <a:solidFill>
            <a:srgbClr val="C9C2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33087" y="4480560"/>
            <a:ext cx="1591056" cy="10972"/>
          </a:xfrm>
          <a:prstGeom prst="rect">
            <a:avLst/>
          </a:prstGeom>
          <a:solidFill>
            <a:srgbClr val="C9C2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33087" y="4828031"/>
            <a:ext cx="1591056" cy="10972"/>
          </a:xfrm>
          <a:prstGeom prst="rect">
            <a:avLst/>
          </a:prstGeom>
          <a:solidFill>
            <a:srgbClr val="C9C2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133087" y="5175504"/>
            <a:ext cx="1591056" cy="10972"/>
          </a:xfrm>
          <a:prstGeom prst="rect">
            <a:avLst/>
          </a:prstGeom>
          <a:solidFill>
            <a:srgbClr val="C9C2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68496" y="3127248"/>
            <a:ext cx="1920240" cy="64008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968496" y="5468112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F6F8B"/>
                </a:solidFill>
                <a:latin typeface="Consolas"/>
              </a:rPr>
              <a:t>DEEP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68496" y="5760720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0272B"/>
                </a:solidFill>
                <a:latin typeface="Aptos Display"/>
              </a:rPr>
              <a:t>reconnect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68496" y="6053328"/>
            <a:ext cx="19202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>
                <a:solidFill>
                  <a:srgbClr val="6F7775"/>
                </a:solidFill>
                <a:latin typeface="Consolas"/>
              </a:rPr>
              <a:t>skin + threshold + care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86016" y="2487168"/>
            <a:ext cx="1920240" cy="2743200"/>
          </a:xfrm>
          <a:prstGeom prst="rect">
            <a:avLst/>
          </a:prstGeom>
          <a:solidFill>
            <a:srgbClr val="E5DED2"/>
          </a:solidFill>
          <a:ln w="12700">
            <a:solidFill>
              <a:srgbClr val="5974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772400" y="2651760"/>
            <a:ext cx="347472" cy="2414016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150607" y="2798063"/>
            <a:ext cx="1591056" cy="10972"/>
          </a:xfrm>
          <a:prstGeom prst="rect">
            <a:avLst/>
          </a:prstGeom>
          <a:solidFill>
            <a:srgbClr val="C9C2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150607" y="3145535"/>
            <a:ext cx="1591056" cy="10972"/>
          </a:xfrm>
          <a:prstGeom prst="rect">
            <a:avLst/>
          </a:prstGeom>
          <a:solidFill>
            <a:srgbClr val="C9C2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150607" y="3493007"/>
            <a:ext cx="1591056" cy="10972"/>
          </a:xfrm>
          <a:prstGeom prst="rect">
            <a:avLst/>
          </a:prstGeom>
          <a:solidFill>
            <a:srgbClr val="C9C2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150607" y="3840479"/>
            <a:ext cx="1591056" cy="10972"/>
          </a:xfrm>
          <a:prstGeom prst="rect">
            <a:avLst/>
          </a:prstGeom>
          <a:solidFill>
            <a:srgbClr val="C9C2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150607" y="4187952"/>
            <a:ext cx="1591056" cy="10972"/>
          </a:xfrm>
          <a:prstGeom prst="rect">
            <a:avLst/>
          </a:prstGeom>
          <a:solidFill>
            <a:srgbClr val="C9C2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150607" y="4535423"/>
            <a:ext cx="1591056" cy="10972"/>
          </a:xfrm>
          <a:prstGeom prst="rect">
            <a:avLst/>
          </a:prstGeom>
          <a:solidFill>
            <a:srgbClr val="C9C2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150607" y="4882896"/>
            <a:ext cx="1591056" cy="10972"/>
          </a:xfrm>
          <a:prstGeom prst="rect">
            <a:avLst/>
          </a:prstGeom>
          <a:solidFill>
            <a:srgbClr val="C9C2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150607" y="5230368"/>
            <a:ext cx="1591056" cy="10972"/>
          </a:xfrm>
          <a:prstGeom prst="rect">
            <a:avLst/>
          </a:prstGeom>
          <a:solidFill>
            <a:srgbClr val="C9C2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150607" y="5577840"/>
            <a:ext cx="1591056" cy="10972"/>
          </a:xfrm>
          <a:prstGeom prst="rect">
            <a:avLst/>
          </a:prstGeom>
          <a:solidFill>
            <a:srgbClr val="C9C2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986016" y="2487168"/>
            <a:ext cx="1920240" cy="64008"/>
          </a:xfrm>
          <a:prstGeom prst="rect">
            <a:avLst/>
          </a:prstGeom>
          <a:solidFill>
            <a:srgbClr val="5974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86016" y="5468112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597461"/>
                </a:solidFill>
                <a:latin typeface="Consolas"/>
              </a:rPr>
              <a:t>DISTRICT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86016" y="5760720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0272B"/>
                </a:solidFill>
                <a:latin typeface="Aptos Display"/>
              </a:rPr>
              <a:t>share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86016" y="6053328"/>
            <a:ext cx="19202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>
                <a:solidFill>
                  <a:srgbClr val="6F7775"/>
                </a:solidFill>
                <a:latin typeface="Consolas"/>
              </a:rPr>
              <a:t>building + neighbourhood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50976" y="2761488"/>
            <a:ext cx="7955279" cy="2286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25712" y="2395728"/>
            <a:ext cx="18288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B85C42"/>
                </a:solidFill>
                <a:latin typeface="Consolas"/>
              </a:rPr>
              <a:t>SELECTION LOGIC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25712" y="2651760"/>
            <a:ext cx="1828800" cy="27432"/>
          </a:xfrm>
          <a:prstGeom prst="rect">
            <a:avLst/>
          </a:prstGeom>
          <a:solidFill>
            <a:srgbClr val="B85C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25712" y="3017520"/>
            <a:ext cx="2011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0272B"/>
                </a:solidFill>
                <a:latin typeface="Aptos"/>
              </a:rPr>
              <a:t>Depth follows
shared need.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25712" y="3877056"/>
            <a:ext cx="1828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18"/>
              </a:spcBef>
              <a:spcAft>
                <a:spcPts val="118"/>
              </a:spcAft>
            </a:pPr>
            <a:r>
              <a:rPr sz="1080" b="0">
                <a:solidFill>
                  <a:srgbClr val="6F7775"/>
                </a:solidFill>
              </a:rPr>
              <a:t>Light protects.</a:t>
            </a:r>
          </a:p>
          <a:p>
            <a:pPr algn="l">
              <a:spcBef>
                <a:spcPts val="118"/>
              </a:spcBef>
              <a:spcAft>
                <a:spcPts val="118"/>
              </a:spcAft>
            </a:pPr>
            <a:r>
              <a:rPr sz="1080" b="0">
                <a:solidFill>
                  <a:srgbClr val="6F7775"/>
                </a:solidFill>
              </a:rPr>
              <a:t>Deep reconnects.</a:t>
            </a:r>
          </a:p>
          <a:p>
            <a:pPr algn="l">
              <a:spcBef>
                <a:spcPts val="118"/>
              </a:spcBef>
              <a:spcAft>
                <a:spcPts val="118"/>
              </a:spcAft>
            </a:pPr>
            <a:r>
              <a:rPr sz="1080" b="0">
                <a:solidFill>
                  <a:srgbClr val="6F7775"/>
                </a:solidFill>
              </a:rPr>
              <a:t>District shares.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125712" y="4864608"/>
            <a:ext cx="1828800" cy="2286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125712" y="513892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1">
                <a:solidFill>
                  <a:srgbClr val="1F6F8B"/>
                </a:solidFill>
                <a:latin typeface="Aptos"/>
              </a:rPr>
              <a:t>Choose the smallest intervention that changes the operating model.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4944" y="6446520"/>
            <a:ext cx="105156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6F7775"/>
                </a:solidFill>
                <a:latin typeface="Consolas"/>
              </a:rPr>
              <a:t>Conceptual archetypes; intervention depth and labels are strategic options, not project specifications.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E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1792" y="411480"/>
            <a:ext cx="10972" cy="5715000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07792" y="411480"/>
            <a:ext cx="10972" cy="5715000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193792" y="411480"/>
            <a:ext cx="10972" cy="5715000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79792" y="411480"/>
            <a:ext cx="10972" cy="5715000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65792" y="411480"/>
            <a:ext cx="10972" cy="5715000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594592" y="411480"/>
            <a:ext cx="10972" cy="5715000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402336"/>
            <a:ext cx="1783080" cy="32004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530352"/>
            <a:ext cx="20116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F6F8B"/>
                </a:solidFill>
                <a:latin typeface="Consolas"/>
              </a:rPr>
              <a:t>08 / PHASING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84124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0272B"/>
                </a:solidFill>
                <a:latin typeface="Aptos"/>
              </a:rPr>
              <a:t>The building stays occupied while the work moves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225296"/>
            <a:ext cx="10607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F7775"/>
                </a:solidFill>
                <a:latin typeface="Aptos"/>
              </a:rPr>
              <a:t>Construction phasing is part of the design: every intervention must have a resident-safe next move.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</a:rPr>
              <a:t>9 / 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78440" y="548640"/>
            <a:ext cx="10972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F7775"/>
                </a:solidFill>
                <a:latin typeface="Consolas"/>
              </a:rPr>
              <a:t>CITY /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1682496"/>
            <a:ext cx="3474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F6F8B"/>
                </a:solidFill>
                <a:latin typeface="Consolas"/>
              </a:rPr>
              <a:t>RESIDENT-IN-PLACE PHASING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1938528"/>
            <a:ext cx="10469880" cy="2286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2432304"/>
            <a:ext cx="16459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F7775"/>
                </a:solidFill>
                <a:latin typeface="Consolas"/>
              </a:rPr>
              <a:t>MONTHS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93392" y="2542032"/>
            <a:ext cx="8595360" cy="16459"/>
          </a:xfrm>
          <a:prstGeom prst="rect">
            <a:avLst/>
          </a:prstGeom>
          <a:solidFill>
            <a:srgbClr val="C9C2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93392" y="2395728"/>
            <a:ext cx="12801" cy="3246120"/>
          </a:xfrm>
          <a:prstGeom prst="rect">
            <a:avLst/>
          </a:prstGeom>
          <a:solidFill>
            <a:srgbClr val="C9C2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47088" y="2157984"/>
            <a:ext cx="31089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6F7775"/>
                </a:solidFill>
                <a:latin typeface="Consolas"/>
              </a:rP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33087" y="2395728"/>
            <a:ext cx="12801" cy="3246120"/>
          </a:xfrm>
          <a:prstGeom prst="rect">
            <a:avLst/>
          </a:prstGeom>
          <a:solidFill>
            <a:srgbClr val="C9C2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86783" y="2157984"/>
            <a:ext cx="31089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6F7775"/>
                </a:solidFill>
                <a:latin typeface="Consolas"/>
              </a:rPr>
              <a:t>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72784" y="2395728"/>
            <a:ext cx="12801" cy="3246120"/>
          </a:xfrm>
          <a:prstGeom prst="rect">
            <a:avLst/>
          </a:prstGeom>
          <a:solidFill>
            <a:srgbClr val="C9C2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2157984"/>
            <a:ext cx="31089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6F7775"/>
                </a:solidFill>
                <a:latin typeface="Consolas"/>
              </a:rPr>
              <a:t>12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12480" y="2395728"/>
            <a:ext cx="12801" cy="3246120"/>
          </a:xfrm>
          <a:prstGeom prst="rect">
            <a:avLst/>
          </a:prstGeom>
          <a:solidFill>
            <a:srgbClr val="C9C2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66175" y="2157984"/>
            <a:ext cx="31089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6F7775"/>
                </a:solidFill>
                <a:latin typeface="Consolas"/>
              </a:rPr>
              <a:t>18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588752" y="2395728"/>
            <a:ext cx="12801" cy="3246120"/>
          </a:xfrm>
          <a:prstGeom prst="rect">
            <a:avLst/>
          </a:prstGeom>
          <a:solidFill>
            <a:srgbClr val="C9C2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42448" y="2157984"/>
            <a:ext cx="31089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6F7775"/>
                </a:solidFill>
                <a:latin typeface="Consolas"/>
              </a:rPr>
              <a:t>24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993392" y="3054096"/>
            <a:ext cx="1920240" cy="420624"/>
          </a:xfrm>
          <a:prstGeom prst="rect">
            <a:avLst/>
          </a:prstGeom>
          <a:solidFill>
            <a:srgbClr val="B85C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03120" y="3182112"/>
            <a:ext cx="43891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1">
                <a:solidFill>
                  <a:srgbClr val="F1EEE8"/>
                </a:solidFill>
                <a:latin typeface="Consolas"/>
              </a:rPr>
              <a:t>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05456" y="3163824"/>
            <a:ext cx="12984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1EEE8"/>
                </a:solidFill>
                <a:latin typeface="Consolas"/>
              </a:rPr>
              <a:t>PREPARE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93392" y="3602736"/>
            <a:ext cx="19202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6F7775"/>
                </a:solidFill>
                <a:latin typeface="Consolas"/>
              </a:rPr>
              <a:t>survey + resident pact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84448" y="3419856"/>
            <a:ext cx="2523744" cy="420624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94176" y="3547872"/>
            <a:ext cx="43891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1">
                <a:solidFill>
                  <a:srgbClr val="F1EEE8"/>
                </a:solidFill>
                <a:latin typeface="Consolas"/>
              </a:rP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96512" y="3529584"/>
            <a:ext cx="1901951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1EEE8"/>
                </a:solidFill>
                <a:latin typeface="Consolas"/>
              </a:rPr>
              <a:t>WRAP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84448" y="3968496"/>
            <a:ext cx="252374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6F7775"/>
                </a:solidFill>
                <a:latin typeface="Consolas"/>
              </a:rPr>
              <a:t>envelope + plant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25312" y="3785615"/>
            <a:ext cx="2011680" cy="420624"/>
          </a:xfrm>
          <a:prstGeom prst="rect">
            <a:avLst/>
          </a:prstGeom>
          <a:solidFill>
            <a:srgbClr val="5974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35040" y="3913631"/>
            <a:ext cx="43891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1">
                <a:solidFill>
                  <a:srgbClr val="F1EEE8"/>
                </a:solidFill>
                <a:latin typeface="Consolas"/>
              </a:rPr>
              <a:t>03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37376" y="3895344"/>
            <a:ext cx="138988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1EEE8"/>
                </a:solidFill>
                <a:latin typeface="Consolas"/>
              </a:rPr>
              <a:t>OPEN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25312" y="4334255"/>
            <a:ext cx="20116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6F7775"/>
                </a:solidFill>
                <a:latin typeface="Consolas"/>
              </a:rPr>
              <a:t>thresholds + shared ground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55279" y="4151376"/>
            <a:ext cx="2084831" cy="420624"/>
          </a:xfrm>
          <a:prstGeom prst="rect">
            <a:avLst/>
          </a:prstGeom>
          <a:solidFill>
            <a:srgbClr val="B85C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65007" y="4279392"/>
            <a:ext cx="438912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40" b="1">
                <a:solidFill>
                  <a:srgbClr val="F1EEE8"/>
                </a:solidFill>
                <a:latin typeface="Consolas"/>
              </a:rPr>
              <a:t>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67344" y="4261104"/>
            <a:ext cx="1463039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1EEE8"/>
                </a:solidFill>
                <a:latin typeface="Consolas"/>
              </a:rPr>
              <a:t>LEARN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55279" y="4700016"/>
            <a:ext cx="2084831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6F7775"/>
                </a:solidFill>
                <a:latin typeface="Consolas"/>
              </a:rPr>
              <a:t>operate + adjust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6112" y="5102352"/>
            <a:ext cx="1645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B85C42"/>
                </a:solidFill>
                <a:latin typeface="Consolas"/>
              </a:rPr>
              <a:t>RESIDENT IMPACT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93392" y="5212080"/>
            <a:ext cx="8595360" cy="22860"/>
          </a:xfrm>
          <a:prstGeom prst="rect">
            <a:avLst/>
          </a:prstGeom>
          <a:solidFill>
            <a:srgbClr val="B85C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993392" y="5559552"/>
            <a:ext cx="2057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0272B"/>
                </a:solidFill>
                <a:latin typeface="Aptos"/>
              </a:rPr>
              <a:t>noise / access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4169663" y="5614416"/>
            <a:ext cx="640080" cy="91440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56048" y="5559552"/>
            <a:ext cx="2057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0272B"/>
                </a:solidFill>
                <a:latin typeface="Aptos"/>
              </a:rPr>
              <a:t>temporary disruption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7132320" y="5614416"/>
            <a:ext cx="640080" cy="91440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36992" y="5559552"/>
            <a:ext cx="2148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6F8B"/>
                </a:solidFill>
                <a:latin typeface="Aptos"/>
              </a:rPr>
              <a:t>permanent capacity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4944" y="6446520"/>
            <a:ext cx="105156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6F7775"/>
                </a:solidFill>
                <a:latin typeface="Consolas"/>
              </a:rPr>
              <a:t>Conceptual phasing sequence; durations and impacts are illustrative planning assumptions.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E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1792" y="411480"/>
            <a:ext cx="10972" cy="5715000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07792" y="411480"/>
            <a:ext cx="10972" cy="5715000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193792" y="411480"/>
            <a:ext cx="10972" cy="5715000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79792" y="411480"/>
            <a:ext cx="10972" cy="5715000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65792" y="411480"/>
            <a:ext cx="10972" cy="5715000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594592" y="411480"/>
            <a:ext cx="10972" cy="5715000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402336"/>
            <a:ext cx="1783080" cy="32004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530352"/>
            <a:ext cx="20116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F6F8B"/>
                </a:solidFill>
                <a:latin typeface="Consolas"/>
              </a:rPr>
              <a:t>09 / ECONOMICS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84124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0272B"/>
                </a:solidFill>
                <a:latin typeface="Aptos"/>
              </a:rPr>
              <a:t>Sequence changes the economics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225296"/>
            <a:ext cx="10607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F7775"/>
                </a:solidFill>
                <a:latin typeface="Aptos"/>
              </a:rPr>
              <a:t>The same interventions can produce different value depending on what happens first.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</a:rPr>
              <a:t>10 / 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78440" y="548640"/>
            <a:ext cx="10972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F7775"/>
                </a:solidFill>
                <a:latin typeface="Consolas"/>
              </a:rPr>
              <a:t>CITY /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1682496"/>
            <a:ext cx="3657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F6F8B"/>
                </a:solidFill>
                <a:latin typeface="Consolas"/>
              </a:rPr>
              <a:t>ILLUSTRATIVE VALUE BRIDGE / INDEX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1938528"/>
            <a:ext cx="6309360" cy="2286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9264" y="5248656"/>
            <a:ext cx="5650992" cy="22860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93392" y="3429000"/>
            <a:ext cx="713232" cy="1819656"/>
          </a:xfrm>
          <a:prstGeom prst="rect">
            <a:avLst/>
          </a:prstGeom>
          <a:solidFill>
            <a:srgbClr val="B85C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83664" y="5449824"/>
            <a:ext cx="93268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1">
                <a:solidFill>
                  <a:srgbClr val="B85C42"/>
                </a:solidFill>
                <a:latin typeface="Consolas"/>
              </a:rPr>
              <a:t>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83664" y="3209544"/>
            <a:ext cx="93268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B85C42"/>
                </a:solidFill>
                <a:latin typeface="Aptos Display"/>
              </a:rPr>
              <a:t>+100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06624" y="4338828"/>
            <a:ext cx="237744" cy="12801"/>
          </a:xfrm>
          <a:prstGeom prst="rect">
            <a:avLst/>
          </a:prstGeom>
          <a:solidFill>
            <a:srgbClr val="C9C2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44368" y="5248656"/>
            <a:ext cx="713232" cy="672998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34640" y="4956048"/>
            <a:ext cx="93268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1">
                <a:solidFill>
                  <a:srgbClr val="1F6F8B"/>
                </a:solidFill>
                <a:latin typeface="Consolas"/>
              </a:rPr>
              <a:t>WRAP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5157216"/>
            <a:ext cx="93268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1F6F8B"/>
                </a:solidFill>
                <a:latin typeface="Aptos Display"/>
              </a:rPr>
              <a:t>-24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5585155"/>
            <a:ext cx="237744" cy="12801"/>
          </a:xfrm>
          <a:prstGeom prst="rect">
            <a:avLst/>
          </a:prstGeom>
          <a:solidFill>
            <a:srgbClr val="C9C2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749039" y="5248656"/>
            <a:ext cx="713232" cy="552297"/>
          </a:xfrm>
          <a:prstGeom prst="rect">
            <a:avLst/>
          </a:prstGeom>
          <a:solidFill>
            <a:srgbClr val="5974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39311" y="4956048"/>
            <a:ext cx="93268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1">
                <a:solidFill>
                  <a:srgbClr val="597461"/>
                </a:solidFill>
                <a:latin typeface="Consolas"/>
              </a:rPr>
              <a:t>REWIRE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39311" y="5157216"/>
            <a:ext cx="93268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597461"/>
                </a:solidFill>
                <a:latin typeface="Aptos Display"/>
              </a:rPr>
              <a:t>-16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62272" y="5524804"/>
            <a:ext cx="237744" cy="12801"/>
          </a:xfrm>
          <a:prstGeom prst="rect">
            <a:avLst/>
          </a:prstGeom>
          <a:solidFill>
            <a:srgbClr val="C9C2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25696" y="4605832"/>
            <a:ext cx="713232" cy="642823"/>
          </a:xfrm>
          <a:prstGeom prst="rect">
            <a:avLst/>
          </a:prstGeom>
          <a:solidFill>
            <a:srgbClr val="B85C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15968" y="5449824"/>
            <a:ext cx="93268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1">
                <a:solidFill>
                  <a:srgbClr val="B85C42"/>
                </a:solidFill>
                <a:latin typeface="Consolas"/>
              </a:rPr>
              <a:t>SHARE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15968" y="4386376"/>
            <a:ext cx="93268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B85C42"/>
                </a:solidFill>
                <a:latin typeface="Aptos Display"/>
              </a:rPr>
              <a:t>+22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38928" y="4927244"/>
            <a:ext cx="237744" cy="12801"/>
          </a:xfrm>
          <a:prstGeom prst="rect">
            <a:avLst/>
          </a:prstGeom>
          <a:solidFill>
            <a:srgbClr val="C9C2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0" y="3700576"/>
            <a:ext cx="713232" cy="1548079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76672" y="5449824"/>
            <a:ext cx="93268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1">
                <a:solidFill>
                  <a:srgbClr val="1F6F8B"/>
                </a:solidFill>
                <a:latin typeface="Consolas"/>
              </a:rPr>
              <a:t>VALUE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76672" y="3481120"/>
            <a:ext cx="93268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1F6F8B"/>
                </a:solidFill>
                <a:latin typeface="Aptos Display"/>
              </a:rPr>
              <a:t>+82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" y="5815584"/>
            <a:ext cx="5669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F6F8B"/>
                </a:solidFill>
                <a:latin typeface="Aptos"/>
              </a:rPr>
              <a:t>Illustrative index: demand reduction creates the headroom for shared capacity.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52944" y="1682496"/>
            <a:ext cx="3383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85C42"/>
                </a:solidFill>
                <a:latin typeface="Consolas"/>
              </a:rPr>
              <a:t>THE ECONOMIC READ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52944" y="1938528"/>
            <a:ext cx="3383280" cy="27432"/>
          </a:xfrm>
          <a:prstGeom prst="rect">
            <a:avLst/>
          </a:prstGeom>
          <a:solidFill>
            <a:srgbClr val="B85C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52944" y="2304288"/>
            <a:ext cx="32918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0272B"/>
                </a:solidFill>
                <a:latin typeface="Aptos"/>
              </a:rPr>
              <a:t>Order is
a financial lever.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71231" y="3236976"/>
            <a:ext cx="3017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18"/>
              </a:spcBef>
              <a:spcAft>
                <a:spcPts val="118"/>
              </a:spcAft>
            </a:pPr>
            <a:r>
              <a:rPr sz="1120" b="0">
                <a:solidFill>
                  <a:srgbClr val="6F7775"/>
                </a:solidFill>
              </a:rPr>
              <a:t>Reduce peak demand.</a:t>
            </a:r>
          </a:p>
          <a:p>
            <a:pPr algn="l">
              <a:spcBef>
                <a:spcPts val="118"/>
              </a:spcBef>
              <a:spcAft>
                <a:spcPts val="118"/>
              </a:spcAft>
            </a:pPr>
            <a:r>
              <a:rPr sz="1120" b="0">
                <a:solidFill>
                  <a:srgbClr val="6F7775"/>
                </a:solidFill>
              </a:rPr>
              <a:t>Right-size capacity.</a:t>
            </a:r>
          </a:p>
          <a:p>
            <a:pPr algn="l">
              <a:spcBef>
                <a:spcPts val="118"/>
              </a:spcBef>
              <a:spcAft>
                <a:spcPts val="118"/>
              </a:spcAft>
            </a:pPr>
            <a:r>
              <a:rPr sz="1120" b="0">
                <a:solidFill>
                  <a:srgbClr val="6F7775"/>
                </a:solidFill>
              </a:rPr>
              <a:t>Invest in shared use.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52944" y="4261104"/>
            <a:ext cx="3383280" cy="2286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4535424"/>
            <a:ext cx="32004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F6F8B"/>
                </a:solidFill>
                <a:latin typeface="Consolas"/>
              </a:rPr>
              <a:t>SENSITIVITY / WHAT MOVES FIRST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71231" y="4882896"/>
            <a:ext cx="1042415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B85C42"/>
                </a:solidFill>
                <a:latin typeface="Consolas"/>
              </a:rPr>
              <a:t>CAPEX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87968" y="4882896"/>
            <a:ext cx="138988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1">
                <a:solidFill>
                  <a:srgbClr val="20272B"/>
                </a:solidFill>
                <a:latin typeface="Aptos"/>
              </a:rPr>
              <a:t>high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71231" y="5230368"/>
            <a:ext cx="1042415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F6F8B"/>
                </a:solidFill>
                <a:latin typeface="Consolas"/>
              </a:rPr>
              <a:t>DISRUPTION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87968" y="5230368"/>
            <a:ext cx="138988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1">
                <a:solidFill>
                  <a:srgbClr val="20272B"/>
                </a:solidFill>
                <a:latin typeface="Aptos"/>
              </a:rPr>
              <a:t>medium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71231" y="5577840"/>
            <a:ext cx="1042415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97461"/>
                </a:solidFill>
                <a:latin typeface="Consolas"/>
              </a:rPr>
              <a:t>SHARED VALUE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87968" y="5577840"/>
            <a:ext cx="138988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1">
                <a:solidFill>
                  <a:srgbClr val="20272B"/>
                </a:solidFill>
                <a:latin typeface="Aptos"/>
              </a:rPr>
              <a:t>later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4944" y="6446520"/>
            <a:ext cx="105156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6F7775"/>
                </a:solidFill>
                <a:latin typeface="Consolas"/>
              </a:rPr>
              <a:t>Illustrative value bridge; no project IRR, payback, or measured savings are being claimed.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E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1792" y="411480"/>
            <a:ext cx="10972" cy="5715000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07792" y="411480"/>
            <a:ext cx="10972" cy="5715000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193792" y="411480"/>
            <a:ext cx="10972" cy="5715000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79792" y="411480"/>
            <a:ext cx="10972" cy="5715000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65792" y="411480"/>
            <a:ext cx="10972" cy="5715000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594592" y="411480"/>
            <a:ext cx="10972" cy="5715000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402336"/>
            <a:ext cx="1783080" cy="32004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530352"/>
            <a:ext cx="20116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F6F8B"/>
                </a:solidFill>
                <a:latin typeface="Consolas"/>
              </a:rPr>
              <a:t>10 / 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84124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0272B"/>
                </a:solidFill>
                <a:latin typeface="Aptos"/>
              </a:rPr>
              <a:t>Choose by trade-off, not by 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225296"/>
            <a:ext cx="10607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F7775"/>
                </a:solidFill>
                <a:latin typeface="Aptos"/>
              </a:rPr>
              <a:t>A credible retrofit brief makes the conflicts visible before it recommends a depth.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</a:rPr>
              <a:t>11 / 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78440" y="548640"/>
            <a:ext cx="10972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F7775"/>
                </a:solidFill>
                <a:latin typeface="Consolas"/>
              </a:rPr>
              <a:t>CITY /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1682496"/>
            <a:ext cx="3383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F6F8B"/>
                </a:solidFill>
                <a:latin typeface="Consolas"/>
              </a:rPr>
              <a:t>OPTION MATRIX / STRATEGIC FIT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1938528"/>
            <a:ext cx="10469880" cy="2286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2395728"/>
            <a:ext cx="1097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F7775"/>
                </a:solidFill>
                <a:latin typeface="Consolas"/>
              </a:rPr>
              <a:t>HIGH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5138928"/>
            <a:ext cx="10972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6F7775"/>
                </a:solidFill>
                <a:latin typeface="Consolas"/>
              </a:rPr>
              <a:t>LOW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9344" y="2523744"/>
            <a:ext cx="5212080" cy="16459"/>
          </a:xfrm>
          <a:prstGeom prst="rect">
            <a:avLst/>
          </a:prstGeom>
          <a:solidFill>
            <a:srgbClr val="C9C2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609344" y="4956048"/>
            <a:ext cx="5212080" cy="16459"/>
          </a:xfrm>
          <a:prstGeom prst="rect">
            <a:avLst/>
          </a:prstGeom>
          <a:solidFill>
            <a:srgbClr val="C9C2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609344" y="2523744"/>
            <a:ext cx="16459" cy="2432304"/>
          </a:xfrm>
          <a:prstGeom prst="rect">
            <a:avLst/>
          </a:prstGeom>
          <a:solidFill>
            <a:srgbClr val="C9C2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03136" y="2523744"/>
            <a:ext cx="16459" cy="2432304"/>
          </a:xfrm>
          <a:prstGeom prst="rect">
            <a:avLst/>
          </a:prstGeom>
          <a:solidFill>
            <a:srgbClr val="C9C2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16736" y="5175504"/>
            <a:ext cx="6400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1">
                <a:solidFill>
                  <a:srgbClr val="6F7775"/>
                </a:solidFill>
                <a:latin typeface="Consolas"/>
              </a:rPr>
              <a:t>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95344" y="5175504"/>
            <a:ext cx="6400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1">
                <a:solidFill>
                  <a:srgbClr val="6F7775"/>
                </a:solidFill>
                <a:latin typeface="Consolas"/>
              </a:rPr>
              <a:t>MEDIUM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5175504"/>
            <a:ext cx="6400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1">
                <a:solidFill>
                  <a:srgbClr val="6F7775"/>
                </a:solidFill>
                <a:latin typeface="Consolas"/>
              </a:rPr>
              <a:t>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61488" y="5504688"/>
            <a:ext cx="31089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30" b="1">
                <a:solidFill>
                  <a:srgbClr val="1F6F8B"/>
                </a:solidFill>
                <a:latin typeface="Consolas"/>
              </a:rPr>
              <a:t>CAPITAL + DISRUPTION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3639312"/>
            <a:ext cx="5486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1">
                <a:solidFill>
                  <a:srgbClr val="1F6F8B"/>
                </a:solidFill>
                <a:latin typeface="Consolas"/>
              </a:rPr>
              <a:t>SHARED
VALUE</a:t>
            </a:r>
          </a:p>
        </p:txBody>
      </p:sp>
      <p:sp>
        <p:nvSpPr>
          <p:cNvPr id="28" name="Oval 27"/>
          <p:cNvSpPr/>
          <p:nvPr/>
        </p:nvSpPr>
        <p:spPr>
          <a:xfrm>
            <a:off x="2852928" y="4443984"/>
            <a:ext cx="493776" cy="493776"/>
          </a:xfrm>
          <a:prstGeom prst="ellipse">
            <a:avLst/>
          </a:prstGeom>
          <a:solidFill>
            <a:srgbClr val="B85C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32304" y="5084064"/>
            <a:ext cx="133502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19" b="1">
                <a:solidFill>
                  <a:srgbClr val="B85C42"/>
                </a:solidFill>
                <a:latin typeface="Consolas"/>
              </a:rPr>
              <a:t>LIGHT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32304" y="5321808"/>
            <a:ext cx="133502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0272B"/>
                </a:solidFill>
                <a:latin typeface="Aptos Display"/>
              </a:rPr>
              <a:t>protect</a:t>
            </a:r>
          </a:p>
        </p:txBody>
      </p:sp>
      <p:sp>
        <p:nvSpPr>
          <p:cNvPr id="31" name="Oval 30"/>
          <p:cNvSpPr/>
          <p:nvPr/>
        </p:nvSpPr>
        <p:spPr>
          <a:xfrm>
            <a:off x="4700016" y="3639312"/>
            <a:ext cx="493776" cy="493776"/>
          </a:xfrm>
          <a:prstGeom prst="ellipse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79392" y="4279392"/>
            <a:ext cx="133502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19" b="1">
                <a:solidFill>
                  <a:srgbClr val="1F6F8B"/>
                </a:solidFill>
                <a:latin typeface="Consolas"/>
              </a:rPr>
              <a:t>DEEP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79392" y="4517136"/>
            <a:ext cx="133502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0272B"/>
                </a:solidFill>
                <a:latin typeface="Aptos Display"/>
              </a:rPr>
              <a:t>reconnect</a:t>
            </a:r>
          </a:p>
        </p:txBody>
      </p:sp>
      <p:sp>
        <p:nvSpPr>
          <p:cNvPr id="34" name="Oval 33"/>
          <p:cNvSpPr/>
          <p:nvPr/>
        </p:nvSpPr>
        <p:spPr>
          <a:xfrm>
            <a:off x="6089904" y="2889504"/>
            <a:ext cx="493776" cy="493776"/>
          </a:xfrm>
          <a:prstGeom prst="ellipse">
            <a:avLst/>
          </a:prstGeom>
          <a:solidFill>
            <a:srgbClr val="5974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0" y="3529584"/>
            <a:ext cx="133502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19" b="1">
                <a:solidFill>
                  <a:srgbClr val="597461"/>
                </a:solidFill>
                <a:latin typeface="Consolas"/>
              </a:rPr>
              <a:t>DISTRICT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3767328"/>
            <a:ext cx="133502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0272B"/>
                </a:solidFill>
                <a:latin typeface="Aptos Display"/>
              </a:rPr>
              <a:t>share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99248" y="2395728"/>
            <a:ext cx="3108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85C42"/>
                </a:solidFill>
                <a:latin typeface="Consolas"/>
              </a:rPr>
              <a:t>THE DECISION RULE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699248" y="2651760"/>
            <a:ext cx="3108960" cy="27432"/>
          </a:xfrm>
          <a:prstGeom prst="rect">
            <a:avLst/>
          </a:prstGeom>
          <a:solidFill>
            <a:srgbClr val="B85C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99248" y="3054096"/>
            <a:ext cx="3108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0272B"/>
                </a:solidFill>
                <a:latin typeface="Aptos"/>
              </a:rPr>
              <a:t>Pick the option
that changes the system.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17536" y="3950208"/>
            <a:ext cx="28346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18"/>
              </a:spcBef>
              <a:spcAft>
                <a:spcPts val="118"/>
              </a:spcAft>
            </a:pPr>
            <a:r>
              <a:rPr sz="1080" b="0">
                <a:solidFill>
                  <a:srgbClr val="6F7775"/>
                </a:solidFill>
              </a:rPr>
              <a:t>Light: minimum disruption</a:t>
            </a:r>
          </a:p>
          <a:p>
            <a:pPr algn="l">
              <a:spcBef>
                <a:spcPts val="118"/>
              </a:spcBef>
              <a:spcAft>
                <a:spcPts val="118"/>
              </a:spcAft>
            </a:pPr>
            <a:r>
              <a:rPr sz="1080" b="0">
                <a:solidFill>
                  <a:srgbClr val="6F7775"/>
                </a:solidFill>
              </a:rPr>
              <a:t>Deep: balanced value</a:t>
            </a:r>
          </a:p>
          <a:p>
            <a:pPr algn="l">
              <a:spcBef>
                <a:spcPts val="118"/>
              </a:spcBef>
              <a:spcAft>
                <a:spcPts val="118"/>
              </a:spcAft>
            </a:pPr>
            <a:r>
              <a:rPr sz="1080" b="0">
                <a:solidFill>
                  <a:srgbClr val="6F7775"/>
                </a:solidFill>
              </a:rPr>
              <a:t>District: maximum capacity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699248" y="4956048"/>
            <a:ext cx="3108960" cy="2286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99248" y="5266944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1">
                <a:solidFill>
                  <a:srgbClr val="1F6F8B"/>
                </a:solidFill>
                <a:latin typeface="Aptos"/>
              </a:rPr>
              <a:t>Trade-offs are not a weakness; they are the decision.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" y="6446520"/>
            <a:ext cx="105156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6F7775"/>
                </a:solidFill>
                <a:latin typeface="Consolas"/>
              </a:rPr>
              <a:t>Conceptual option matrix; positions express strategic trade-offs, not a quantified project ranking.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E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1792" y="411480"/>
            <a:ext cx="10972" cy="5715000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07792" y="411480"/>
            <a:ext cx="10972" cy="5715000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193792" y="411480"/>
            <a:ext cx="10972" cy="5715000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79792" y="411480"/>
            <a:ext cx="10972" cy="5715000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65792" y="411480"/>
            <a:ext cx="10972" cy="5715000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594592" y="411480"/>
            <a:ext cx="10972" cy="5715000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402336"/>
            <a:ext cx="1783080" cy="32004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530352"/>
            <a:ext cx="20116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F6F8B"/>
                </a:solidFill>
                <a:latin typeface="Consolas"/>
              </a:rPr>
              <a:t>11 / OPERATING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84124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0272B"/>
                </a:solidFill>
                <a:latin typeface="Aptos"/>
              </a:rPr>
              <a:t>The retrofit needs an operator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225296"/>
            <a:ext cx="10607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F7775"/>
                </a:solidFill>
                <a:latin typeface="Aptos"/>
              </a:rPr>
              <a:t>Capital can upgrade the building once; an operating model keeps the new capacity useful.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</a:rPr>
              <a:t>12 / 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78440" y="548640"/>
            <a:ext cx="10972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F7775"/>
                </a:solidFill>
                <a:latin typeface="Consolas"/>
              </a:rPr>
              <a:t>CITY /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1682496"/>
            <a:ext cx="3474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F6F8B"/>
                </a:solidFill>
                <a:latin typeface="Consolas"/>
              </a:rPr>
              <a:t>ACTORS / FLOWS / ACCOUNTABILITY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1938528"/>
            <a:ext cx="10469880" cy="2286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26864" y="2980944"/>
            <a:ext cx="2322576" cy="1097280"/>
          </a:xfrm>
          <a:prstGeom prst="ellipse">
            <a:avLst/>
          </a:prstGeom>
          <a:solidFill>
            <a:srgbClr val="202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9744" y="3273552"/>
            <a:ext cx="19385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1EEE8"/>
                </a:solidFill>
                <a:latin typeface="Aptos Display"/>
              </a:rPr>
              <a:t>BUILDING
OPERATOR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9744" y="3694176"/>
            <a:ext cx="1938528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0">
                <a:solidFill>
                  <a:srgbClr val="E5DED2"/>
                </a:solidFill>
                <a:latin typeface="Consolas"/>
              </a:rPr>
              <a:t>measure / maintain / adapt</a:t>
            </a:r>
          </a:p>
        </p:txBody>
      </p:sp>
      <p:sp>
        <p:nvSpPr>
          <p:cNvPr id="20" name="Oval 19"/>
          <p:cNvSpPr/>
          <p:nvPr/>
        </p:nvSpPr>
        <p:spPr>
          <a:xfrm>
            <a:off x="987552" y="2414016"/>
            <a:ext cx="1572768" cy="566928"/>
          </a:xfrm>
          <a:prstGeom prst="ellipse">
            <a:avLst/>
          </a:prstGeom>
          <a:solidFill>
            <a:srgbClr val="F1EEE8"/>
          </a:solidFill>
          <a:ln w="12700">
            <a:solidFill>
              <a:srgbClr val="B85C4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6" y="2578608"/>
            <a:ext cx="14630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1">
                <a:solidFill>
                  <a:srgbClr val="B85C42"/>
                </a:solidFill>
                <a:latin typeface="Consolas"/>
              </a:rPr>
              <a:t>RESIDENTS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" y="3218688"/>
            <a:ext cx="14630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6F7775"/>
                </a:solidFill>
                <a:latin typeface="Consolas"/>
              </a:rPr>
              <a:t>feedback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2688336" y="2670048"/>
            <a:ext cx="1847088" cy="91440"/>
          </a:xfrm>
          <a:prstGeom prst="rightArrow">
            <a:avLst/>
          </a:prstGeom>
          <a:solidFill>
            <a:srgbClr val="B85C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87552" y="4407408"/>
            <a:ext cx="1572768" cy="566928"/>
          </a:xfrm>
          <a:prstGeom prst="ellipse">
            <a:avLst/>
          </a:prstGeom>
          <a:solidFill>
            <a:srgbClr val="F1EEE8"/>
          </a:solidFill>
          <a:ln w="12700">
            <a:solidFill>
              <a:srgbClr val="1F6F8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2416" y="4572000"/>
            <a:ext cx="14630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1">
                <a:solidFill>
                  <a:srgbClr val="1F6F8B"/>
                </a:solidFill>
                <a:latin typeface="Consolas"/>
              </a:rPr>
              <a:t>OWNER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" y="5212080"/>
            <a:ext cx="14630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6F7775"/>
                </a:solidFill>
                <a:latin typeface="Consolas"/>
              </a:rPr>
              <a:t>capital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2688336" y="4663440"/>
            <a:ext cx="1847088" cy="91440"/>
          </a:xfrm>
          <a:prstGeom prst="rightArrow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25712" y="2414016"/>
            <a:ext cx="1572768" cy="566928"/>
          </a:xfrm>
          <a:prstGeom prst="ellipse">
            <a:avLst/>
          </a:prstGeom>
          <a:solidFill>
            <a:srgbClr val="F1EEE8"/>
          </a:solidFill>
          <a:ln w="12700">
            <a:solidFill>
              <a:srgbClr val="59746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80576" y="2578608"/>
            <a:ext cx="14630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1">
                <a:solidFill>
                  <a:srgbClr val="597461"/>
                </a:solidFill>
                <a:latin typeface="Consolas"/>
              </a:rPr>
              <a:t>ENERGY TEAM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0576" y="3218688"/>
            <a:ext cx="14630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6F7775"/>
                </a:solidFill>
                <a:latin typeface="Consolas"/>
              </a:rPr>
              <a:t>performance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7095744" y="2670048"/>
            <a:ext cx="1847088" cy="91440"/>
          </a:xfrm>
          <a:prstGeom prst="rightArrow">
            <a:avLst/>
          </a:prstGeom>
          <a:solidFill>
            <a:srgbClr val="5974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125712" y="4407408"/>
            <a:ext cx="1572768" cy="566928"/>
          </a:xfrm>
          <a:prstGeom prst="ellipse">
            <a:avLst/>
          </a:prstGeom>
          <a:solidFill>
            <a:srgbClr val="F1EEE8"/>
          </a:solidFill>
          <a:ln w="12700">
            <a:solidFill>
              <a:srgbClr val="B85C4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80576" y="4572000"/>
            <a:ext cx="14630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80" b="1">
                <a:solidFill>
                  <a:srgbClr val="B85C42"/>
                </a:solidFill>
                <a:latin typeface="Consolas"/>
              </a:rPr>
              <a:t>CARE PARTNERS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0576" y="5212080"/>
            <a:ext cx="146304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6F7775"/>
                </a:solidFill>
                <a:latin typeface="Consolas"/>
              </a:rPr>
              <a:t>services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7095744" y="4663440"/>
            <a:ext cx="1847088" cy="91440"/>
          </a:xfrm>
          <a:prstGeom prst="rightArrow">
            <a:avLst/>
          </a:prstGeom>
          <a:solidFill>
            <a:srgbClr val="B85C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79008" y="4078224"/>
            <a:ext cx="12801" cy="804672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12463" y="5102352"/>
            <a:ext cx="4846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1F6F8B"/>
                </a:solidFill>
                <a:latin typeface="Consolas"/>
              </a:rPr>
              <a:t>ACCOUNTABILITY LOOP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19856" y="5394960"/>
            <a:ext cx="5431536" cy="2286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56432" y="5724144"/>
            <a:ext cx="535838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19" b="1">
                <a:solidFill>
                  <a:srgbClr val="1F6F8B"/>
                </a:solidFill>
                <a:latin typeface="Aptos"/>
              </a:rPr>
              <a:t>data → decision → maintenance → lived outcome → new data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" y="6446520"/>
            <a:ext cx="105156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6F7775"/>
                </a:solidFill>
                <a:latin typeface="Consolas"/>
              </a:rPr>
              <a:t>Conceptual operating model; actor roles describe the governance hypothesis for a retrofit programme.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EE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21792" y="411480"/>
            <a:ext cx="10972" cy="5715000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07792" y="411480"/>
            <a:ext cx="10972" cy="5715000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193792" y="411480"/>
            <a:ext cx="10972" cy="5715000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79792" y="411480"/>
            <a:ext cx="10972" cy="5715000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765792" y="411480"/>
            <a:ext cx="10972" cy="5715000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594592" y="411480"/>
            <a:ext cx="10972" cy="5715000"/>
          </a:xfrm>
          <a:prstGeom prst="rect">
            <a:avLst/>
          </a:prstGeom>
          <a:solidFill>
            <a:srgbClr val="E5DE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402336"/>
            <a:ext cx="1783080" cy="32004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530352"/>
            <a:ext cx="20116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F6F8B"/>
                </a:solidFill>
                <a:latin typeface="Consolas"/>
              </a:rPr>
              <a:t>12 / DELIVERY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84124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0272B"/>
                </a:solidFill>
                <a:latin typeface="Aptos"/>
              </a:rPr>
              <a:t>A 36-month path with evidence at every 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1225296"/>
            <a:ext cx="10607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F7775"/>
                </a:solidFill>
                <a:latin typeface="Aptos"/>
              </a:rPr>
              <a:t>The programme becomes investable when each horizon has a decision, an owner, and proof of progress.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666"/>
                </a:solidFill>
              </a:rPr>
              <a:t>13 / 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78440" y="548640"/>
            <a:ext cx="10972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F7775"/>
                </a:solidFill>
                <a:latin typeface="Consolas"/>
              </a:rPr>
              <a:t>CITY /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1682496"/>
            <a:ext cx="34747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1F6F8B"/>
                </a:solidFill>
                <a:latin typeface="Consolas"/>
              </a:rPr>
              <a:t>THREE HORIZONS / FOUR GATES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1938528"/>
            <a:ext cx="10469880" cy="2286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78992" y="3803904"/>
            <a:ext cx="9802368" cy="41148"/>
          </a:xfrm>
          <a:prstGeom prst="rect">
            <a:avLst/>
          </a:prstGeom>
          <a:solidFill>
            <a:srgbClr val="20272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78992" y="3401568"/>
            <a:ext cx="16459" cy="804672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1" y="3017520"/>
            <a:ext cx="5486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F6F8B"/>
                </a:solidFill>
                <a:latin typeface="Aptos Display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1" y="4151376"/>
            <a:ext cx="7315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6F7775"/>
                </a:solidFill>
                <a:latin typeface="Consolas"/>
              </a:rPr>
              <a:t>MONTHS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15968" y="3401568"/>
            <a:ext cx="16459" cy="804672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41648" y="3017520"/>
            <a:ext cx="5486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F6F8B"/>
                </a:solidFill>
                <a:latin typeface="Aptos Display"/>
              </a:rPr>
              <a:t>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50207" y="4151376"/>
            <a:ext cx="7315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6F7775"/>
                </a:solidFill>
                <a:latin typeface="Consolas"/>
              </a:rPr>
              <a:t>MONTHS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52944" y="3401568"/>
            <a:ext cx="16459" cy="804672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78624" y="3017520"/>
            <a:ext cx="5486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F6F8B"/>
                </a:solidFill>
                <a:latin typeface="Aptos Display"/>
              </a:rPr>
              <a:t>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87183" y="4151376"/>
            <a:ext cx="7315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6F7775"/>
                </a:solidFill>
                <a:latin typeface="Consolas"/>
              </a:rPr>
              <a:t>MONTHS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881360" y="3401568"/>
            <a:ext cx="16459" cy="804672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07040" y="3017520"/>
            <a:ext cx="5486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F6F8B"/>
                </a:solidFill>
                <a:latin typeface="Aptos Display"/>
              </a:rPr>
              <a:t>36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4151376"/>
            <a:ext cx="7315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6F7775"/>
                </a:solidFill>
                <a:latin typeface="Consolas"/>
              </a:rPr>
              <a:t>MONTHS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78992" y="2450592"/>
            <a:ext cx="3236976" cy="347472"/>
          </a:xfrm>
          <a:prstGeom prst="rect">
            <a:avLst/>
          </a:prstGeom>
          <a:solidFill>
            <a:srgbClr val="B85C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8992" y="2551176"/>
            <a:ext cx="323697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1EEE8"/>
                </a:solidFill>
                <a:latin typeface="Consolas"/>
              </a:rPr>
              <a:t>DIAGNOSE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" y="4572000"/>
            <a:ext cx="32369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0272B"/>
                </a:solidFill>
                <a:latin typeface="Aptos"/>
              </a:rPr>
              <a:t>baseline + resident pact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15968" y="2450592"/>
            <a:ext cx="3236976" cy="347472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15968" y="2551176"/>
            <a:ext cx="323697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1EEE8"/>
                </a:solidFill>
                <a:latin typeface="Consolas"/>
              </a:rPr>
              <a:t>DELIVER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15968" y="4572000"/>
            <a:ext cx="32369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0272B"/>
                </a:solidFill>
                <a:latin typeface="Aptos"/>
              </a:rPr>
              <a:t>wrap + open + share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52944" y="2450592"/>
            <a:ext cx="3236976" cy="347472"/>
          </a:xfrm>
          <a:prstGeom prst="rect">
            <a:avLst/>
          </a:prstGeom>
          <a:solidFill>
            <a:srgbClr val="5974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2944" y="2551176"/>
            <a:ext cx="323697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>
                <a:solidFill>
                  <a:srgbClr val="F1EEE8"/>
                </a:solidFill>
                <a:latin typeface="Consolas"/>
              </a:rPr>
              <a:t>OPERATE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52944" y="4572000"/>
            <a:ext cx="323697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0272B"/>
                </a:solidFill>
                <a:latin typeface="Aptos"/>
              </a:rPr>
              <a:t>measure + adapt</a:t>
            </a:r>
          </a:p>
        </p:txBody>
      </p:sp>
      <p:sp>
        <p:nvSpPr>
          <p:cNvPr id="39" name="Oval 38"/>
          <p:cNvSpPr/>
          <p:nvPr/>
        </p:nvSpPr>
        <p:spPr>
          <a:xfrm>
            <a:off x="2651760" y="5212080"/>
            <a:ext cx="493776" cy="493776"/>
          </a:xfrm>
          <a:prstGeom prst="ellipse">
            <a:avLst/>
          </a:prstGeom>
          <a:solidFill>
            <a:srgbClr val="B85C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51760" y="5394960"/>
            <a:ext cx="493776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60" b="1">
                <a:solidFill>
                  <a:srgbClr val="F1EEE8"/>
                </a:solidFill>
                <a:latin typeface="Consolas"/>
              </a:rPr>
              <a:t>G1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12848" y="5870448"/>
            <a:ext cx="13716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B85C42"/>
                </a:solidFill>
                <a:latin typeface="Consolas"/>
              </a:rPr>
              <a:t>brief locked</a:t>
            </a:r>
          </a:p>
        </p:txBody>
      </p:sp>
      <p:sp>
        <p:nvSpPr>
          <p:cNvPr id="42" name="Oval 41"/>
          <p:cNvSpPr/>
          <p:nvPr/>
        </p:nvSpPr>
        <p:spPr>
          <a:xfrm>
            <a:off x="5888736" y="5212080"/>
            <a:ext cx="493776" cy="493776"/>
          </a:xfrm>
          <a:prstGeom prst="ellipse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88736" y="5394960"/>
            <a:ext cx="493776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60" b="1">
                <a:solidFill>
                  <a:srgbClr val="F1EEE8"/>
                </a:solidFill>
                <a:latin typeface="Consolas"/>
              </a:rPr>
              <a:t>G2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49824" y="5870448"/>
            <a:ext cx="13716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1F6F8B"/>
                </a:solidFill>
                <a:latin typeface="Consolas"/>
              </a:rPr>
              <a:t>pilot signed off</a:t>
            </a:r>
          </a:p>
        </p:txBody>
      </p:sp>
      <p:sp>
        <p:nvSpPr>
          <p:cNvPr id="45" name="Oval 44"/>
          <p:cNvSpPr/>
          <p:nvPr/>
        </p:nvSpPr>
        <p:spPr>
          <a:xfrm>
            <a:off x="9125712" y="5212080"/>
            <a:ext cx="493776" cy="493776"/>
          </a:xfrm>
          <a:prstGeom prst="ellipse">
            <a:avLst/>
          </a:prstGeom>
          <a:solidFill>
            <a:srgbClr val="5974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25712" y="5394960"/>
            <a:ext cx="493776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60" b="1">
                <a:solidFill>
                  <a:srgbClr val="F1EEE8"/>
                </a:solidFill>
                <a:latin typeface="Consolas"/>
              </a:rPr>
              <a:t>G3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0" y="5870448"/>
            <a:ext cx="13716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597461"/>
                </a:solidFill>
                <a:latin typeface="Consolas"/>
              </a:rPr>
              <a:t>shared space live</a:t>
            </a:r>
          </a:p>
        </p:txBody>
      </p:sp>
      <p:sp>
        <p:nvSpPr>
          <p:cNvPr id="48" name="Oval 47"/>
          <p:cNvSpPr/>
          <p:nvPr/>
        </p:nvSpPr>
        <p:spPr>
          <a:xfrm>
            <a:off x="10881360" y="5212080"/>
            <a:ext cx="493776" cy="493776"/>
          </a:xfrm>
          <a:prstGeom prst="ellipse">
            <a:avLst/>
          </a:prstGeom>
          <a:solidFill>
            <a:srgbClr val="B85C4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881360" y="5394960"/>
            <a:ext cx="493776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60" b="1">
                <a:solidFill>
                  <a:srgbClr val="F1EEE8"/>
                </a:solidFill>
                <a:latin typeface="Consolas"/>
              </a:rPr>
              <a:t>G4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442448" y="5870448"/>
            <a:ext cx="13716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B85C42"/>
                </a:solidFill>
                <a:latin typeface="Consolas"/>
              </a:rPr>
              <a:t>evidence review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6112" y="6291072"/>
            <a:ext cx="98755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80" b="1">
                <a:solidFill>
                  <a:srgbClr val="1F6F8B"/>
                </a:solidFill>
                <a:latin typeface="Aptos"/>
              </a:rPr>
              <a:t>A gate is not a date. It is a decision supported by evidence.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4944" y="6446520"/>
            <a:ext cx="105156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6F7775"/>
                </a:solidFill>
                <a:latin typeface="Consolas"/>
              </a:rPr>
              <a:t>Conceptual 36-month path; milestones and gates are illustrative programme design assumptions.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bd38a538f26c2d57cd9b3923fa2d72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7376" y="640080"/>
            <a:ext cx="4983480" cy="541324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199632" cy="6858000"/>
          </a:xfrm>
          <a:prstGeom prst="rect">
            <a:avLst/>
          </a:prstGeom>
          <a:solidFill>
            <a:srgbClr val="F1EE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8096" y="804672"/>
            <a:ext cx="2670048" cy="41148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" y="1078992"/>
            <a:ext cx="33832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F6F8B"/>
                </a:solidFill>
                <a:latin typeface="Consolas"/>
              </a:rPr>
              <a:t>THE TAKEAWAY / CASE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572768"/>
            <a:ext cx="4754880" cy="1024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0272B"/>
                </a:solidFill>
                <a:latin typeface="Aptos"/>
              </a:rPr>
              <a:t>Upgrade in place.
Keep life in place.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999232"/>
            <a:ext cx="4498848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"/>
              </a:spcBef>
              <a:spcAft>
                <a:spcPts val="120"/>
              </a:spcAft>
            </a:pPr>
            <a:r>
              <a:rPr sz="1400" b="0">
                <a:solidFill>
                  <a:srgbClr val="6F7775"/>
                </a:solidFill>
              </a:rPr>
              <a:t>A retrofit becomes strategic when</a:t>
            </a:r>
          </a:p>
          <a:p>
            <a:pPr algn="l">
              <a:spcBef>
                <a:spcPts val="120"/>
              </a:spcBef>
              <a:spcAft>
                <a:spcPts val="120"/>
              </a:spcAft>
            </a:pPr>
            <a:r>
              <a:rPr sz="1400" b="0">
                <a:solidFill>
                  <a:srgbClr val="6F7775"/>
                </a:solidFill>
              </a:rPr>
              <a:t>the building is treated as a connected</a:t>
            </a:r>
          </a:p>
          <a:p>
            <a:pPr algn="l">
              <a:spcBef>
                <a:spcPts val="120"/>
              </a:spcBef>
              <a:spcAft>
                <a:spcPts val="120"/>
              </a:spcAft>
            </a:pPr>
            <a:r>
              <a:rPr sz="1400" b="0">
                <a:solidFill>
                  <a:srgbClr val="6F7775"/>
                </a:solidFill>
              </a:rPr>
              <a:t>vertical city—not a façade project.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" y="4352544"/>
            <a:ext cx="4160520" cy="27432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736592"/>
            <a:ext cx="31089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1">
                <a:solidFill>
                  <a:srgbClr val="B85C42"/>
                </a:solidFill>
                <a:latin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4727448"/>
            <a:ext cx="4023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0272B"/>
                </a:solidFill>
                <a:latin typeface="Aptos"/>
              </a:rPr>
              <a:t>Reduce loss before adding capacity.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138928"/>
            <a:ext cx="31089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1">
                <a:solidFill>
                  <a:srgbClr val="597461"/>
                </a:solidFill>
                <a:latin typeface="Consola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5129784"/>
            <a:ext cx="4023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0272B"/>
                </a:solidFill>
                <a:latin typeface="Aptos"/>
              </a:rPr>
              <a:t>Design the shared ground.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541264"/>
            <a:ext cx="310896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1">
                <a:solidFill>
                  <a:srgbClr val="1F6F8B"/>
                </a:solidFill>
                <a:latin typeface="Consola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5532120"/>
            <a:ext cx="4023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0272B"/>
                </a:solidFill>
                <a:latin typeface="Aptos"/>
              </a:rPr>
              <a:t>Operate the new capacity.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6272784"/>
            <a:ext cx="47548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1">
                <a:solidFill>
                  <a:srgbClr val="1F6F8B"/>
                </a:solidFill>
                <a:latin typeface="Consolas"/>
              </a:rPr>
              <a:t>CONCEPTUAL HERO VISUAL / NOT A REAL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6419088"/>
            <a:ext cx="47548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" b="0">
                <a:solidFill>
                  <a:srgbClr val="6F7775"/>
                </a:solidFill>
                <a:latin typeface="Consolas"/>
              </a:rPr>
              <a:t>VERTICAL CITY RETROFIT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