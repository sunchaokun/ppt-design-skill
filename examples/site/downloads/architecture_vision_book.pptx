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8d92821b14cac883b0f2d1a0b3aba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475488"/>
            <a:ext cx="10287000" cy="5138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12064" y="475488"/>
            <a:ext cx="201168" cy="5138928"/>
          </a:xfrm>
          <a:prstGeom prst="rect">
            <a:avLst/>
          </a:prstGeom>
          <a:solidFill>
            <a:srgbClr val="DF3E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28431" y="475488"/>
            <a:ext cx="3493008" cy="594360"/>
          </a:xfrm>
          <a:prstGeom prst="rect">
            <a:avLst/>
          </a:prstGeom>
          <a:solidFill>
            <a:srgbClr val="12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4464" y="667512"/>
            <a:ext cx="2852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PACIFIC CULTURAL DISTRICT  / 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73168"/>
            <a:ext cx="69494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01F37"/>
                </a:solidFill>
                <a:latin typeface="Georgia"/>
              </a:rPr>
              <a:t>HORIZON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3872" y="4773168"/>
            <a:ext cx="53949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DF3E32"/>
                </a:solidFill>
                <a:latin typeface="Georgia"/>
              </a:rPr>
              <a:t>COMMONS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5760720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F3E32"/>
                </a:solidFill>
                <a:latin typeface="Arial"/>
              </a:rPr>
              <a:t>A CIVIC PAVILION / CONCEPT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5724144"/>
            <a:ext cx="3794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23B7A"/>
                </a:solidFill>
                <a:latin typeface="Georgia"/>
              </a:rPr>
              <a:t>A generous threshold between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23B7A"/>
                </a:solidFill>
                <a:latin typeface="Georgia"/>
              </a:rPr>
              <a:t>climate, culture and pause.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382512"/>
            <a:ext cx="10789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01F37"/>
                </a:solidFill>
                <a:latin typeface="Arial"/>
              </a:rPr>
              <a:t>STUDIO HORIZON     /     SITE 07     /     PACIFIC COAST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b8190f9819d3b1513f58f5c0fa2c5b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502920"/>
            <a:ext cx="6656832" cy="532180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88920" y="5257800"/>
            <a:ext cx="6656832" cy="566928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4952" y="5404104"/>
            <a:ext cx="6080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23B7A"/>
                </a:solidFill>
                <a:latin typeface="Arial"/>
              </a:rPr>
              <a:t>THE ROOF IS A CLIMATE DEVICE, NOT AN OBJECT.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3035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EBFF"/>
                </a:solidFill>
                <a:latin typeface="Arial"/>
              </a:rPr>
              <a:t>01 / 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25296"/>
            <a:ext cx="19568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900" b="1">
                <a:solidFill>
                  <a:srgbClr val="FFFFFF"/>
                </a:solidFill>
                <a:latin typeface="Georgia"/>
              </a:rPr>
              <a:t>SHADE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900" b="1">
                <a:solidFill>
                  <a:srgbClr val="FFFFFF"/>
                </a:solidFill>
                <a:latin typeface="Georgia"/>
              </a:rPr>
              <a:t>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900" b="1">
                <a:solidFill>
                  <a:srgbClr val="FFFFFF"/>
                </a:solidFill>
                <a:latin typeface="Georgia"/>
              </a:rPr>
              <a:t>CIVIC.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060704"/>
            <a:ext cx="192024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DDEBFF"/>
                </a:solidFill>
                <a:latin typeface="Georgia"/>
              </a:rPr>
              <a:t>The canopy gives the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DDEBFF"/>
                </a:solidFill>
                <a:latin typeface="Georgia"/>
              </a:rPr>
              <a:t>public room its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DDEBFF"/>
                </a:solidFill>
                <a:latin typeface="Georgia"/>
              </a:rPr>
              <a:t>temperature, scale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DDEBFF"/>
                </a:solidFill>
                <a:latin typeface="Georgia"/>
              </a:rPr>
              <a:t>and reason to stay.</a:t>
            </a:r>
          </a:p>
        </p:txBody>
      </p:sp>
      <p:sp>
        <p:nvSpPr>
          <p:cNvPr id="9" name="Oval 8"/>
          <p:cNvSpPr/>
          <p:nvPr/>
        </p:nvSpPr>
        <p:spPr>
          <a:xfrm>
            <a:off x="10040112" y="4023360"/>
            <a:ext cx="960120" cy="960120"/>
          </a:xfrm>
          <a:prstGeom prst="ellipse">
            <a:avLst/>
          </a:prstGeom>
          <a:solidFill>
            <a:srgbClr val="DF3E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19963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DEBFF"/>
                </a:solidFill>
                <a:latin typeface="Arial"/>
              </a:rPr>
              <a:t>2,800 M²     /     WATER + SHADE + GATHERING     /     OPEN TO THE HORIZON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F3E32"/>
                </a:solidFill>
                <a:latin typeface="Arial"/>
              </a:rPr>
              <a:t>02 / ARRIVAL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93268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01F37"/>
                </a:solidFill>
                <a:latin typeface="Georgia"/>
              </a:rPr>
              <a:t>A place unfolds in three pauses.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93392"/>
            <a:ext cx="7132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F3E32"/>
                </a:solidFill>
                <a:latin typeface="Georgia"/>
              </a:rPr>
              <a:t>I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6192" y="2176272"/>
            <a:ext cx="2148840" cy="64008"/>
          </a:xfrm>
          <a:prstGeom prst="rect">
            <a:avLst/>
          </a:prstGeom>
          <a:solidFill>
            <a:srgbClr val="1769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96596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3B7A"/>
                </a:solidFill>
                <a:latin typeface="Arial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1947672"/>
            <a:ext cx="4434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1F37"/>
                </a:solidFill>
                <a:latin typeface="Georgia"/>
              </a:rPr>
              <a:t>The long edge slows the city before the building begins.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273552"/>
            <a:ext cx="7132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F3E32"/>
                </a:solidFill>
                <a:latin typeface="Georgia"/>
              </a:rPr>
              <a:t>II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6192" y="3456432"/>
            <a:ext cx="3474720" cy="64008"/>
          </a:xfrm>
          <a:prstGeom prst="rect">
            <a:avLst/>
          </a:prstGeom>
          <a:solidFill>
            <a:srgbClr val="1769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4256" y="324612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3B7A"/>
                </a:solidFill>
                <a:latin typeface="Arial"/>
              </a:rPr>
              <a:t>CROSSING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3227832"/>
            <a:ext cx="4434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1F37"/>
                </a:solidFill>
                <a:latin typeface="Georgia"/>
              </a:rPr>
              <a:t>A cool shadow makes the act of arrival feel deliberate.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553712"/>
            <a:ext cx="7132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F3E32"/>
                </a:solidFill>
                <a:latin typeface="Georgia"/>
              </a:rPr>
              <a:t>III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36192" y="4736592"/>
            <a:ext cx="4800600" cy="64008"/>
          </a:xfrm>
          <a:prstGeom prst="rect">
            <a:avLst/>
          </a:prstGeom>
          <a:solidFill>
            <a:srgbClr val="1769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4526280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3B7A"/>
                </a:solidFill>
                <a:latin typeface="Arial"/>
              </a:rPr>
              <a:t>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507992"/>
            <a:ext cx="4434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1F37"/>
                </a:solidFill>
                <a:latin typeface="Georgia"/>
              </a:rPr>
              <a:t>Water sends the sky back into the room as a quiet civic ritual.</a:t>
            </a:r>
          </a:p>
        </p:txBody>
      </p:sp>
      <p:pic>
        <p:nvPicPr>
          <p:cNvPr id="17" name="Picture 16" descr="efa29ac69ad033c2c57738c005ad32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5440680"/>
            <a:ext cx="2542032" cy="84124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66928" y="6345936"/>
            <a:ext cx="11045952" cy="64008"/>
          </a:xfrm>
          <a:prstGeom prst="rect">
            <a:avLst/>
          </a:prstGeom>
          <a:solidFill>
            <a:srgbClr val="DF3E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8d38ac7db23af20f9e197354cbace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352" y="502920"/>
            <a:ext cx="4754880" cy="5230368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502920"/>
            <a:ext cx="4754880" cy="137160"/>
          </a:xfrm>
          <a:prstGeom prst="rect">
            <a:avLst/>
          </a:prstGeom>
          <a:solidFill>
            <a:srgbClr val="DF3E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32104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F3E32"/>
                </a:solidFill>
                <a:latin typeface="Arial"/>
              </a:rPr>
              <a:t>03 / THE INVITATION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44752"/>
            <a:ext cx="38862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800" b="1">
                <a:solidFill>
                  <a:srgbClr val="101F37"/>
                </a:solidFill>
                <a:latin typeface="Georgia"/>
              </a:rPr>
              <a:t>MAKE ROOM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800" b="1">
                <a:solidFill>
                  <a:srgbClr val="101F37"/>
                </a:solidFill>
                <a:latin typeface="Georgia"/>
              </a:rPr>
              <a:t>FOR RETURN.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00400"/>
            <a:ext cx="3730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23B7A"/>
                </a:solidFill>
                <a:latin typeface="Georgia"/>
              </a:rPr>
              <a:t>The strongest civic gesture is not spectacle.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23B7A"/>
                </a:solidFill>
                <a:latin typeface="Georgia"/>
              </a:rPr>
              <a:t>It is giving people a reason to pause, return, and belong.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010912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01F37"/>
                </a:solidFill>
                <a:latin typeface="Arial"/>
              </a:rPr>
              <a:t>STUDIO HORIZON  /  ARCHITECTURE + PUBLIC LIFE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6053328"/>
            <a:ext cx="5742432" cy="310896"/>
          </a:xfrm>
          <a:prstGeom prst="rect">
            <a:avLst/>
          </a:prstGeom>
          <a:solidFill>
            <a:srgbClr val="12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6108192"/>
            <a:ext cx="5257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PACIFIC CULTURAL DISTRICT  /  CONCEPT BOOK  / 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