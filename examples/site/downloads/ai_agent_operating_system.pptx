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SYSTEMS 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078992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F3F7FB"/>
                </a:solidFill>
                <a:latin typeface="Aptos"/>
              </a:rPr>
              <a:t>AI AGENT
OPERATING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290779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6D8E8"/>
                </a:solidFill>
                <a:latin typeface="Aptos"/>
              </a:rPr>
              <a:t>From prompt chains to
controlled autonomy.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77639"/>
            <a:ext cx="1234440" cy="54864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25196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300" b="0">
                <a:solidFill>
                  <a:srgbClr val="8EA5BC"/>
                </a:solidFill>
              </a:rPr>
              <a:t>A field guide to choosing the</a:t>
            </a:r>
          </a:p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300" b="0">
                <a:solidFill>
                  <a:srgbClr val="8EA5BC"/>
                </a:solidFill>
              </a:rPr>
              <a:t>smallest architecture that can carry the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11556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A5BC"/>
                </a:solidFill>
                <a:latin typeface="Consolas"/>
              </a:rPr>
              <a:t>THE SYSTEM IS THE PRODUCT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600200"/>
            <a:ext cx="4389120" cy="749808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1600200"/>
            <a:ext cx="50292" cy="749808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1746504"/>
            <a:ext cx="40965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USER INTENT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2084832"/>
            <a:ext cx="4096511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objective · context · constraints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49640" y="2450592"/>
            <a:ext cx="320040" cy="256032"/>
          </a:xfrm>
          <a:prstGeom prst="rightArrow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26480" y="2816352"/>
            <a:ext cx="5394960" cy="1024128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2816352"/>
            <a:ext cx="50292" cy="1024128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2962656"/>
            <a:ext cx="5102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CONTROL PLANE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3300984"/>
            <a:ext cx="510235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route · plan · approve · evaluate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549640" y="4023360"/>
            <a:ext cx="320040" cy="256032"/>
          </a:xfrm>
          <a:prstGeom prst="rightArrow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29400" y="4407408"/>
            <a:ext cx="4389120" cy="749808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9400" y="4407408"/>
            <a:ext cx="50292" cy="749808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93992" y="4553712"/>
            <a:ext cx="40965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EXECUTION PLANE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4892040"/>
            <a:ext cx="4096511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tools · memory · state · 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61722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EA5BC"/>
                </a:solidFill>
                <a:latin typeface="Consolas"/>
              </a:rPr>
              <a:t>A decision-led technical editorial / 12 pages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SOURCE FRAME: Anthropic, Building Effective AI Agents; Trustworthy Agents in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01 /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Autonomy is not a mood. It is a system boundary.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The design question is not “how agentic?” — it is “where should control live?”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2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828800"/>
            <a:ext cx="10149840" cy="8229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203911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6D8E8"/>
                </a:solidFill>
                <a:latin typeface="Consolas"/>
              </a:rPr>
              <a:t>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19933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7FB"/>
                </a:solidFill>
                <a:latin typeface="Aptos"/>
              </a:rPr>
              <a:t>What must be 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05740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Consolas"/>
              </a:rPr>
              <a:t>task · context · definition of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2926080"/>
            <a:ext cx="955548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31363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BF69"/>
                </a:solidFill>
                <a:latin typeface="Consola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0906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7FB"/>
                </a:solidFill>
                <a:latin typeface="Aptos"/>
              </a:rPr>
              <a:t>Who decides what happens 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1546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Consolas"/>
              </a:rPr>
              <a:t>route · plan · permissions ·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4160520"/>
            <a:ext cx="8961120" cy="96012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20" y="43708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9F27C"/>
                </a:solidFill>
                <a:latin typeface="Consolas"/>
              </a:rPr>
              <a:t>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3251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7FB"/>
                </a:solidFill>
                <a:latin typeface="Aptos"/>
              </a:rPr>
              <a:t>How the system gets better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3891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Consolas"/>
              </a:rPr>
              <a:t>trace · eval · feedback · release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6692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3F7FB"/>
                </a:solidFill>
                <a:latin typeface="Aptos"/>
              </a:rPr>
              <a:t>A system earns autonomy only when its boundaries, feedback, and failure modes are visible.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DESIGN PRINCIPLE / MAKE THE BOUNDARY VISIBLE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02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Choose architecture by problem shape, not by fashion.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Two questions predict most of the design: can the steps be known, and can the work split safely?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3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303520"/>
            <a:ext cx="7406640" cy="22860"/>
          </a:xfrm>
          <a:prstGeom prst="rect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2057400"/>
            <a:ext cx="22860" cy="3246120"/>
          </a:xfrm>
          <a:prstGeom prst="rect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229600" y="5193792"/>
            <a:ext cx="457200" cy="201168"/>
          </a:xfrm>
          <a:prstGeom prst="rightArrow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1188720" y="1600200"/>
            <a:ext cx="201168" cy="457200"/>
          </a:xfrm>
          <a:prstGeom prst="rightArrow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5513832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6D8E8"/>
                </a:solidFill>
                <a:latin typeface="Consolas"/>
              </a:rPr>
              <a:t>PARALLELISM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834640"/>
            <a:ext cx="228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U
N
C
E
R
T
A
I
N
T
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40" y="4069080"/>
            <a:ext cx="278892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551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91640" y="4069080"/>
            <a:ext cx="50292" cy="914400"/>
          </a:xfrm>
          <a:prstGeom prst="rect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56232" y="4215384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6232" y="4553712"/>
            <a:ext cx="249631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known steps · low variance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4069080"/>
            <a:ext cx="283464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74920" y="4069080"/>
            <a:ext cx="50292" cy="91440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9512" y="4215384"/>
            <a:ext cx="2542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PARALLEL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9512" y="4553712"/>
            <a:ext cx="254203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independent branches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1640" y="2423160"/>
            <a:ext cx="278892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91640" y="2423160"/>
            <a:ext cx="50292" cy="91440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56232" y="2569464"/>
            <a:ext cx="2496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SINGLE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56232" y="2907791"/>
            <a:ext cx="249631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open-ended · tool 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4920" y="2423160"/>
            <a:ext cx="283464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74920" y="2423160"/>
            <a:ext cx="50292" cy="91440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9512" y="2569464"/>
            <a:ext cx="2542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ORCHESTRATED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9512" y="2907791"/>
            <a:ext cx="254203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specialists · synthesis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2520" y="2148840"/>
            <a:ext cx="2331720" cy="2926080"/>
          </a:xfrm>
          <a:prstGeom prst="roundRect">
            <a:avLst/>
          </a:prstGeom>
          <a:solidFill>
            <a:srgbClr val="12263C"/>
          </a:solidFill>
          <a:ln w="12700">
            <a:solidFill>
              <a:srgbClr val="FF6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2468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6B"/>
                </a:solidFill>
                <a:latin typeface="Consolas"/>
              </a:rPr>
              <a:t>ANTI-PATTERN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2999232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7FB"/>
                </a:solidFill>
                <a:latin typeface="Aptos"/>
              </a:rPr>
              <a:t>More agents
does not mean
more system.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5537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900" b="0">
                <a:solidFill>
                  <a:srgbClr val="8EA5BC"/>
                </a:solidFill>
              </a:rPr>
              <a:t>Complexity is the cost.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DECISION RULE / START WITH THE SIMPLEST PATTERN THAT CAN SURVIVE THE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03 /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The operating system has two planes — and one feedback spine.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Control decides. Execution acts. Observability closes the loop.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4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737360"/>
            <a:ext cx="10698480" cy="42519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551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1938528"/>
            <a:ext cx="18288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1988820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BF69"/>
                </a:solidFill>
                <a:latin typeface="Consolas"/>
              </a:rPr>
              <a:t>CONTROL PLANE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2423160"/>
            <a:ext cx="196596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2423160"/>
            <a:ext cx="50292" cy="91440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2569464"/>
            <a:ext cx="16733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2907791"/>
            <a:ext cx="1673351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classify intent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select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2423160"/>
            <a:ext cx="196596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2423160"/>
            <a:ext cx="50292" cy="91440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10712" y="2569464"/>
            <a:ext cx="16733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2" y="2907791"/>
            <a:ext cx="1673351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delegate work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merge context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2423160"/>
            <a:ext cx="196596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0" y="2423160"/>
            <a:ext cx="50292" cy="91440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0992" y="2569464"/>
            <a:ext cx="16733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EVALUATOR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2907791"/>
            <a:ext cx="1673351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score output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trigger revise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2971800" y="2743200"/>
            <a:ext cx="228600" cy="201168"/>
          </a:xfrm>
          <a:prstGeom prst="rightArrow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5212080" y="2743200"/>
            <a:ext cx="228600" cy="201168"/>
          </a:xfrm>
          <a:prstGeom prst="rightArrow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7" y="25420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BF69"/>
                </a:solidFill>
                <a:latin typeface="Consolas"/>
              </a:rPr>
              <a:t>permissions
&amp; escalation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3703320"/>
            <a:ext cx="10012680" cy="18288"/>
          </a:xfrm>
          <a:prstGeom prst="rect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05840" y="3904487"/>
            <a:ext cx="18288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3954779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9F27C"/>
                </a:solidFill>
                <a:latin typeface="Consolas"/>
              </a:rPr>
              <a:t>EXECUTION PLANE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4315968"/>
            <a:ext cx="2240280" cy="85039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5840" y="4315968"/>
            <a:ext cx="50292" cy="850392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70432" y="4462272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SPECIALISTS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" y="480060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research · code · design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03320" y="4315968"/>
            <a:ext cx="2240280" cy="85039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703320" y="4315968"/>
            <a:ext cx="50292" cy="850392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67911" y="4462272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TOOLS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67911" y="480060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APIs · files · runtime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315968"/>
            <a:ext cx="2240280" cy="85039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4315968"/>
            <a:ext cx="50292" cy="850392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4462272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480060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memory · artifacts · trace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3383280" y="4572000"/>
            <a:ext cx="256032" cy="201168"/>
          </a:xfrm>
          <a:prstGeom prst="rightArrow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ight Arrow 52"/>
          <p:cNvSpPr/>
          <p:nvPr/>
        </p:nvSpPr>
        <p:spPr>
          <a:xfrm>
            <a:off x="6080760" y="4572000"/>
            <a:ext cx="256032" cy="201168"/>
          </a:xfrm>
          <a:prstGeom prst="rightArrow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98280" y="4343400"/>
            <a:ext cx="18288" cy="822960"/>
          </a:xfrm>
          <a:prstGeom prst="rect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72600" y="440740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9F27C"/>
                </a:solidFill>
                <a:latin typeface="Consolas"/>
              </a:rPr>
              <a:t>TRACE
SPINE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SYSTEM VIEW / EVERY ACTION SHOULD BE ROUTABLE, PERMISSIONED, AND TRACEABLE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04 / PATTERN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Prompt chaining: make the path explicit.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Use a sequence when the work is stable enough to describe before execution.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5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331720"/>
            <a:ext cx="1828800" cy="141732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2331720"/>
            <a:ext cx="50292" cy="141732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2478024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2816352"/>
            <a:ext cx="15361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bring the right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" y="3392423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442715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01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724912" y="2907792"/>
            <a:ext cx="256032" cy="201168"/>
          </a:xfrm>
          <a:prstGeom prst="rightArrow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63240" y="2331720"/>
            <a:ext cx="1828800" cy="141732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63240" y="2331720"/>
            <a:ext cx="50292" cy="141732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7832" y="2478024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7832" y="2816352"/>
            <a:ext cx="15361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produce a first artifact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27832" y="3392423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27832" y="3442715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9F27C"/>
                </a:solidFill>
                <a:latin typeface="Consolas"/>
              </a:rPr>
              <a:t>02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65192" y="2907792"/>
            <a:ext cx="256032" cy="201168"/>
          </a:xfrm>
          <a:prstGeom prst="rightArrow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03520" y="2331720"/>
            <a:ext cx="1828800" cy="141732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0" y="2331720"/>
            <a:ext cx="50292" cy="141732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8112" y="2478024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816352"/>
            <a:ext cx="15361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validate against criteria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68112" y="3392423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68112" y="3442715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BF69"/>
                </a:solidFill>
                <a:latin typeface="Consolas"/>
              </a:rPr>
              <a:t>03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205472" y="2907792"/>
            <a:ext cx="256032" cy="201168"/>
          </a:xfrm>
          <a:prstGeom prst="rightArrow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43800" y="2331720"/>
            <a:ext cx="1828800" cy="141732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43800" y="2331720"/>
            <a:ext cx="50292" cy="141732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8392" y="2478024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PACKAGE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08392" y="2816352"/>
            <a:ext cx="15361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format for the user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08392" y="3392423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08392" y="3442715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" y="4343400"/>
            <a:ext cx="8229600" cy="32004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1560" y="4215384"/>
            <a:ext cx="256032" cy="256032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59" y="46451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EA5BC"/>
                </a:solidFill>
                <a:latin typeface="Consolas"/>
              </a:rPr>
              <a:t>CONTEXT</a:t>
            </a:r>
          </a:p>
        </p:txBody>
      </p:sp>
      <p:sp>
        <p:nvSpPr>
          <p:cNvPr id="49" name="Oval 48"/>
          <p:cNvSpPr/>
          <p:nvPr/>
        </p:nvSpPr>
        <p:spPr>
          <a:xfrm>
            <a:off x="3310128" y="4215384"/>
            <a:ext cx="256032" cy="256032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81528" y="46451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EA5BC"/>
                </a:solidFill>
                <a:latin typeface="Consolas"/>
              </a:rPr>
              <a:t>ARTIFACT</a:t>
            </a:r>
          </a:p>
        </p:txBody>
      </p:sp>
      <p:sp>
        <p:nvSpPr>
          <p:cNvPr id="51" name="Oval 50"/>
          <p:cNvSpPr/>
          <p:nvPr/>
        </p:nvSpPr>
        <p:spPr>
          <a:xfrm>
            <a:off x="5550408" y="4215384"/>
            <a:ext cx="256032" cy="256032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21808" y="46451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EA5BC"/>
                </a:solidFill>
                <a:latin typeface="Consolas"/>
              </a:rPr>
              <a:t>CRITERIA</a:t>
            </a:r>
          </a:p>
        </p:txBody>
      </p:sp>
      <p:sp>
        <p:nvSpPr>
          <p:cNvPr id="53" name="Oval 52"/>
          <p:cNvSpPr/>
          <p:nvPr/>
        </p:nvSpPr>
        <p:spPr>
          <a:xfrm>
            <a:off x="7790688" y="4215384"/>
            <a:ext cx="256032" cy="256032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2088" y="464515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EA5BC"/>
                </a:solidFill>
                <a:latin typeface="Consolas"/>
              </a:rPr>
              <a:t>OUTPUT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26880" y="2240280"/>
            <a:ext cx="1874519" cy="2468880"/>
          </a:xfrm>
          <a:prstGeom prst="roundRect">
            <a:avLst/>
          </a:prstGeom>
          <a:solidFill>
            <a:srgbClr val="12263C"/>
          </a:solidFill>
          <a:ln w="12700">
            <a:solidFill>
              <a:srgbClr val="3551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82912" y="2514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9F27C"/>
                </a:solidFill>
                <a:latin typeface="Consolas"/>
              </a:rPr>
              <a:t>BEST WHEN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82912" y="2944368"/>
            <a:ext cx="1325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1300" b="0">
                <a:solidFill>
                  <a:srgbClr val="F3F7FB"/>
                </a:solidFill>
              </a:rPr>
              <a:t>steps are known</a:t>
            </a:r>
          </a:p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1300" b="0">
                <a:solidFill>
                  <a:srgbClr val="F3F7FB"/>
                </a:solidFill>
              </a:rPr>
              <a:t>handoffs are clear</a:t>
            </a:r>
          </a:p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1300" b="0">
                <a:solidFill>
                  <a:srgbClr val="F3F7FB"/>
                </a:solidFill>
              </a:rPr>
              <a:t>failure is local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PATTERN 01 / LOW VARIANCE · HIGH EXPLAINABILITY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05 / PATTERN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Routing: send the task to the right lane.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A classifier can reduce complexity when the task family is recognizable.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6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2743200"/>
            <a:ext cx="2011680" cy="109728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2743200"/>
            <a:ext cx="50292" cy="109728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2889504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USER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227832"/>
            <a:ext cx="17190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What kind of work is this?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3483864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353415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INPUT</a:t>
            </a:r>
          </a:p>
        </p:txBody>
      </p:sp>
      <p:sp>
        <p:nvSpPr>
          <p:cNvPr id="25" name="Diamond 24"/>
          <p:cNvSpPr/>
          <p:nvPr/>
        </p:nvSpPr>
        <p:spPr>
          <a:xfrm>
            <a:off x="3703320" y="2697480"/>
            <a:ext cx="1417320" cy="1417320"/>
          </a:xfrm>
          <a:prstGeom prst="diamond">
            <a:avLst/>
          </a:prstGeom>
          <a:solidFill>
            <a:srgbClr val="12263C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30906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BF69"/>
                </a:solidFill>
                <a:latin typeface="Consolas"/>
              </a:rPr>
              <a:t>CLASSIFY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971800" y="3154680"/>
            <a:ext cx="502920" cy="201168"/>
          </a:xfrm>
          <a:prstGeom prst="rightArrow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257800" y="2834640"/>
            <a:ext cx="475488" cy="201168"/>
          </a:xfrm>
          <a:prstGeom prst="rightArrow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97880" y="2240280"/>
            <a:ext cx="1600200" cy="17373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2240280"/>
            <a:ext cx="50292" cy="173736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62472" y="2386584"/>
            <a:ext cx="1307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2472" y="2724912"/>
            <a:ext cx="1307592" cy="89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retrieve · cite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2472" y="3621023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62472" y="3671315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LANE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257800" y="3006547"/>
            <a:ext cx="475488" cy="201168"/>
          </a:xfrm>
          <a:prstGeom prst="rightArrow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46720" y="2240280"/>
            <a:ext cx="1600200" cy="17373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2240280"/>
            <a:ext cx="50292" cy="173736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2386584"/>
            <a:ext cx="1307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BUILD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2724912"/>
            <a:ext cx="1307592" cy="89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code · 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11312" y="3621023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3671315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9F27C"/>
                </a:solidFill>
                <a:latin typeface="Consolas"/>
              </a:rPr>
              <a:t>LANE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257800" y="3178454"/>
            <a:ext cx="475488" cy="201168"/>
          </a:xfrm>
          <a:prstGeom prst="rightArrow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195560" y="2240280"/>
            <a:ext cx="1600200" cy="17373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95560" y="2240280"/>
            <a:ext cx="50292" cy="173736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60152" y="2386584"/>
            <a:ext cx="1307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0152" y="2724912"/>
            <a:ext cx="1307592" cy="89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critique · explain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60152" y="3621023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60152" y="3671315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BF69"/>
                </a:solidFill>
                <a:latin typeface="Consolas"/>
              </a:rPr>
              <a:t>LANE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07408" y="4279392"/>
            <a:ext cx="18288" cy="914400"/>
          </a:xfrm>
          <a:prstGeom prst="rect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4754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F69"/>
                </a:solidFill>
                <a:latin typeface="Consolas"/>
              </a:rPr>
              <a:t>ROUTING IS A DECISION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13892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300" b="0">
                <a:solidFill>
                  <a:srgbClr val="8EA5BC"/>
                </a:solidFill>
              </a:rPr>
              <a:t>The classifier should expose why a lane was chosen — not hide a second agent inside a black box.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PATTERN 02 / CLASSIFICATION BEFORE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06 / PATTERN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Parallelization: split only where independence is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Fan out the work, then make synthesis an explicit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7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761488"/>
            <a:ext cx="1828800" cy="100584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2761488"/>
            <a:ext cx="50292" cy="100584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2907792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246120"/>
            <a:ext cx="1536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What should we learn?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788920" y="3154680"/>
            <a:ext cx="548640" cy="201168"/>
          </a:xfrm>
          <a:prstGeom prst="rightArrow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57600" y="1810512"/>
            <a:ext cx="384048" cy="384048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1920240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111F"/>
                </a:solidFill>
                <a:latin typeface="Consolas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1664208"/>
            <a:ext cx="1600200" cy="8229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1664208"/>
            <a:ext cx="50292" cy="82296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1810512"/>
            <a:ext cx="1307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148840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signals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89320" y="1920240"/>
            <a:ext cx="502920" cy="201168"/>
          </a:xfrm>
          <a:prstGeom prst="rightArrow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57600" y="2971800"/>
            <a:ext cx="384048" cy="384048"/>
          </a:xfrm>
          <a:prstGeom prst="ellipse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3081528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111F"/>
                </a:solidFill>
                <a:latin typeface="Consolas"/>
              </a:rPr>
              <a:t>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4528" y="2825496"/>
            <a:ext cx="1600200" cy="8229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24528" y="2825496"/>
            <a:ext cx="50292" cy="82296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2971800"/>
            <a:ext cx="1307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310128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needs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89320" y="3081528"/>
            <a:ext cx="502920" cy="201168"/>
          </a:xfrm>
          <a:prstGeom prst="rightArrow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57600" y="4133087"/>
            <a:ext cx="384048" cy="384048"/>
          </a:xfrm>
          <a:prstGeom prst="ellipse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39" y="4242816"/>
            <a:ext cx="182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7111F"/>
                </a:solidFill>
                <a:latin typeface="Consolas"/>
              </a:rPr>
              <a:t>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24528" y="3986783"/>
            <a:ext cx="1600200" cy="8229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24528" y="3986783"/>
            <a:ext cx="50292" cy="82296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133087"/>
            <a:ext cx="1307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RISKS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471416"/>
            <a:ext cx="1307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constraints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989320" y="4242816"/>
            <a:ext cx="502920" cy="201168"/>
          </a:xfrm>
          <a:prstGeom prst="rightArrow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720840" y="2743200"/>
            <a:ext cx="2011680" cy="10515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20840" y="2743200"/>
            <a:ext cx="50292" cy="105156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85431" y="2889504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SYNTHESIZER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431" y="3227832"/>
            <a:ext cx="171907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merge evidence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resolve conflict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85431" y="3438144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85431" y="348843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9F27C"/>
                </a:solidFill>
                <a:latin typeface="Consolas"/>
              </a:rPr>
              <a:t>JOIN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869680" y="3154680"/>
            <a:ext cx="502920" cy="201168"/>
          </a:xfrm>
          <a:prstGeom prst="rightArrow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509760" y="2743200"/>
            <a:ext cx="1828800" cy="105156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09760" y="2743200"/>
            <a:ext cx="50292" cy="105156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74352" y="2889504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DECISION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74352" y="3227832"/>
            <a:ext cx="1536192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recommendation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with provenance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74352" y="3438144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74352" y="348843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BF69"/>
                </a:solidFill>
                <a:latin typeface="Consolas"/>
              </a:rPr>
              <a:t>END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" y="5440680"/>
            <a:ext cx="10424160" cy="475488"/>
          </a:xfrm>
          <a:prstGeom prst="roundRect">
            <a:avLst/>
          </a:prstGeom>
          <a:solidFill>
            <a:srgbClr val="12263C"/>
          </a:solidFill>
          <a:ln w="12700">
            <a:solidFill>
              <a:srgbClr val="3551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5586984"/>
            <a:ext cx="9966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6B6B"/>
                </a:solidFill>
                <a:latin typeface="Consolas"/>
              </a:rPr>
              <a:t>FAILURE MODE  /  parallel workers without a synthesis contract produce a pile of answers, not a system.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PATTERN 03 / INDEPENDENCE FIRST · SYNTHESIS SECOND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07 / PATTERN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Orchestrator–workers: delegate the search 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Use hierarchy when the task needs specialists and the plan must adapt as evidence arrives.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8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737360"/>
            <a:ext cx="3383280" cy="89611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737360"/>
            <a:ext cx="50292" cy="896112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883664"/>
            <a:ext cx="3090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ORCHESTRATOR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221991"/>
            <a:ext cx="3090672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plan · delegate · synthesize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53328" y="2670048"/>
            <a:ext cx="22860" cy="50292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83080" y="3182112"/>
            <a:ext cx="22860" cy="384048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611880"/>
            <a:ext cx="182880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3611880"/>
            <a:ext cx="50292" cy="91440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3758184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RESEARCHER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096512"/>
            <a:ext cx="15361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find evidence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3182112"/>
            <a:ext cx="22860" cy="384048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0" y="3611880"/>
            <a:ext cx="182880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611880"/>
            <a:ext cx="50292" cy="91440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22191" y="3758184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ANALYST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22191" y="4096512"/>
            <a:ext cx="15361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compare signals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3182112"/>
            <a:ext cx="22860" cy="384048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611880"/>
            <a:ext cx="182880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11880"/>
            <a:ext cx="50292" cy="91440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3758184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BUILDER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4096512"/>
            <a:ext cx="15361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make artifact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680" y="3182112"/>
            <a:ext cx="22860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4000" y="3611880"/>
            <a:ext cx="1828800" cy="9144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6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3611880"/>
            <a:ext cx="50292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8592" y="3758184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RED 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8592" y="4096512"/>
            <a:ext cx="15361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challenge result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83080" y="4956048"/>
            <a:ext cx="8229600" cy="22860"/>
          </a:xfrm>
          <a:prstGeom prst="rect">
            <a:avLst/>
          </a:prstGeom>
          <a:solidFill>
            <a:srgbClr val="3551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230368"/>
            <a:ext cx="9692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3F7FB"/>
                </a:solidFill>
                <a:latin typeface="Aptos"/>
              </a:rPr>
              <a:t>The orchestrator owns the objective. Specialists own the search space.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60520" y="5760720"/>
            <a:ext cx="3840480" cy="256032"/>
          </a:xfrm>
          <a:prstGeom prst="roundRect">
            <a:avLst/>
          </a:prstGeom>
          <a:solidFill>
            <a:srgbClr val="12263C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60520" y="5811012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BF69"/>
                </a:solidFill>
                <a:latin typeface="Consolas"/>
              </a:rPr>
              <a:t>ADAPTIVE PLAN / SHARED CONTEXT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PATTERN 04 / HIERARCHY CREATES SPECIALIZATION — AND A NEW GOVERNANCE SURFACE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08 / PATTERN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Evaluator–optimizer: make quality a loop.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A useful agent does not only produce an answer; it knows what a better answer means.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9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267712"/>
            <a:ext cx="1965960" cy="13716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2267712"/>
            <a:ext cx="50292" cy="137160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2414016"/>
            <a:ext cx="16733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2752344"/>
            <a:ext cx="16733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artifact / response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first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" y="3282696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332988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WRITE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971800" y="2788920"/>
            <a:ext cx="566928" cy="201168"/>
          </a:xfrm>
          <a:prstGeom prst="rightArrow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03320" y="2267712"/>
            <a:ext cx="1965960" cy="13716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03320" y="2267712"/>
            <a:ext cx="50292" cy="137160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67911" y="2414016"/>
            <a:ext cx="16733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911" y="2752344"/>
            <a:ext cx="16733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criteria / rubric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67911" y="3282696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67911" y="3332988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BF69"/>
                </a:solidFill>
                <a:latin typeface="Consolas"/>
              </a:rPr>
              <a:t>JUDGE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97880" y="2788920"/>
            <a:ext cx="566928" cy="201168"/>
          </a:xfrm>
          <a:prstGeom prst="rightArrow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9400" y="2267712"/>
            <a:ext cx="1965960" cy="13716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9400" y="2267712"/>
            <a:ext cx="50292" cy="137160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2414016"/>
            <a:ext cx="16733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REVISE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2752344"/>
            <a:ext cx="167335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targeted change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new pass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93992" y="3282696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93992" y="3332988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9F27C"/>
                </a:solidFill>
                <a:latin typeface="Consolas"/>
              </a:rPr>
              <a:t>IMPROVE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823960" y="2788920"/>
            <a:ext cx="566928" cy="201168"/>
          </a:xfrm>
          <a:prstGeom prst="rightArrow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555480" y="2267712"/>
            <a:ext cx="1783080" cy="137160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55480" y="2267712"/>
            <a:ext cx="50292" cy="137160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2414016"/>
            <a:ext cx="1490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RELEASE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0072" y="2752344"/>
            <a:ext cx="14904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meets threshold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with trace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20072" y="3282696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20072" y="3332988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9F27C"/>
                </a:solidFill>
                <a:latin typeface="Consolas"/>
              </a:rPr>
              <a:t>SHIP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3931920"/>
            <a:ext cx="22860" cy="91440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0" y="4846320"/>
            <a:ext cx="5760720" cy="2286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1417320" y="4553712"/>
            <a:ext cx="411480" cy="201168"/>
          </a:xfrm>
          <a:prstGeom prst="rightArrow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48840" y="504748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BF69"/>
                </a:solidFill>
                <a:latin typeface="Consolas"/>
              </a:rPr>
              <a:t>FEEDBACK / WHAT FAILED, AND WHY?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41080" y="4251960"/>
            <a:ext cx="2514600" cy="914400"/>
          </a:xfrm>
          <a:prstGeom prst="roundRect">
            <a:avLst/>
          </a:prstGeom>
          <a:solidFill>
            <a:srgbClr val="12263C"/>
          </a:solidFill>
          <a:ln w="12700">
            <a:solidFill>
              <a:srgbClr val="3551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15400" y="4507992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9F27C"/>
                </a:solidFill>
                <a:latin typeface="Consolas"/>
              </a:rPr>
              <a:t>QUALITY IS A CONTRACT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482803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3F7FB"/>
                </a:solidFill>
                <a:latin typeface="Consolas"/>
              </a:rPr>
              <a:t>rubric · threshold · stop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PATTERN 05 / EVALUATION TURNS ITERATION INTO A SYSTEM PROPERTY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09 /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Human control belongs at the level of intent.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The safest review point is usually the plan, the permission boundary, and the final release — not every tool 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10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5212080"/>
            <a:ext cx="9464040" cy="36576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5010912"/>
            <a:ext cx="411480" cy="411480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" y="2788920"/>
            <a:ext cx="1783080" cy="123444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" y="2788920"/>
            <a:ext cx="50292" cy="123444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2935224"/>
            <a:ext cx="1490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OBSERVE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273552"/>
            <a:ext cx="149047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read-only trace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3666744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71703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5880" y="4041648"/>
            <a:ext cx="22860" cy="91440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66160" y="5010912"/>
            <a:ext cx="411480" cy="411480"/>
          </a:xfrm>
          <a:prstGeom prst="ellipse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10128" y="2788920"/>
            <a:ext cx="1783080" cy="123444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0128" y="2788920"/>
            <a:ext cx="50292" cy="123444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2935224"/>
            <a:ext cx="1490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273552"/>
            <a:ext cx="149047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review intent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3666744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371703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BF69"/>
                </a:solidFill>
                <a:latin typeface="Consolas"/>
              </a:rPr>
              <a:t>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041648"/>
            <a:ext cx="22860" cy="91440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89320" y="5010912"/>
            <a:ext cx="411480" cy="411480"/>
          </a:xfrm>
          <a:prstGeom prst="ellipse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33288" y="2788920"/>
            <a:ext cx="1783080" cy="123444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33288" y="2788920"/>
            <a:ext cx="50292" cy="123444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79" y="2935224"/>
            <a:ext cx="1490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APPROVE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79" y="3273552"/>
            <a:ext cx="149047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grant access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97879" y="3666744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79" y="371703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BF69"/>
                </a:solidFill>
                <a:latin typeface="Consolas"/>
              </a:rPr>
              <a:t>CONTROL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041648"/>
            <a:ext cx="22860" cy="91440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12480" y="5010912"/>
            <a:ext cx="411480" cy="4114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56448" y="2788920"/>
            <a:ext cx="1783080" cy="123444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6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56448" y="2788920"/>
            <a:ext cx="50292" cy="1234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2935224"/>
            <a:ext cx="1490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INTERVENE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273552"/>
            <a:ext cx="149047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8EA5BC"/>
                </a:solidFill>
              </a:rPr>
              <a:t>stop / redirect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3666744"/>
            <a:ext cx="1143000" cy="256032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6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371703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B6B"/>
                </a:solidFill>
                <a:latin typeface="Consolas"/>
              </a:rPr>
              <a:t>CONTROL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59" y="4041648"/>
            <a:ext cx="22860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97280" y="1828800"/>
            <a:ext cx="9418320" cy="566928"/>
          </a:xfrm>
          <a:prstGeom prst="roundRect">
            <a:avLst/>
          </a:prstGeom>
          <a:solidFill>
            <a:srgbClr val="12263C"/>
          </a:solidFill>
          <a:ln w="12700">
            <a:solidFill>
              <a:srgbClr val="3551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25880" y="201168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3F7FB"/>
                </a:solidFill>
                <a:latin typeface="Aptos"/>
              </a:rPr>
              <a:t>A good control surface compresses many low-level actions into a small number of high-value decisions.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GOVERNANCE / PLAN MODE, PERMISSIONS, AND INTERVENTION ARE PART OF THE 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10 /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If you cannot trace it, you cannot improve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Agent quality lives across turns, tools, state changes, and final artifacts.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11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880360"/>
            <a:ext cx="9966960" cy="32004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2670048"/>
            <a:ext cx="438912" cy="438912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" y="2816352"/>
            <a:ext cx="2194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7111F"/>
                </a:solidFill>
                <a:latin typeface="Consola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015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6D8E8"/>
                </a:solidFill>
                <a:latin typeface="Consolas"/>
              </a:rPr>
              <a:t>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033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A5BC"/>
                </a:solidFill>
                <a:latin typeface="Consolas"/>
              </a:rPr>
              <a:t>objective</a:t>
            </a:r>
          </a:p>
        </p:txBody>
      </p:sp>
      <p:sp>
        <p:nvSpPr>
          <p:cNvPr id="24" name="Oval 23"/>
          <p:cNvSpPr/>
          <p:nvPr/>
        </p:nvSpPr>
        <p:spPr>
          <a:xfrm>
            <a:off x="2880360" y="2670048"/>
            <a:ext cx="438912" cy="438912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80944" y="2816352"/>
            <a:ext cx="2194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7111F"/>
                </a:solidFill>
                <a:latin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4015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6D8E8"/>
                </a:solidFill>
                <a:latin typeface="Consolas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7033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A5BC"/>
                </a:solidFill>
                <a:latin typeface="Consolas"/>
              </a:rPr>
              <a:t>decision</a:t>
            </a:r>
          </a:p>
        </p:txBody>
      </p:sp>
      <p:sp>
        <p:nvSpPr>
          <p:cNvPr id="28" name="Oval 27"/>
          <p:cNvSpPr/>
          <p:nvPr/>
        </p:nvSpPr>
        <p:spPr>
          <a:xfrm>
            <a:off x="4846320" y="2670048"/>
            <a:ext cx="438912" cy="438912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6904" y="2816352"/>
            <a:ext cx="2194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7111F"/>
                </a:solidFill>
                <a:latin typeface="Consola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34015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6D8E8"/>
                </a:solidFill>
                <a:latin typeface="Consolas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37033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A5BC"/>
                </a:solidFill>
                <a:latin typeface="Consolas"/>
              </a:rPr>
              <a:t>action</a:t>
            </a:r>
          </a:p>
        </p:txBody>
      </p:sp>
      <p:sp>
        <p:nvSpPr>
          <p:cNvPr id="32" name="Oval 31"/>
          <p:cNvSpPr/>
          <p:nvPr/>
        </p:nvSpPr>
        <p:spPr>
          <a:xfrm>
            <a:off x="6812280" y="2670048"/>
            <a:ext cx="438912" cy="438912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12864" y="2816352"/>
            <a:ext cx="2194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7111F"/>
                </a:solidFill>
                <a:latin typeface="Consola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4015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6D8E8"/>
                </a:solidFill>
                <a:latin typeface="Consolas"/>
              </a:rPr>
              <a:t>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7033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A5BC"/>
                </a:solidFill>
                <a:latin typeface="Consolas"/>
              </a:rPr>
              <a:t>change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0" y="2670048"/>
            <a:ext cx="438912" cy="438912"/>
          </a:xfrm>
          <a:prstGeom prst="ellipse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78824" y="2816352"/>
            <a:ext cx="21945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7111F"/>
                </a:solidFill>
                <a:latin typeface="Consola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34015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6D8E8"/>
                </a:solidFill>
                <a:latin typeface="Consolas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7033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A5BC"/>
                </a:solidFill>
                <a:latin typeface="Consolas"/>
              </a:rPr>
              <a:t>artifact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572000"/>
            <a:ext cx="1920240" cy="77724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572000"/>
            <a:ext cx="50292" cy="777240"/>
          </a:xfrm>
          <a:prstGeom prst="rect">
            <a:avLst/>
          </a:prstGeom>
          <a:solidFill>
            <a:srgbClr val="36D8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" y="471830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TRACE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" y="5056632"/>
            <a:ext cx="16276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what happened?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0" y="4572000"/>
            <a:ext cx="1920240" cy="77724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B9F2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40480" y="4572000"/>
            <a:ext cx="50292" cy="777240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5072" y="471830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EVAL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5072" y="5056632"/>
            <a:ext cx="16276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did it work?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0" y="4572000"/>
            <a:ext cx="1920240" cy="77724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6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66560" y="4572000"/>
            <a:ext cx="50292" cy="7772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31152" y="471830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RED TEAM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1152" y="5056632"/>
            <a:ext cx="16276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how could it fail?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4572000"/>
            <a:ext cx="1920240" cy="77724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FFBF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44000" y="4572000"/>
            <a:ext cx="50292" cy="777240"/>
          </a:xfrm>
          <a:prstGeom prst="rect">
            <a:avLst/>
          </a:prstGeom>
          <a:solidFill>
            <a:srgbClr val="FFBF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08592" y="4718304"/>
            <a:ext cx="1627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F7FB"/>
                </a:solidFill>
                <a:latin typeface="Aptos"/>
              </a:rPr>
              <a:t>RELEASE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08592" y="5056632"/>
            <a:ext cx="16276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8EA5BC"/>
                </a:solidFill>
              </a:rPr>
              <a:t>should it ship?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17830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F27C"/>
                </a:solidFill>
                <a:latin typeface="Consolas"/>
              </a:rPr>
              <a:t>OBSERVABILITY IS NOT LOGGING. IT IS THE EVIDENCE LAYER FOR SYSTEM BEHAVIOR.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QUALITY / TRACE THE LOOP, EVALUATE THE BEHAVIOR, RED-TEAM THE BOUNDARY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8892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348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7804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7260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7160" y="384048"/>
            <a:ext cx="10972" cy="5806440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78892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25196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715000"/>
            <a:ext cx="1138428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"/>
            <a:ext cx="1920240" cy="256032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36D8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6D8E8"/>
                </a:solidFill>
                <a:latin typeface="Consolas"/>
              </a:rPr>
              <a:t>11 / 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3F7FB"/>
                </a:solidFill>
                <a:latin typeface="Aptos"/>
              </a:rPr>
              <a:t>Build the smallest system that can carry the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79576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A5BC"/>
                </a:solidFill>
                <a:latin typeface="Aptos"/>
              </a:rPr>
              <a:t>Complexity is not the proof of intelligence. Fit 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12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5029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A5BC"/>
                </a:solidFill>
                <a:latin typeface="Consolas"/>
              </a:rPr>
              <a:t>AOS /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783080"/>
            <a:ext cx="4160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7FB"/>
                </a:solidFill>
                <a:latin typeface="Aptos"/>
              </a:rPr>
              <a:t>Start small.
Earn autonomy.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3246120"/>
            <a:ext cx="1463040" cy="54864"/>
          </a:xfrm>
          <a:prstGeom prst="rect">
            <a:avLst/>
          </a:prstGeom>
          <a:solidFill>
            <a:srgbClr val="B9F2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5"/>
              </a:spcBef>
              <a:spcAft>
                <a:spcPts val="125"/>
              </a:spcAft>
            </a:pPr>
            <a:r>
              <a:rPr sz="1600" b="0">
                <a:solidFill>
                  <a:srgbClr val="8EA5BC"/>
                </a:solidFill>
              </a:rPr>
              <a:t>Choose the path.</a:t>
            </a:r>
          </a:p>
          <a:p>
            <a:pPr algn="l">
              <a:spcBef>
                <a:spcPts val="125"/>
              </a:spcBef>
              <a:spcAft>
                <a:spcPts val="125"/>
              </a:spcAft>
            </a:pPr>
            <a:r>
              <a:rPr sz="1600" b="0">
                <a:solidFill>
                  <a:srgbClr val="8EA5BC"/>
                </a:solidFill>
              </a:rPr>
              <a:t>Expose the boundary.</a:t>
            </a:r>
          </a:p>
          <a:p>
            <a:pPr algn="l">
              <a:spcBef>
                <a:spcPts val="125"/>
              </a:spcBef>
              <a:spcAft>
                <a:spcPts val="125"/>
              </a:spcAft>
            </a:pPr>
            <a:r>
              <a:rPr sz="1600" b="0">
                <a:solidFill>
                  <a:srgbClr val="8EA5BC"/>
                </a:solidFill>
              </a:rPr>
              <a:t>Close the loop.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645920"/>
            <a:ext cx="5715000" cy="3383280"/>
          </a:xfrm>
          <a:prstGeom prst="roundRect">
            <a:avLst/>
          </a:prstGeom>
          <a:solidFill>
            <a:srgbClr val="0E1D30"/>
          </a:solidFill>
          <a:ln w="12700">
            <a:solidFill>
              <a:srgbClr val="35516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920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A5BC"/>
                </a:solidFill>
                <a:latin typeface="Consolas"/>
              </a:rPr>
              <a:t>IF THE WORK IS…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A5BC"/>
                </a:solidFill>
                <a:latin typeface="Consolas"/>
              </a:rPr>
              <a:t>START WITH…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221991"/>
            <a:ext cx="489204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33172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F7FB"/>
                </a:solidFill>
                <a:latin typeface="Consolas"/>
              </a:rPr>
              <a:t>predictable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3317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6D8E8"/>
                </a:solidFill>
                <a:latin typeface="Consolas"/>
              </a:rPr>
              <a:t>workflow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2724911"/>
            <a:ext cx="489204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834639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F7FB"/>
                </a:solidFill>
                <a:latin typeface="Consolas"/>
              </a:rPr>
              <a:t>branching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834639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F69"/>
                </a:solidFill>
                <a:latin typeface="Consolas"/>
              </a:rPr>
              <a:t>router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3227832"/>
            <a:ext cx="489204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333756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F7FB"/>
                </a:solidFill>
                <a:latin typeface="Consolas"/>
              </a:rPr>
              <a:t>parallel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33756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9F27C"/>
                </a:solidFill>
                <a:latin typeface="Consolas"/>
              </a:rPr>
              <a:t>fan-out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730752"/>
            <a:ext cx="489204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384048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F7FB"/>
                </a:solidFill>
                <a:latin typeface="Consolas"/>
              </a:rPr>
              <a:t>open-ended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8404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6D8E8"/>
                </a:solidFill>
                <a:latin typeface="Consolas"/>
              </a:rPr>
              <a:t>agent loop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4233672"/>
            <a:ext cx="4892040" cy="10972"/>
          </a:xfrm>
          <a:prstGeom prst="rect">
            <a:avLst/>
          </a:prstGeom>
          <a:solidFill>
            <a:srgbClr val="2036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4343400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F7FB"/>
                </a:solidFill>
                <a:latin typeface="Consolas"/>
              </a:rPr>
              <a:t>high-stakes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3434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  <a:latin typeface="Consolas"/>
              </a:rPr>
              <a:t>human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98932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6D8E8"/>
                </a:solidFill>
                <a:latin typeface="Consolas"/>
              </a:rPr>
              <a:t>THE OPERATING SYSTEM IS THE DECISION SURFACE BETWEEN INTENT AND ACTION.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446520"/>
            <a:ext cx="10332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EA5BC"/>
                </a:solidFill>
                <a:latin typeface="Consolas"/>
              </a:rPr>
              <a:t>AI AGENT OPERATING SYSTEM / END OF BLUEPRINT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