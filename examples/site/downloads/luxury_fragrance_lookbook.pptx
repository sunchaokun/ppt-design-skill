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20624"/>
            <a:ext cx="11247120" cy="73152"/>
          </a:xfrm>
          <a:prstGeom prst="rect">
            <a:avLst/>
          </a:prstGeom>
          <a:solidFill>
            <a:srgbClr val="4A0E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87597f3f302e4ae5fad7f54e93babc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777240"/>
            <a:ext cx="10735056" cy="3310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" y="4590288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080D"/>
                </a:solidFill>
                <a:latin typeface="Arial"/>
              </a:rPr>
              <a:t>AURELIA NOCTURNE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956048"/>
            <a:ext cx="5669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100" b="0">
                <a:solidFill>
                  <a:srgbClr val="4A0E1D"/>
                </a:solidFill>
                <a:latin typeface="Georgia"/>
              </a:rPr>
              <a:t>A perfume atlas for the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100" b="0">
                <a:solidFill>
                  <a:srgbClr val="4A0E1D"/>
                </a:solidFill>
                <a:latin typeface="Georgia"/>
              </a:rPr>
              <a:t>last light of the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7616" y="4645152"/>
            <a:ext cx="2907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0E1D"/>
                </a:solidFill>
                <a:latin typeface="Arial"/>
              </a:rPr>
              <a:t>EXTRAIT DE PARFUM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7616" y="5010912"/>
            <a:ext cx="29443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7080D"/>
                </a:solidFill>
                <a:latin typeface="Georgia"/>
              </a:rPr>
              <a:t>Collected in motion.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7080D"/>
                </a:solidFill>
                <a:latin typeface="Georgia"/>
              </a:rPr>
              <a:t>Remembered on skin.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91072"/>
            <a:ext cx="10442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E7B83"/>
                </a:solidFill>
                <a:latin typeface="Arial"/>
              </a:rPr>
              <a:t>50 ML     /     BERGAMOT — IRIS — SMOKED TEA — CEDAR     /     AUTUMN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6e347cad556fd5774a065c4c32aa3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708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945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66B"/>
                </a:solidFill>
                <a:latin typeface="Arial"/>
              </a:rPr>
              <a:t>01 / MATERIAL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82880"/>
            <a:ext cx="3931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5C9BF"/>
                </a:solidFill>
                <a:latin typeface="Arial"/>
              </a:rPr>
              <a:t>CALABRIA — GRASSE — KASHMIR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4553712"/>
            <a:ext cx="11210544" cy="1444752"/>
          </a:xfrm>
          <a:prstGeom prst="rect">
            <a:avLst/>
          </a:prstGeom>
          <a:solidFill>
            <a:srgbClr val="F7F0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828032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0E1D"/>
                </a:solidFill>
                <a:latin typeface="Arial"/>
              </a:rPr>
              <a:t>THE ROUTE OF THE SCENT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138928"/>
            <a:ext cx="5212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17080D"/>
                </a:solidFill>
                <a:latin typeface="Georgia"/>
              </a:rPr>
              <a:t>Four materials. One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17080D"/>
                </a:solidFill>
                <a:latin typeface="Georgia"/>
              </a:rPr>
              <a:t>late-afternoon memory.</a:t>
            </a:r>
          </a:p>
        </p:txBody>
      </p:sp>
      <p:sp>
        <p:nvSpPr>
          <p:cNvPr id="9" name="Oval 8"/>
          <p:cNvSpPr/>
          <p:nvPr/>
        </p:nvSpPr>
        <p:spPr>
          <a:xfrm>
            <a:off x="6419088" y="4864608"/>
            <a:ext cx="310896" cy="310896"/>
          </a:xfrm>
          <a:prstGeom prst="ellipse">
            <a:avLst/>
          </a:prstGeom>
          <a:solidFill>
            <a:srgbClr val="4A0E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4800600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0E1D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5303520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7080D"/>
                </a:solidFill>
                <a:latin typeface="Arial"/>
              </a:rPr>
              <a:t>BERGAMOT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5605272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E7B83"/>
                </a:solidFill>
                <a:latin typeface="Arial"/>
              </a:rPr>
              <a:t>Calabria / light</a:t>
            </a:r>
          </a:p>
        </p:txBody>
      </p:sp>
      <p:sp>
        <p:nvSpPr>
          <p:cNvPr id="13" name="Oval 12"/>
          <p:cNvSpPr/>
          <p:nvPr/>
        </p:nvSpPr>
        <p:spPr>
          <a:xfrm>
            <a:off x="7680959" y="4864608"/>
            <a:ext cx="310896" cy="310896"/>
          </a:xfrm>
          <a:prstGeom prst="ellipse">
            <a:avLst/>
          </a:prstGeom>
          <a:solidFill>
            <a:srgbClr val="4A0E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4800600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0E1D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5303520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7080D"/>
                </a:solidFill>
                <a:latin typeface="Arial"/>
              </a:rPr>
              <a:t>IRIS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59" y="5605272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E7B83"/>
                </a:solidFill>
                <a:latin typeface="Arial"/>
              </a:rPr>
              <a:t>Florence / powder</a:t>
            </a:r>
          </a:p>
        </p:txBody>
      </p:sp>
      <p:sp>
        <p:nvSpPr>
          <p:cNvPr id="17" name="Oval 16"/>
          <p:cNvSpPr/>
          <p:nvPr/>
        </p:nvSpPr>
        <p:spPr>
          <a:xfrm>
            <a:off x="8942832" y="4864608"/>
            <a:ext cx="310896" cy="310896"/>
          </a:xfrm>
          <a:prstGeom prst="ellipse">
            <a:avLst/>
          </a:prstGeom>
          <a:solidFill>
            <a:srgbClr val="4A0E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4800600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0E1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5303520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7080D"/>
                </a:solidFill>
                <a:latin typeface="Arial"/>
              </a:rPr>
              <a:t>TEA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5605272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E7B83"/>
                </a:solidFill>
                <a:latin typeface="Arial"/>
              </a:rPr>
              <a:t>Fujian / smoke</a:t>
            </a:r>
          </a:p>
        </p:txBody>
      </p:sp>
      <p:sp>
        <p:nvSpPr>
          <p:cNvPr id="21" name="Oval 20"/>
          <p:cNvSpPr/>
          <p:nvPr/>
        </p:nvSpPr>
        <p:spPr>
          <a:xfrm>
            <a:off x="10204704" y="4864608"/>
            <a:ext cx="310896" cy="310896"/>
          </a:xfrm>
          <a:prstGeom prst="ellipse">
            <a:avLst/>
          </a:prstGeom>
          <a:solidFill>
            <a:srgbClr val="4A0E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43616" y="4800600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0E1D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04704" y="5303520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7080D"/>
                </a:solidFill>
                <a:latin typeface="Arial"/>
              </a:rPr>
              <a:t>CEDAR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04704" y="5605272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E7B83"/>
                </a:solidFill>
                <a:latin typeface="Arial"/>
              </a:rPr>
              <a:t>Kashmir / grain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45936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7F0E9"/>
                </a:solidFill>
                <a:latin typeface="Arial"/>
              </a:rPr>
              <a:t>AURELIA / THE PERFUME ATLAS / A STUDY OF ORIGIN, EXTRACTION AND 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de21160691e58f40fba3c71fa63f9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2064" y="457200"/>
            <a:ext cx="11155680" cy="530352"/>
          </a:xfrm>
          <a:prstGeom prst="rect">
            <a:avLst/>
          </a:prstGeom>
          <a:solidFill>
            <a:srgbClr val="F7F0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612648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0E1D"/>
                </a:solidFill>
                <a:latin typeface="Arial"/>
              </a:rPr>
              <a:t>02 / ON THE SKIN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94360"/>
            <a:ext cx="3584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A0E1D"/>
                </a:solidFill>
                <a:latin typeface="Arial"/>
              </a:rPr>
              <a:t>THE RITUAL IS PRIVATE.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21808"/>
            <a:ext cx="12191695" cy="1536192"/>
          </a:xfrm>
          <a:prstGeom prst="rect">
            <a:avLst/>
          </a:prstGeom>
          <a:solidFill>
            <a:srgbClr val="4A0E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554126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F7F0E9"/>
                </a:solidFill>
                <a:latin typeface="Georgia"/>
              </a:rPr>
              <a:t>A gesture, not a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7104" y="5504688"/>
            <a:ext cx="4315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E5C9BF"/>
                </a:solidFill>
                <a:latin typeface="Georgia"/>
              </a:rPr>
              <a:t>At close range, the fragrance turns warm.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E5C9BF"/>
                </a:solidFill>
                <a:latin typeface="Georgia"/>
              </a:rPr>
              <a:t>On fabric, it becomes a private address.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5952" y="5577840"/>
            <a:ext cx="146304" cy="749808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08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d628895bada86dd0a04f4ae3780085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75488"/>
            <a:ext cx="11155680" cy="416966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0352" y="4187952"/>
            <a:ext cx="11155680" cy="457200"/>
          </a:xfrm>
          <a:prstGeom prst="rect">
            <a:avLst/>
          </a:prstGeom>
          <a:solidFill>
            <a:srgbClr val="F7F0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4297680"/>
            <a:ext cx="10561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0E1D"/>
                </a:solidFill>
                <a:latin typeface="Arial"/>
              </a:rPr>
              <a:t>THE OBJECT / DARK GLASS — MATTE CASE — GOLD EDGE — DESIGNED TO TRAVEL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389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66B"/>
                </a:solidFill>
                <a:latin typeface="Arial"/>
              </a:rPr>
              <a:t>03 / TO 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5504688"/>
            <a:ext cx="6839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F7F0E9"/>
                </a:solidFill>
                <a:latin typeface="Georgia"/>
              </a:rPr>
              <a:t>An object for the return journey.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5468112"/>
            <a:ext cx="2999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C9A66B"/>
                </a:solidFill>
                <a:latin typeface="Arial"/>
              </a:rPr>
              <a:t>50 ML / REFILLABLE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7031" y="587044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5C9BF"/>
                </a:solidFill>
                <a:latin typeface="Arial"/>
              </a:rPr>
              <a:t>MAISON AURELIA / NOCTURNE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