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66e383011a7f0e8a4ae336addd66d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160B10">
                  <a:alpha val="76000"/>
                </a:srgbClr>
              </a:gs>
              <a:gs pos="100000">
                <a:srgbClr val="160B1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2743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PORTFOLIO CASE  /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115568"/>
            <a:ext cx="46634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3EADF"/>
                </a:solidFill>
                <a:latin typeface="Georgia"/>
              </a:rPr>
              <a:t>COUTURE
COLOR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C88"/>
                </a:solidFill>
                <a:latin typeface="Arial Narrow"/>
              </a:rPr>
              <a:t>OBJECTS OF DESIRE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85615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ECBC1"/>
                </a:solidFill>
                <a:latin typeface="Arial"/>
              </a:rPr>
              <a:t>A couture lipstick collection
with a face, a gesture, and a trace.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769864"/>
            <a:ext cx="4526280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4206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DECBC1"/>
                </a:solidFill>
                <a:latin typeface="Arial Narrow"/>
              </a:rPr>
              <a:t>CONCEPTUAL BEAUTY EDITORIAL  / 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3EADF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6D5559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C0A21"/>
                </a:solidFill>
                <a:latin typeface="Georgia"/>
              </a:rPr>
              <a:t>02</a:t>
            </a:r>
          </a:p>
        </p:txBody>
      </p:sp>
      <p:pic>
        <p:nvPicPr>
          <p:cNvPr id="6" name="Picture 5" descr="3abfb5009a2d46285b4f19bad797a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07024" y="0"/>
            <a:ext cx="36576" cy="6858000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2926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C0A21"/>
                </a:solidFill>
                <a:latin typeface="Arial Narrow"/>
              </a:rPr>
              <a:t>01  /  THE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4572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160B10"/>
                </a:solidFill>
                <a:latin typeface="Georgia"/>
              </a:rPr>
              <a:t>COLOR IS
A COUTURE
GESTURE.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803904"/>
            <a:ext cx="44074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5559"/>
                </a:solidFill>
                <a:latin typeface="Arial"/>
              </a:rPr>
              <a:t>Not an accessory to a look — a small,
precise object that finishes a point of 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4846320"/>
            <a:ext cx="4434840" cy="18288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51023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C0A21"/>
                </a:solidFill>
                <a:latin typeface="Arial Narrow"/>
              </a:rPr>
              <a:t>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51023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C0A21"/>
                </a:solidFill>
                <a:latin typeface="Arial Narrow"/>
              </a:rPr>
              <a:t>PIGMENT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1023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C0A21"/>
                </a:solidFill>
                <a:latin typeface="Arial Narrow"/>
              </a:rPr>
              <a:t>RITUAL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53766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D5559"/>
                </a:solidFill>
                <a:latin typeface="Arial"/>
              </a:rPr>
              <a:t>a tailored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53766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D5559"/>
                </a:solidFill>
                <a:latin typeface="Arial"/>
              </a:rPr>
              <a:t>a held intensity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3766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D5559"/>
                </a:solidFill>
                <a:latin typeface="Arial"/>
              </a:rPr>
              <a:t>a private finale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B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DECBC1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C8A76C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04088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02  /  THE CHROMATIC WARDROBE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486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F3EADF"/>
                </a:solidFill>
                <a:latin typeface="Georgia"/>
              </a:rPr>
              <a:t>SIX SHADES.
ONE AFTER-DARK SILHOUETTE.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2999232"/>
            <a:ext cx="1481328" cy="1463040"/>
          </a:xfrm>
          <a:prstGeom prst="roundRect">
            <a:avLst/>
          </a:prstGeom>
          <a:solidFill>
            <a:srgbClr val="C79078"/>
          </a:solidFill>
          <a:ln w="12700">
            <a:solidFill>
              <a:srgbClr val="C790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NUDE VEIL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9736" y="2999232"/>
            <a:ext cx="1481328" cy="1463040"/>
          </a:xfrm>
          <a:prstGeom prst="roundRect">
            <a:avLst/>
          </a:prstGeom>
          <a:solidFill>
            <a:srgbClr val="A95664"/>
          </a:solidFill>
          <a:ln w="12700">
            <a:solidFill>
              <a:srgbClr val="A956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9464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ROSE TAILLEUR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999232"/>
            <a:ext cx="1481328" cy="1463040"/>
          </a:xfrm>
          <a:prstGeom prst="roundRect">
            <a:avLst/>
          </a:prstGeom>
          <a:solidFill>
            <a:srgbClr val="83182E"/>
          </a:solidFill>
          <a:ln w="12700">
            <a:solidFill>
              <a:srgbClr val="8318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GARNET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99232"/>
            <a:ext cx="1481328" cy="1463040"/>
          </a:xfrm>
          <a:prstGeom prst="roundRect">
            <a:avLst/>
          </a:prstGeom>
          <a:solidFill>
            <a:srgbClr val="43202D"/>
          </a:solidFill>
          <a:ln w="12700">
            <a:solidFill>
              <a:srgbClr val="4320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VIOLET NOIR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2999232"/>
            <a:ext cx="1481328" cy="1463040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OXBLOOD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4663" y="2999232"/>
            <a:ext cx="1481328" cy="1463040"/>
          </a:xfrm>
          <a:prstGeom prst="roundRect">
            <a:avLst/>
          </a:prstGeom>
          <a:solidFill>
            <a:srgbClr val="26050D"/>
          </a:solidFill>
          <a:ln w="12700">
            <a:solidFill>
              <a:srgbClr val="2605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1" y="324612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1" y="406908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0" b="1">
                <a:solidFill>
                  <a:srgbClr val="F3EADF"/>
                </a:solidFill>
                <a:latin typeface="Arial Narrow"/>
              </a:rPr>
              <a:t>BLACK CHERRY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50657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ECBC1"/>
                </a:solidFill>
                <a:latin typeface="Arial"/>
              </a:rPr>
              <a:t>A wardrobe is not a spectrum. It is a sequence of attitudes.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560527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C8A76C"/>
                </a:solidFill>
                <a:latin typeface="Arial Narrow"/>
              </a:rPr>
              <a:t>THE COLOR SYSTEM IS ENTIRELY EDITABLE: SWATCHES, NAMES, ROLES, AND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6D5559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C0A21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04088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C0A21"/>
                </a:solidFill>
                <a:latin typeface="Arial Narrow"/>
              </a:rPr>
              <a:t>03  /  OBJECT GRAMMAR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60B10"/>
                </a:solidFill>
                <a:latin typeface="Georgia"/>
              </a:rPr>
              <a:t>TAILORED
TO THE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852928"/>
            <a:ext cx="3090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D5559"/>
                </a:solidFill>
                <a:latin typeface="Arial"/>
              </a:rPr>
              <a:t>The case is conceived as an architecture
of proportion, weight, and interruption.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731520"/>
            <a:ext cx="16459" cy="5422392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33488" y="2431389"/>
            <a:ext cx="1034186" cy="2531973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95895" y="2377897"/>
            <a:ext cx="909370" cy="285292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965" y="1682495"/>
            <a:ext cx="713232" cy="838047"/>
          </a:xfrm>
          <a:prstGeom prst="roundRect">
            <a:avLst/>
          </a:prstGeom>
          <a:solidFill>
            <a:srgbClr val="C8A76C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3119" y="1325880"/>
            <a:ext cx="534924" cy="534924"/>
          </a:xfrm>
          <a:prstGeom prst="roundRect">
            <a:avLst/>
          </a:prstGeom>
          <a:solidFill>
            <a:srgbClr val="8E1633"/>
          </a:solidFill>
          <a:ln w="12700">
            <a:solidFill>
              <a:srgbClr val="8E16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3119" y="1718157"/>
            <a:ext cx="534924" cy="178308"/>
          </a:xfrm>
          <a:prstGeom prst="rect">
            <a:avLst/>
          </a:prstGeom>
          <a:solidFill>
            <a:srgbClr val="8E1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987552"/>
            <a:ext cx="969264" cy="36576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2862072"/>
            <a:ext cx="969264" cy="36576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4187952"/>
            <a:ext cx="969264" cy="36576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914400"/>
            <a:ext cx="1691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C0A21"/>
                </a:solidFill>
                <a:latin typeface="Arial Narrow"/>
              </a:rPr>
              <a:t>01 / BULLET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143000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D5559"/>
                </a:solidFill>
                <a:latin typeface="Arial"/>
              </a:rPr>
              <a:t>an oblique, held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88920"/>
            <a:ext cx="1691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C0A21"/>
                </a:solidFill>
                <a:latin typeface="Arial Narrow"/>
              </a:rPr>
              <a:t>02 / COLLAR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017520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D5559"/>
                </a:solidFill>
                <a:latin typeface="Arial"/>
              </a:rPr>
              <a:t>a warm metal pause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14800"/>
            <a:ext cx="16916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C0A21"/>
                </a:solidFill>
                <a:latin typeface="Arial Narrow"/>
              </a:rPr>
              <a:t>03 /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4343400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D5559"/>
                </a:solidFill>
                <a:latin typeface="Arial"/>
              </a:rPr>
              <a:t>a lacquered vertical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5239512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C0A21"/>
                </a:solidFill>
                <a:latin typeface="Arial Narrow"/>
              </a:rPr>
              <a:t>PROPORTION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55412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0B10"/>
                </a:solidFill>
                <a:latin typeface="Georgia"/>
              </a:rPr>
              <a:t>A narrow column
meets a broad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B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DECBC1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C8A76C"/>
                </a:solidFill>
                <a:latin typeface="Georgia"/>
              </a:rPr>
              <a:t>05</a:t>
            </a:r>
          </a:p>
        </p:txBody>
      </p:sp>
      <p:pic>
        <p:nvPicPr>
          <p:cNvPr id="6" name="Picture 5" descr="c0409ee14fc0811a5b03856a9b6118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76656"/>
            <a:ext cx="6510528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13448" y="676656"/>
            <a:ext cx="32004" cy="5212080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78638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04  /  MATERIAL CHOREOGRAPHY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335024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F3EADF"/>
                </a:solidFill>
                <a:latin typeface="Georgia"/>
              </a:rPr>
              <a:t>PIGMENT
HAS A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35808"/>
            <a:ext cx="320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303580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LACQUER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3035808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DECBC1"/>
                </a:solidFill>
                <a:latin typeface="Arial"/>
              </a:rPr>
              <a:t>depth / reflection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3383279"/>
            <a:ext cx="3493008" cy="10972"/>
          </a:xfrm>
          <a:prstGeom prst="rect">
            <a:avLst/>
          </a:prstGeom>
          <a:solidFill>
            <a:srgbClr val="6D55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694176"/>
            <a:ext cx="320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694176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METAL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694176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DECBC1"/>
                </a:solidFill>
                <a:latin typeface="Arial"/>
              </a:rPr>
              <a:t>weight / temperature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4041648"/>
            <a:ext cx="3493008" cy="10972"/>
          </a:xfrm>
          <a:prstGeom prst="rect">
            <a:avLst/>
          </a:prstGeom>
          <a:solidFill>
            <a:srgbClr val="6D55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352544"/>
            <a:ext cx="320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4352544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EADF"/>
                </a:solidFill>
                <a:latin typeface="Arial Narrow"/>
              </a:rPr>
              <a:t>PIGMENT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4352544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DECBC1"/>
                </a:solidFill>
                <a:latin typeface="Arial"/>
              </a:rPr>
              <a:t>gesture /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4700016"/>
            <a:ext cx="3493008" cy="10972"/>
          </a:xfrm>
          <a:prstGeom prst="rect">
            <a:avLst/>
          </a:prstGeom>
          <a:solidFill>
            <a:srgbClr val="6D55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ECBC1"/>
                </a:solidFill>
                <a:latin typeface="Georgia"/>
              </a:rPr>
              <a:t>The material story must be readable
before the product is named.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6D5559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C0A21"/>
                </a:solidFill>
                <a:latin typeface="Georgia"/>
              </a:rPr>
              <a:t>06</a:t>
            </a:r>
          </a:p>
        </p:txBody>
      </p:sp>
      <p:sp>
        <p:nvSpPr>
          <p:cNvPr id="6" name="Freeform"/>
          <p:cNvSpPr/>
          <p:nvPr/>
        </p:nvSpPr>
        <p:spPr>
          <a:xfrm>
            <a:off x="160019" y="1864232"/>
            <a:ext cx="11897868" cy="3030855"/>
          </a:xfrm>
          <a:custGeom>
            <a:avLst/>
            <a:gdLst/>
            <a:pathLst>
              <a:path w="11897868" h="3030855">
                <a:moveTo>
                  <a:pt x="0" y="2579750"/>
                </a:moveTo>
                <a:cubicBezTo>
                  <a:pt x="2396490" y="2763012"/>
                  <a:pt x="3820287" y="0"/>
                  <a:pt x="6188583" y="690752"/>
                </a:cubicBezTo>
                <a:cubicBezTo>
                  <a:pt x="8119872" y="1254633"/>
                  <a:pt x="8824722" y="3030855"/>
                  <a:pt x="11897868" y="169164"/>
                </a:cubicBezTo>
                <a:close/>
              </a:path>
            </a:pathLst>
          </a:custGeom>
          <a:solidFill>
            <a:srgbClr val="FFFFFF">
              <a:alpha val="65000"/>
            </a:srgbClr>
          </a:solidFill>
          <a:ln w="25400">
            <a:solidFill>
              <a:srgbClr val="C8A76C"/>
            </a:solidFill>
          </a:ln>
        </p:spPr>
      </p:sp>
      <p:sp>
        <p:nvSpPr>
          <p:cNvPr id="7" name="Freeform"/>
          <p:cNvSpPr/>
          <p:nvPr/>
        </p:nvSpPr>
        <p:spPr>
          <a:xfrm>
            <a:off x="160019" y="2244852"/>
            <a:ext cx="11897868" cy="2918079"/>
          </a:xfrm>
          <a:custGeom>
            <a:avLst/>
            <a:gdLst/>
            <a:pathLst>
              <a:path w="11897868" h="2918079">
                <a:moveTo>
                  <a:pt x="0" y="2466974"/>
                </a:moveTo>
                <a:cubicBezTo>
                  <a:pt x="2551556" y="2678430"/>
                  <a:pt x="4059936" y="0"/>
                  <a:pt x="6315456" y="662559"/>
                </a:cubicBezTo>
                <a:cubicBezTo>
                  <a:pt x="8148066" y="1198245"/>
                  <a:pt x="8979789" y="2918079"/>
                  <a:pt x="11897868" y="155066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12700">
            <a:solidFill>
              <a:srgbClr val="C8A76C"/>
            </a:solidFill>
          </a:ln>
        </p:spPr>
      </p:sp>
      <p:sp>
        <p:nvSpPr>
          <p:cNvPr id="8" name="TextBox 7"/>
          <p:cNvSpPr txBox="1"/>
          <p:nvPr/>
        </p:nvSpPr>
        <p:spPr>
          <a:xfrm>
            <a:off x="566928" y="704088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C0A21"/>
                </a:solidFill>
                <a:latin typeface="Arial Narrow"/>
              </a:rPr>
              <a:t>05  /  THE 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0759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0">
                <a:solidFill>
                  <a:srgbClr val="160B10"/>
                </a:solidFill>
                <a:latin typeface="Georgia"/>
              </a:rPr>
              <a:t>A SINGLE, HELD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97180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0A21"/>
                </a:solidFill>
                <a:latin typeface="Arial Narrow"/>
              </a:rPr>
              <a:t>APPLICATION IS THE LAST
TAILORING 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443984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D5559"/>
                </a:solidFill>
                <a:latin typeface="Georgia"/>
              </a:rPr>
              <a:t>A line that does not decorate.
A line that decides.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334256"/>
            <a:ext cx="5230368" cy="182880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334256"/>
            <a:ext cx="1828800" cy="182880"/>
          </a:xfrm>
          <a:prstGeom prst="roundRect">
            <a:avLst/>
          </a:prstGeom>
          <a:solidFill>
            <a:srgbClr val="8E1633"/>
          </a:solidFill>
          <a:ln w="12700">
            <a:solidFill>
              <a:srgbClr val="8E16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248656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6D5559"/>
                </a:solidFill>
                <a:latin typeface="Arial Narrow"/>
              </a:rPr>
              <a:t>EDITABLE SVG SWEEP / NATIVE COLOR TRACE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B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DECBC1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C8A76C"/>
                </a:solidFill>
                <a:latin typeface="Georgia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04088"/>
            <a:ext cx="2926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06  /  THE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3EADF"/>
                </a:solidFill>
                <a:latin typeface="Georgia"/>
              </a:rPr>
              <a:t>THREE TONES.
THREE POSTURES.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3054096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84248" y="3650650"/>
            <a:ext cx="540959" cy="1324416"/>
          </a:xfrm>
          <a:prstGeom prst="roundRect">
            <a:avLst/>
          </a:prstGeom>
          <a:solidFill>
            <a:srgbClr val="261017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6892" y="3622669"/>
            <a:ext cx="475670" cy="149230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68189" y="3258921"/>
            <a:ext cx="373075" cy="438363"/>
          </a:xfrm>
          <a:prstGeom prst="roundRect">
            <a:avLst/>
          </a:prstGeom>
          <a:solidFill>
            <a:srgbClr val="C8A76C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14824" y="3072384"/>
            <a:ext cx="279806" cy="279806"/>
          </a:xfrm>
          <a:prstGeom prst="roundRect">
            <a:avLst/>
          </a:prstGeom>
          <a:solidFill>
            <a:srgbClr val="C79078"/>
          </a:solidFill>
          <a:ln w="12700">
            <a:solidFill>
              <a:srgbClr val="C790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4824" y="3277575"/>
            <a:ext cx="279806" cy="93268"/>
          </a:xfrm>
          <a:prstGeom prst="rect">
            <a:avLst/>
          </a:prstGeom>
          <a:solidFill>
            <a:srgbClr val="C790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EADF"/>
                </a:solidFill>
                <a:latin typeface="Arial Narrow"/>
              </a:rPr>
              <a:t>THE NUDE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3054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ECBC1"/>
                </a:solidFill>
                <a:latin typeface="Georgia"/>
              </a:rPr>
              <a:t>quiet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2788920"/>
            <a:ext cx="3054096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0" y="3650650"/>
            <a:ext cx="540959" cy="1324416"/>
          </a:xfrm>
          <a:prstGeom prst="roundRect">
            <a:avLst/>
          </a:prstGeom>
          <a:solidFill>
            <a:srgbClr val="261017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7644" y="3622669"/>
            <a:ext cx="475670" cy="149230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98941" y="3258921"/>
            <a:ext cx="373075" cy="438363"/>
          </a:xfrm>
          <a:prstGeom prst="roundRect">
            <a:avLst/>
          </a:prstGeom>
          <a:solidFill>
            <a:srgbClr val="C8A76C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45576" y="3072384"/>
            <a:ext cx="279806" cy="279806"/>
          </a:xfrm>
          <a:prstGeom prst="roundRect">
            <a:avLst/>
          </a:prstGeom>
          <a:solidFill>
            <a:srgbClr val="A95664"/>
          </a:solidFill>
          <a:ln w="12700">
            <a:solidFill>
              <a:srgbClr val="A956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45576" y="3277575"/>
            <a:ext cx="279806" cy="93268"/>
          </a:xfrm>
          <a:prstGeom prst="rect">
            <a:avLst/>
          </a:prstGeom>
          <a:solidFill>
            <a:srgbClr val="A956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5212080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EADF"/>
                </a:solidFill>
                <a:latin typeface="Arial Narrow"/>
              </a:rPr>
              <a:t>THE ROSE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5541264"/>
            <a:ext cx="3054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ECBC1"/>
                </a:solidFill>
                <a:latin typeface="Georgia"/>
              </a:rPr>
              <a:t>soft armour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2788920"/>
            <a:ext cx="3054096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45752" y="3650650"/>
            <a:ext cx="540959" cy="1324416"/>
          </a:xfrm>
          <a:prstGeom prst="roundRect">
            <a:avLst/>
          </a:prstGeom>
          <a:solidFill>
            <a:srgbClr val="261017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78396" y="3622669"/>
            <a:ext cx="475670" cy="149230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29693" y="3258921"/>
            <a:ext cx="373075" cy="438363"/>
          </a:xfrm>
          <a:prstGeom prst="roundRect">
            <a:avLst/>
          </a:prstGeom>
          <a:solidFill>
            <a:srgbClr val="C8A76C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76328" y="3072384"/>
            <a:ext cx="279806" cy="279806"/>
          </a:xfrm>
          <a:prstGeom prst="roundRect">
            <a:avLst/>
          </a:prstGeom>
          <a:solidFill>
            <a:srgbClr val="83182E"/>
          </a:solidFill>
          <a:ln w="12700">
            <a:solidFill>
              <a:srgbClr val="8318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6328" y="3277575"/>
            <a:ext cx="279806" cy="93268"/>
          </a:xfrm>
          <a:prstGeom prst="rect">
            <a:avLst/>
          </a:prstGeom>
          <a:solidFill>
            <a:srgbClr val="8318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5212080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EADF"/>
                </a:solidFill>
                <a:latin typeface="Arial Narrow"/>
              </a:rPr>
              <a:t>THE 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5541264"/>
            <a:ext cx="3054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ECBC1"/>
                </a:solidFill>
                <a:latin typeface="Georgia"/>
              </a:rPr>
              <a:t>held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cd0346df4c405bd3321cacc4ceeb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160B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18688" y="0"/>
            <a:ext cx="27432" cy="6858000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07  /  THE RITUAL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2176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3EADF"/>
                </a:solidFill>
                <a:latin typeface="Georgia"/>
              </a:rPr>
              <a:t>A PRIVATE
FINAL LOOK.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999232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ECBC1"/>
                </a:solidFill>
                <a:latin typeface="Arial"/>
              </a:rPr>
              <a:t>The collection belongs on a dressing table
before it belongs to a campaign.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4059936"/>
            <a:ext cx="2011680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334256"/>
            <a:ext cx="20482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RETAIL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64515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3EADF"/>
                </a:solidFill>
                <a:latin typeface="Georgia"/>
              </a:rPr>
              <a:t>Low light. Warm metal.
A deliberate pause.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833872"/>
            <a:ext cx="21762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1">
                <a:solidFill>
                  <a:srgbClr val="DECBC1"/>
                </a:solidFill>
                <a:latin typeface="Arial Narrow"/>
              </a:rPr>
              <a:t>COUTURE COLOR / CONCEPT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3EADF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5C0A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6D5559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5C0A21"/>
                </a:solidFill>
                <a:latin typeface="Georgia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04088"/>
            <a:ext cx="2743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5C0A21"/>
                </a:solidFill>
                <a:latin typeface="Arial Narrow"/>
              </a:rPr>
              <a:t>08  /  EDITORIAL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43584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160B10"/>
                </a:solidFill>
                <a:latin typeface="Georgia"/>
              </a:rPr>
              <a:t>REVEAL, HOLD,
LEAVE A TRACE.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090672"/>
            <a:ext cx="10021824" cy="22860"/>
          </a:xfrm>
          <a:prstGeom prst="rect">
            <a:avLst/>
          </a:prstGeom>
          <a:solidFill>
            <a:srgbClr val="C98C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907792"/>
            <a:ext cx="420624" cy="420624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003804"/>
            <a:ext cx="420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3EADF"/>
                </a:solidFill>
                <a:latin typeface="Arial Narrow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621024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C0A21"/>
                </a:solidFill>
                <a:latin typeface="Arial Narrow"/>
              </a:rPr>
              <a:t>THE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31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D5559"/>
                </a:solidFill>
                <a:latin typeface="Georgia"/>
              </a:rPr>
              <a:t>a single red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907792"/>
            <a:ext cx="420624" cy="420624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3003804"/>
            <a:ext cx="420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3EADF"/>
                </a:solidFill>
                <a:latin typeface="Arial Narrow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621024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C0A21"/>
                </a:solidFill>
                <a:latin typeface="Arial Narrow"/>
              </a:rPr>
              <a:t>THE WARDROBE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931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D5559"/>
                </a:solidFill>
                <a:latin typeface="Georgia"/>
              </a:rPr>
              <a:t>six intentional shades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907792"/>
            <a:ext cx="420624" cy="420624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003804"/>
            <a:ext cx="420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3EADF"/>
                </a:solidFill>
                <a:latin typeface="Arial Narrow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621024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C0A21"/>
                </a:solidFill>
                <a:latin typeface="Arial Narrow"/>
              </a:rPr>
              <a:t>THE GESTURE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931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D5559"/>
                </a:solidFill>
                <a:latin typeface="Georgia"/>
              </a:rPr>
              <a:t>one held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907792"/>
            <a:ext cx="420624" cy="420624"/>
          </a:xfrm>
          <a:prstGeom prst="roundRect">
            <a:avLst/>
          </a:prstGeom>
          <a:solidFill>
            <a:srgbClr val="5C0A21"/>
          </a:solidFill>
          <a:ln w="12700">
            <a:solidFill>
              <a:srgbClr val="5C0A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3003804"/>
            <a:ext cx="4206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3EADF"/>
                </a:solidFill>
                <a:latin typeface="Arial Narrow"/>
              </a:rPr>
              <a:t>IV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621024"/>
            <a:ext cx="2139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C0A21"/>
                </a:solidFill>
                <a:latin typeface="Arial Narrow"/>
              </a:rPr>
              <a:t>THE RITUAL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931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D5559"/>
                </a:solidFill>
                <a:latin typeface="Georgia"/>
              </a:rPr>
              <a:t>a private finale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5340096"/>
            <a:ext cx="5596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5559"/>
                </a:solidFill>
                <a:latin typeface="Arial"/>
              </a:rPr>
              <a:t>A release system built around attention — not fabricated reach, sales, or performance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B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" y="347472"/>
            <a:ext cx="11164824" cy="16459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6446520"/>
            <a:ext cx="2651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DECBC1"/>
                </a:solidFill>
                <a:latin typeface="Arial Narrow"/>
              </a:rPr>
              <a:t>COUTURE COLOR  /  CONCEPT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3367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C8A76C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31520"/>
            <a:ext cx="2560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09  /  CODA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7955279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0">
                <a:solidFill>
                  <a:srgbClr val="F3EADF"/>
                </a:solidFill>
                <a:latin typeface="Georgia"/>
              </a:rPr>
              <a:t>MAKE COLOR
A POINT OF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163824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ECBC1"/>
                </a:solidFill>
                <a:latin typeface="Arial"/>
              </a:rPr>
              <a:t>Couture is not excess. It is the discipline
of deciding what the object needs to say.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3456" y="4026103"/>
            <a:ext cx="875080" cy="2142439"/>
          </a:xfrm>
          <a:prstGeom prst="roundRect">
            <a:avLst/>
          </a:prstGeom>
          <a:solidFill>
            <a:srgbClr val="261017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6262" y="3980840"/>
            <a:ext cx="769467" cy="241401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99244" y="3392424"/>
            <a:ext cx="603504" cy="709117"/>
          </a:xfrm>
          <a:prstGeom prst="roundRect">
            <a:avLst/>
          </a:prstGeom>
          <a:solidFill>
            <a:srgbClr val="C8A76C"/>
          </a:solidFill>
          <a:ln w="12700">
            <a:solidFill>
              <a:srgbClr val="C8A7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4682" y="3090672"/>
            <a:ext cx="452627" cy="452627"/>
          </a:xfrm>
          <a:prstGeom prst="roundRect">
            <a:avLst/>
          </a:prstGeom>
          <a:solidFill>
            <a:srgbClr val="8E1633"/>
          </a:solidFill>
          <a:ln w="12700">
            <a:solidFill>
              <a:srgbClr val="8E16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74682" y="3422599"/>
            <a:ext cx="452627" cy="150876"/>
          </a:xfrm>
          <a:prstGeom prst="rect">
            <a:avLst/>
          </a:prstGeom>
          <a:solidFill>
            <a:srgbClr val="8E16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4882896"/>
            <a:ext cx="7424927" cy="18288"/>
          </a:xfrm>
          <a:prstGeom prst="rect">
            <a:avLst/>
          </a:prstGeom>
          <a:solidFill>
            <a:srgbClr val="C8A7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5230368"/>
            <a:ext cx="6217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8A76C"/>
                </a:solidFill>
                <a:latin typeface="Arial Narrow"/>
              </a:rPr>
              <a:t>COUTURE COLOR / A FICTIONAL PORTFOLIO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5778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DECBC1"/>
                </a:solidFill>
                <a:latin typeface="Arial"/>
              </a:rPr>
              <a:t>All imagery generated for this case. Product language, geometry, and typography remain editable.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