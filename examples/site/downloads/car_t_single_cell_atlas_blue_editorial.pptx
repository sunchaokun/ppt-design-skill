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b417607ef4082bb0ccc962daf73ac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9808" y="713232"/>
            <a:ext cx="4315968" cy="32004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A6B5"/>
                </a:solidFill>
                <a:latin typeface="Consolas"/>
              </a:rPr>
              <a:t>PAPER CASE 03 / BIOTECH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417320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SINGLE-CELL
CAR T 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971800"/>
            <a:ext cx="4434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A6B5"/>
                </a:solidFill>
                <a:latin typeface="Aptos"/>
              </a:rPr>
              <a:t>How a persistent clinical phenotype
becomes a cell-state hypothesis.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8862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5"/>
              </a:spcBef>
              <a:spcAft>
                <a:spcPts val="125"/>
              </a:spcAft>
            </a:pPr>
            <a:r>
              <a:rPr sz="1050" b="0">
                <a:solidFill>
                  <a:srgbClr val="FFFFFF"/>
                </a:solidFill>
              </a:rPr>
              <a:t>Bai et al. · Nature 634 · 702–711 · 2024</a:t>
            </a:r>
          </a:p>
          <a:p>
            <a:pPr algn="l">
              <a:spcBef>
                <a:spcPts val="125"/>
              </a:spcBef>
              <a:spcAft>
                <a:spcPts val="125"/>
              </a:spcAft>
            </a:pPr>
            <a:r>
              <a:rPr sz="1050" b="0">
                <a:solidFill>
                  <a:srgbClr val="FFFFFF"/>
                </a:solidFill>
              </a:rPr>
              <a:t>82 patients · 695,819 analyzed cells</a:t>
            </a:r>
          </a:p>
          <a:p>
            <a:pPr algn="l">
              <a:spcBef>
                <a:spcPts val="125"/>
              </a:spcBef>
              <a:spcAft>
                <a:spcPts val="125"/>
              </a:spcAft>
            </a:pPr>
            <a:r>
              <a:rPr sz="1050" b="0">
                <a:solidFill>
                  <a:srgbClr val="FFFFFF"/>
                </a:solidFill>
              </a:rPr>
              <a:t>CONCEPTUAL COVER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5669280"/>
            <a:ext cx="2514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A6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719572"/>
            <a:ext cx="2514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8A6B5"/>
                </a:solidFill>
                <a:latin typeface="Consolas"/>
              </a:rPr>
              <a:t>CLINICAL / CELLULAR / PRECLINICAL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6236208"/>
            <a:ext cx="4846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Consolas"/>
              </a:rPr>
              <a:t>DOI 10.1038/s41586-024-07762-w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64992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3056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59184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84048"/>
            <a:ext cx="20116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B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4340"/>
            <a:ext cx="2011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23B5D"/>
                </a:solidFill>
                <a:latin typeface="Consolas"/>
              </a:rPr>
              <a:t>01 / CLINICAL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7498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B5D"/>
                </a:solidFill>
                <a:latin typeface="Aptos"/>
              </a:rPr>
              <a:t>The clinical signal is unusually long-lived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170432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7B8C"/>
                </a:solidFill>
                <a:latin typeface="Aptos"/>
              </a:rPr>
              <a:t>Before asking what the cell is, establish how long it remains clinically visible.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2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57200"/>
            <a:ext cx="914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27B8C"/>
                </a:solidFill>
                <a:latin typeface="Consolas"/>
              </a:rPr>
              <a:t>ATLAS / 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" y="1595628"/>
            <a:ext cx="7424928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7247c7de7135f6ed9ffa4a9e954a2c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627632"/>
            <a:ext cx="7360920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6656" y="4741164"/>
            <a:ext cx="7360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Source figure / Fig. 4a–b · longitudinal serum measurements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171907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A6B5"/>
                </a:solidFill>
                <a:latin typeface="Consolas"/>
              </a:rPr>
              <a:t>PERSISTENCE READOUT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85632" y="2029968"/>
            <a:ext cx="2926080" cy="22860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331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C57A2C"/>
                </a:solidFill>
                <a:latin typeface="Aptos Display"/>
              </a:rPr>
              <a:t>8.4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5248" y="25420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57A2C"/>
                </a:solidFill>
                <a:latin typeface="Aptos"/>
              </a:rPr>
              <a:t>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301752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B5D"/>
                </a:solidFill>
                <a:latin typeface="Aptos"/>
              </a:rPr>
              <a:t>median BCA-L 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401568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200" b="0">
                <a:solidFill>
                  <a:srgbClr val="627B8C"/>
                </a:solidFill>
              </a:rPr>
              <a:t>The phenotype is not a single</a:t>
            </a:r>
          </a:p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200" b="0">
                <a:solidFill>
                  <a:srgbClr val="627B8C"/>
                </a:solidFill>
              </a:rPr>
              <a:t>measurement—it is a longitudinal trace.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" y="5257800"/>
            <a:ext cx="10716768" cy="22860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504688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8A6B5"/>
                </a:solidFill>
                <a:latin typeface="Consolas"/>
              </a:rPr>
              <a:t>OBSERVATION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4864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3B5D"/>
                </a:solidFill>
                <a:latin typeface="Aptos"/>
              </a:rPr>
              <a:t>long B-cell aplasia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572000" y="5522976"/>
            <a:ext cx="530352" cy="91440"/>
          </a:xfrm>
          <a:prstGeom prst="rightArrow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21808" y="5504688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8A6B5"/>
                </a:solidFill>
                <a:latin typeface="Consolas"/>
              </a:rPr>
              <a:t>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5486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3B5D"/>
                </a:solidFill>
                <a:latin typeface="Aptos"/>
              </a:rPr>
              <a:t>what sustains the state?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915400" y="5522976"/>
            <a:ext cx="530352" cy="91440"/>
          </a:xfrm>
          <a:prstGeom prst="rightArrow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2912" y="5504688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7A2C"/>
                </a:solidFill>
                <a:latin typeface="Consolas"/>
              </a:rPr>
              <a:t>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2912" y="574243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7A2C"/>
                </a:solidFill>
                <a:latin typeface="Aptos"/>
              </a:rPr>
              <a:t>single-cell atlas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647395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27B8C"/>
                </a:solidFill>
                <a:latin typeface="Consolas"/>
              </a:rPr>
              <a:t>Evidence anchor: BCA-L group median BCA duration 8.4 years. Clinical persistence is the entry point, not the 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64992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3056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59184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84048"/>
            <a:ext cx="20116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B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4340"/>
            <a:ext cx="2011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23B5D"/>
                </a:solidFill>
                <a:latin typeface="Consolas"/>
              </a:rPr>
              <a:t>02 / STUDY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7498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B5D"/>
                </a:solidFill>
                <a:latin typeface="Aptos"/>
              </a:rPr>
              <a:t>One cohort becomes a multi-omic research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170432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7B8C"/>
                </a:solidFill>
                <a:latin typeface="Aptos"/>
              </a:rPr>
              <a:t>The paper connects patient persistence to a measured cell-state atlas through five linked readout layers.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3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57200"/>
            <a:ext cx="914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27B8C"/>
                </a:solidFill>
                <a:latin typeface="Consolas"/>
              </a:rPr>
              <a:t>ATLAS / 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2642616"/>
            <a:ext cx="9509760" cy="32004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2240280"/>
            <a:ext cx="475488" cy="475488"/>
          </a:xfrm>
          <a:prstGeom prst="ellipse">
            <a:avLst/>
          </a:prstGeom>
          <a:solidFill>
            <a:srgbClr val="C57A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47548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9535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57A2C"/>
                </a:solidFill>
                <a:latin typeface="Consolas"/>
              </a:rPr>
              <a:t>PATIENT
COHORT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41071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8"/>
              </a:spcBef>
              <a:spcAft>
                <a:spcPts val="108"/>
              </a:spcAft>
            </a:pPr>
            <a:r>
              <a:rPr sz="1000" b="0">
                <a:solidFill>
                  <a:srgbClr val="123B5D"/>
                </a:solidFill>
              </a:rPr>
              <a:t>82 ALL patients</a:t>
            </a:r>
          </a:p>
          <a:p>
            <a:pPr algn="ctr">
              <a:spcBef>
                <a:spcPts val="108"/>
              </a:spcBef>
              <a:spcAft>
                <a:spcPts val="108"/>
              </a:spcAft>
            </a:pPr>
            <a:r>
              <a:rPr sz="1000" b="0">
                <a:solidFill>
                  <a:srgbClr val="123B5D"/>
                </a:solidFill>
              </a:rPr>
              <a:t>+ 6 healthy donors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444752" y="2468880"/>
            <a:ext cx="1225296" cy="91440"/>
          </a:xfrm>
          <a:prstGeom prst="rightArrow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80360" y="2240280"/>
            <a:ext cx="475488" cy="475488"/>
          </a:xfrm>
          <a:prstGeom prst="ellipse">
            <a:avLst/>
          </a:prstGeom>
          <a:solidFill>
            <a:srgbClr val="1F6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386584"/>
            <a:ext cx="47548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29535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6FAE"/>
                </a:solidFill>
                <a:latin typeface="Consolas"/>
              </a:rPr>
              <a:t>CAR T
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591" y="341071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8"/>
              </a:spcBef>
              <a:spcAft>
                <a:spcPts val="108"/>
              </a:spcAft>
            </a:pPr>
            <a:r>
              <a:rPr sz="1000" b="0">
                <a:solidFill>
                  <a:srgbClr val="123B5D"/>
                </a:solidFill>
              </a:rPr>
              <a:t>manufactured</a:t>
            </a:r>
          </a:p>
          <a:p>
            <a:pPr algn="ctr">
              <a:spcBef>
                <a:spcPts val="108"/>
              </a:spcBef>
              <a:spcAft>
                <a:spcPts val="108"/>
              </a:spcAft>
            </a:pPr>
            <a:r>
              <a:rPr sz="1000" b="0">
                <a:solidFill>
                  <a:srgbClr val="123B5D"/>
                </a:solidFill>
              </a:rPr>
              <a:t>CAR T cells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410712" y="2468880"/>
            <a:ext cx="1225296" cy="91440"/>
          </a:xfrm>
          <a:prstGeom prst="rightArrow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46320" y="2240280"/>
            <a:ext cx="475488" cy="475488"/>
          </a:xfrm>
          <a:prstGeom prst="ellipse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386584"/>
            <a:ext cx="47548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29535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8A6B5"/>
                </a:solidFill>
                <a:latin typeface="Consolas"/>
              </a:rPr>
              <a:t>SINGLE-CELL
MULTIOMICS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41071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8"/>
              </a:spcBef>
              <a:spcAft>
                <a:spcPts val="108"/>
              </a:spcAft>
            </a:pPr>
            <a:r>
              <a:rPr sz="1000" b="0">
                <a:solidFill>
                  <a:srgbClr val="123B5D"/>
                </a:solidFill>
              </a:rPr>
              <a:t>10x 3′ assay</a:t>
            </a:r>
          </a:p>
          <a:p>
            <a:pPr algn="ctr">
              <a:spcBef>
                <a:spcPts val="108"/>
              </a:spcBef>
              <a:spcAft>
                <a:spcPts val="108"/>
              </a:spcAft>
            </a:pPr>
            <a:r>
              <a:rPr sz="1000" b="0">
                <a:solidFill>
                  <a:srgbClr val="123B5D"/>
                </a:solidFill>
              </a:rPr>
              <a:t>&gt;10⁶ cells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376672" y="2468880"/>
            <a:ext cx="1225296" cy="91440"/>
          </a:xfrm>
          <a:prstGeom prst="rightArrow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12279" y="2240280"/>
            <a:ext cx="475488" cy="475488"/>
          </a:xfrm>
          <a:prstGeom prst="ellipse">
            <a:avLst/>
          </a:prstGeom>
          <a:solidFill>
            <a:srgbClr val="1F6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79" y="2386584"/>
            <a:ext cx="47548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7" y="29535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6FAE"/>
                </a:solidFill>
                <a:latin typeface="Consolas"/>
              </a:rPr>
              <a:t>FUNCTIONAL
READOUTS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41071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8"/>
              </a:spcBef>
              <a:spcAft>
                <a:spcPts val="108"/>
              </a:spcAft>
            </a:pPr>
            <a:r>
              <a:rPr sz="1000" b="0">
                <a:solidFill>
                  <a:srgbClr val="123B5D"/>
                </a:solidFill>
              </a:rPr>
              <a:t>flow · secretomics</a:t>
            </a:r>
          </a:p>
          <a:p>
            <a:pPr algn="ctr">
              <a:spcBef>
                <a:spcPts val="108"/>
              </a:spcBef>
              <a:spcAft>
                <a:spcPts val="108"/>
              </a:spcAft>
            </a:pPr>
            <a:r>
              <a:rPr sz="1000" b="0">
                <a:solidFill>
                  <a:srgbClr val="123B5D"/>
                </a:solidFill>
              </a:rPr>
              <a:t>ATAC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342631" y="2468880"/>
            <a:ext cx="1225296" cy="91440"/>
          </a:xfrm>
          <a:prstGeom prst="rightArrow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40" y="2240280"/>
            <a:ext cx="475488" cy="475488"/>
          </a:xfrm>
          <a:prstGeom prst="ellipse">
            <a:avLst/>
          </a:prstGeom>
          <a:solidFill>
            <a:srgbClr val="C57A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2386584"/>
            <a:ext cx="47548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29535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57A2C"/>
                </a:solidFill>
                <a:latin typeface="Consolas"/>
              </a:rPr>
              <a:t>CLINICAL
CORRELATION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1" y="341071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8"/>
              </a:spcBef>
              <a:spcAft>
                <a:spcPts val="108"/>
              </a:spcAft>
            </a:pPr>
            <a:r>
              <a:rPr sz="1000" b="0">
                <a:solidFill>
                  <a:srgbClr val="123B5D"/>
                </a:solidFill>
              </a:rPr>
              <a:t>17 clusters</a:t>
            </a:r>
          </a:p>
          <a:p>
            <a:pPr algn="ctr">
              <a:spcBef>
                <a:spcPts val="108"/>
              </a:spcBef>
              <a:spcAft>
                <a:spcPts val="108"/>
              </a:spcAft>
            </a:pPr>
            <a:r>
              <a:rPr sz="1000" b="0">
                <a:solidFill>
                  <a:srgbClr val="123B5D"/>
                </a:solidFill>
              </a:rPr>
              <a:t>BCA strata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" y="4352544"/>
            <a:ext cx="6400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d0333ba3a26e182eb71ec8b5264d90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4462272"/>
            <a:ext cx="6217920" cy="95097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04672" y="5559552"/>
            <a:ext cx="6126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27B8C"/>
                </a:solidFill>
                <a:latin typeface="Consolas"/>
              </a:rPr>
              <a:t>Source figure / Fig. 1a · cohort → measurement layers → data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9248" y="4407408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8A6B5"/>
                </a:solidFill>
                <a:latin typeface="Consolas"/>
              </a:rPr>
              <a:t>THE SYSTEM OUTPUT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99248" y="4700016"/>
            <a:ext cx="3520440" cy="22860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49560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AE"/>
                </a:solidFill>
                <a:latin typeface="Aptos Display"/>
              </a:rPr>
              <a:t>695,819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07424" y="5065776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B5D"/>
                </a:solidFill>
                <a:latin typeface="Aptos"/>
              </a:rPr>
              <a:t>analyzed cells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99248" y="5413248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B5D"/>
                </a:solidFill>
                <a:latin typeface="Aptos"/>
              </a:rPr>
              <a:t>17 cell states  ·  5 BCA strata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9248" y="5797296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27B8C"/>
                </a:solidFill>
                <a:latin typeface="Aptos"/>
              </a:rPr>
              <a:t>Clinical observation becomes measurable state space.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" y="647395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27B8C"/>
                </a:solidFill>
                <a:latin typeface="Consolas"/>
              </a:rPr>
              <a:t>Source figure / Fig. 1a. The pipeline is editorially redrawn; cohort and assay facts remain tied to the paper.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64992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3056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59184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84048"/>
            <a:ext cx="20116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B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4340"/>
            <a:ext cx="2011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23B5D"/>
                </a:solidFill>
                <a:latin typeface="Consolas"/>
              </a:rPr>
              <a:t>03 / CELL ATLAS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7498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B5D"/>
                </a:solidFill>
                <a:latin typeface="Aptos"/>
              </a:rPr>
              <a:t>695,819 cells resolve into 17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170432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7B8C"/>
                </a:solidFill>
                <a:latin typeface="Aptos"/>
              </a:rPr>
              <a:t>The UMAP is the map from which the later mechanistic claims depart.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4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57200"/>
            <a:ext cx="914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27B8C"/>
                </a:solidFill>
                <a:latin typeface="Consolas"/>
              </a:rPr>
              <a:t>ATLAS / 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" y="1540764"/>
            <a:ext cx="5367528" cy="3538727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099a5e6b7ba1eb7ed8272e01ad85c8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72768"/>
            <a:ext cx="5303520" cy="3474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" y="5097779"/>
            <a:ext cx="53035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1b / UMAP + cluster annotation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1572768"/>
            <a:ext cx="2240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682495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AE"/>
                </a:solidFill>
                <a:latin typeface="Aptos Display"/>
              </a:rPr>
              <a:t>695,819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093976"/>
            <a:ext cx="1965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27B8C"/>
                </a:solidFill>
                <a:latin typeface="Consolas"/>
              </a:rPr>
              <a:t>analyzed cells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1572768"/>
            <a:ext cx="2240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658E4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78824" y="1682495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58E42"/>
                </a:solidFill>
                <a:latin typeface="Aptos Display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2093976"/>
            <a:ext cx="1965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27B8C"/>
                </a:solidFill>
                <a:latin typeface="Consolas"/>
              </a:rPr>
              <a:t>cell states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852928"/>
            <a:ext cx="4709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A6B5"/>
                </a:solidFill>
                <a:latin typeface="Consolas"/>
              </a:rPr>
              <a:t>ATLAS READOUT / FOUR STATE FAMILIES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3182112"/>
            <a:ext cx="4709160" cy="22860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3584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B5D"/>
                </a:solidFill>
                <a:latin typeface="Aptos"/>
              </a:rPr>
              <a:t>NAIVE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584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B5D"/>
                </a:solidFill>
                <a:latin typeface="Aptos"/>
              </a:rPr>
              <a:t>CYTOTOXIC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4133087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B5D"/>
                </a:solidFill>
                <a:latin typeface="Aptos"/>
              </a:rPr>
              <a:t>REGULATORY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133087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B5D"/>
                </a:solidFill>
                <a:latin typeface="Aptos"/>
              </a:rPr>
              <a:t>PROLIFERATIVE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" y="5321808"/>
            <a:ext cx="10287000" cy="566928"/>
          </a:xfrm>
          <a:prstGeom prst="rect">
            <a:avLst/>
          </a:prstGeom>
          <a:solidFill>
            <a:srgbClr val="E5F0F5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50468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3B5D"/>
                </a:solidFill>
                <a:latin typeface="Aptos"/>
              </a:rPr>
              <a:t>Design principle: preserve the paper’s cluster colors; use blue annotations to explain the map.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647395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27B8C"/>
                </a:solidFill>
                <a:latin typeface="Consolas"/>
              </a:rPr>
              <a:t>Source figure / Fig. 1b. Cell labels and original color encoding are preserved.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64992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3056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59184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84048"/>
            <a:ext cx="20116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B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4340"/>
            <a:ext cx="2011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23B5D"/>
                </a:solidFill>
                <a:latin typeface="Consolas"/>
              </a:rPr>
              <a:t>04 /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7498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B5D"/>
                </a:solidFill>
                <a:latin typeface="Aptos"/>
              </a:rPr>
              <a:t>Persistence is a gradient, not a binary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170432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7B8C"/>
                </a:solidFill>
                <a:latin typeface="Aptos"/>
              </a:rPr>
              <a:t>BCA strata create the clinical axis reused across the paper.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5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57200"/>
            <a:ext cx="914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27B8C"/>
                </a:solidFill>
                <a:latin typeface="Consolas"/>
              </a:rPr>
              <a:t>ATLAS / 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" y="1540764"/>
            <a:ext cx="5184648" cy="2029967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81f97d53200f03d2b9b1cdd2896a15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72768"/>
            <a:ext cx="5120640" cy="1965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" y="3589020"/>
            <a:ext cx="51206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1c / demographics and follow-up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" y="384048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050791"/>
            <a:ext cx="4663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AE"/>
                </a:solidFill>
                <a:latin typeface="Consolas"/>
              </a:rPr>
              <a:t>PERSISTENCE GRADIENT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645152"/>
            <a:ext cx="4526280" cy="50292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82312"/>
            <a:ext cx="731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D48728"/>
                </a:solidFill>
                <a:latin typeface="Consolas"/>
              </a:rPr>
              <a:t>BCA-L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251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48728"/>
                </a:solidFill>
                <a:latin typeface="Aptos Display"/>
              </a:rPr>
              <a:t>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0512" y="4782312"/>
            <a:ext cx="731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F6FAE"/>
                </a:solidFill>
                <a:latin typeface="Consolas"/>
              </a:rPr>
              <a:t>BCA-O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0512" y="43251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6FAE"/>
                </a:solidFill>
                <a:latin typeface="Aptos Display"/>
              </a:rPr>
              <a:t>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782312"/>
            <a:ext cx="731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8A6B5"/>
                </a:solidFill>
                <a:latin typeface="Consolas"/>
              </a:rPr>
              <a:t>BCA3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43251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8A6B5"/>
                </a:solidFill>
                <a:latin typeface="Aptos Display"/>
              </a:rP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4782312"/>
            <a:ext cx="731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57A2C"/>
                </a:solidFill>
                <a:latin typeface="Consolas"/>
              </a:rPr>
              <a:t>BCA2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43251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57A2C"/>
                </a:solidFill>
                <a:latin typeface="Aptos Display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782312"/>
            <a:ext cx="731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658E42"/>
                </a:solidFill>
                <a:latin typeface="Consolas"/>
              </a:rPr>
              <a:t>BCA1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3251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58E42"/>
                </a:solidFill>
                <a:latin typeface="Aptos Display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1783080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7A2C"/>
                </a:solidFill>
                <a:latin typeface="Consolas"/>
              </a:rPr>
              <a:t>BCA-L / LONGEST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2103120"/>
            <a:ext cx="2331720" cy="22860"/>
          </a:xfrm>
          <a:prstGeom prst="rect">
            <a:avLst/>
          </a:prstGeom>
          <a:solidFill>
            <a:srgbClr val="C57A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235915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200" b="0">
                <a:solidFill>
                  <a:srgbClr val="123B5D"/>
                </a:solidFill>
              </a:rPr>
              <a:t>n = 5 · 101 months</a:t>
            </a:r>
          </a:p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200" b="0">
                <a:solidFill>
                  <a:srgbClr val="123B5D"/>
                </a:solidFill>
              </a:rPr>
              <a:t>no relapse observed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9952" y="1783080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7A2C"/>
                </a:solidFill>
                <a:latin typeface="Consolas"/>
              </a:rPr>
              <a:t>BCA1 / SHORTEST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59952" y="2103120"/>
            <a:ext cx="2331720" cy="22860"/>
          </a:xfrm>
          <a:prstGeom prst="rect">
            <a:avLst/>
          </a:prstGeom>
          <a:solidFill>
            <a:srgbClr val="C57A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9952" y="235915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200" b="0">
                <a:solidFill>
                  <a:srgbClr val="123B5D"/>
                </a:solidFill>
              </a:rPr>
              <a:t>n = 17 · 1 month</a:t>
            </a:r>
          </a:p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200" b="0">
                <a:solidFill>
                  <a:srgbClr val="123B5D"/>
                </a:solidFill>
              </a:rPr>
              <a:t>relapse observed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4096512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A6B5"/>
                </a:solidFill>
                <a:latin typeface="Consolas"/>
              </a:rPr>
              <a:t>INTERPRETATION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4407408"/>
            <a:ext cx="4892040" cy="22860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466344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50" b="0">
                <a:solidFill>
                  <a:srgbClr val="123B5D"/>
                </a:solidFill>
              </a:rPr>
              <a:t>Persistence is a continuum with a clinical gradient, not a yes/no label.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647395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27B8C"/>
                </a:solidFill>
                <a:latin typeface="Consolas"/>
              </a:rPr>
              <a:t>Source figure / Fig. 1c. Duration values shown are the paper’s reported values; units are months in the source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64992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3056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59184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84048"/>
            <a:ext cx="20116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B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4340"/>
            <a:ext cx="2011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23B5D"/>
                </a:solidFill>
                <a:latin typeface="Consolas"/>
              </a:rPr>
              <a:t>05 / TYPE 2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7498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B5D"/>
                </a:solidFill>
                <a:latin typeface="Aptos"/>
              </a:rPr>
              <a:t>The long-remission state reads as type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170432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7B8C"/>
                </a:solidFill>
                <a:latin typeface="Aptos"/>
              </a:rPr>
              <a:t>Four orthogonal readouts point to the same biological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6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57200"/>
            <a:ext cx="914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27B8C"/>
                </a:solidFill>
                <a:latin typeface="Consolas"/>
              </a:rPr>
              <a:t>ATLAS / 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" y="1540764"/>
            <a:ext cx="2807208" cy="1892807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3b980dff2f0b14c3688c5b1a24e285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72768"/>
            <a:ext cx="274320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" y="3451860"/>
            <a:ext cx="2743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2a–d / type 2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43883" y="1540764"/>
            <a:ext cx="2807208" cy="1892807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7d29daaf798c7c1cc742e0f128ebd0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7" y="1572768"/>
            <a:ext cx="2743200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75887" y="3451860"/>
            <a:ext cx="2743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2e–f / secretion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" y="3717035"/>
            <a:ext cx="2807208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2a354b6a0d03f8816b780f3ea1f7a3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749039"/>
            <a:ext cx="2743200" cy="1600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4944" y="5399531"/>
            <a:ext cx="2743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2g–j / ATAC + GATA3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5887" y="3749039"/>
            <a:ext cx="54864" cy="1600200"/>
          </a:xfrm>
          <a:prstGeom prst="rect">
            <a:avLst/>
          </a:prstGeom>
          <a:solidFill>
            <a:srgbClr val="C57A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3632" y="3822191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57A2C"/>
                </a:solidFill>
                <a:latin typeface="Consolas"/>
              </a:rPr>
              <a:t>PERTURBATION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422452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3B5D"/>
                </a:solidFill>
                <a:latin typeface="Aptos"/>
              </a:rPr>
              <a:t>GATA3 / STAT6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459028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23B5D"/>
                </a:solidFill>
                <a:latin typeface="Aptos"/>
              </a:rPr>
              <a:t>repeat stimulation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2" y="4882896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6FAE"/>
                </a:solidFill>
                <a:latin typeface="Aptos"/>
              </a:rPr>
              <a:t>→ tumour-cell 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1572768"/>
            <a:ext cx="54864" cy="1828800"/>
          </a:xfrm>
          <a:prstGeom prst="rect">
            <a:avLst/>
          </a:prstGeom>
          <a:solidFill>
            <a:srgbClr val="C57A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2" y="1609344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7A2C"/>
                </a:solidFill>
                <a:latin typeface="Consolas"/>
              </a:rPr>
              <a:t>TYPE 2 SIGNATURE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2011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3B5D"/>
                </a:solidFill>
                <a:latin typeface="Aptos Display"/>
              </a:rPr>
              <a:t>IL4 · IL5 · IL13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23591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57A2C"/>
                </a:solidFill>
                <a:latin typeface="Aptos Display"/>
              </a:rPr>
              <a:t>GATA3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277977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7B8C"/>
                </a:solidFill>
                <a:latin typeface="Aptos"/>
              </a:rPr>
              <a:t>enriched in the long-remission group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76288" y="3749039"/>
            <a:ext cx="4114800" cy="22860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76288" y="395020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8A6B5"/>
                </a:solidFill>
                <a:latin typeface="Consolas"/>
              </a:rPr>
              <a:t>EVIDENCE RULE / CONVERGENCE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35254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23B5D"/>
                </a:solidFill>
                <a:latin typeface="Consolas"/>
              </a:rPr>
              <a:t>TRANSCRIPTOME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119872" y="4425696"/>
            <a:ext cx="347472" cy="91440"/>
          </a:xfrm>
          <a:prstGeom prst="rightArrow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7072" y="4352544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23B5D"/>
                </a:solidFill>
                <a:latin typeface="Consolas"/>
              </a:rPr>
              <a:t>SECRETION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674352" y="4425696"/>
            <a:ext cx="347472" cy="91440"/>
          </a:xfrm>
          <a:prstGeom prst="rightArrow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31552" y="435254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23B5D"/>
                </a:solidFill>
                <a:latin typeface="Consolas"/>
              </a:rPr>
              <a:t>CHROMATIN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846320"/>
            <a:ext cx="4114800" cy="22860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76288" y="502920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AE"/>
                </a:solidFill>
                <a:latin typeface="Aptos"/>
              </a:rPr>
              <a:t>→ one coherent type 2 state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" y="647395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27B8C"/>
                </a:solidFill>
                <a:latin typeface="Consolas"/>
              </a:rPr>
              <a:t>Source figure / Fig. 2. Direct paper panels used as evidence modules; interpretation is newly organized.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64992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3056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59184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84048"/>
            <a:ext cx="20116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B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4340"/>
            <a:ext cx="2011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23B5D"/>
                </a:solidFill>
                <a:latin typeface="Consolas"/>
              </a:rPr>
              <a:t>06 /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7498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B5D"/>
                </a:solidFill>
                <a:latin typeface="Aptos"/>
              </a:rPr>
              <a:t>Cluster 2 is the pressure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170432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7B8C"/>
                </a:solidFill>
                <a:latin typeface="Aptos"/>
              </a:rPr>
              <a:t>The paper moves from association to a candidate regulatory interaction network.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7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57200"/>
            <a:ext cx="914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27B8C"/>
                </a:solidFill>
                <a:latin typeface="Consolas"/>
              </a:rPr>
              <a:t>ATLAS / 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" y="1540764"/>
            <a:ext cx="3218688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87252bab5021bf2f99d117f9bacc02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72768"/>
            <a:ext cx="3154680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" y="3543300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3a–b / ligand–receptor network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4508" y="1540764"/>
            <a:ext cx="3218688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6abd9c32567a5ca8f8b0f449c696a8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572768"/>
            <a:ext cx="3154680" cy="1920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096512" y="3543300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3c–d / cluster 2 and DEGs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79792" y="157276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87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1682495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48728"/>
                </a:solidFill>
                <a:latin typeface="Aptos Display"/>
              </a:rPr>
              <a:t>13.9%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2093976"/>
            <a:ext cx="1554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27B8C"/>
                </a:solidFill>
                <a:latin typeface="Consolas"/>
              </a:rPr>
              <a:t>cluster 2 proportion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28048" y="1572768"/>
            <a:ext cx="1463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A6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5208" y="1682495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8A6B5"/>
                </a:solidFill>
                <a:latin typeface="Consolas"/>
              </a:rPr>
              <a:t>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8" y="1965960"/>
            <a:ext cx="11887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type 2</a:t>
            </a:r>
          </a:p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signal</a:t>
            </a:r>
          </a:p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cluster 2</a:t>
            </a:r>
          </a:p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proliferation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" y="3886200"/>
            <a:ext cx="655624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A6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096512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8A6B5"/>
                </a:solidFill>
                <a:latin typeface="Consolas"/>
              </a:rPr>
              <a:t>EDITABLE MECHANISM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9028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B5D"/>
                </a:solidFill>
                <a:latin typeface="Aptos"/>
              </a:rPr>
              <a:t>Type 2 function  →  cluster 2  →  dysfunctional subpopulation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9792" y="3886200"/>
            <a:ext cx="351129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7A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16952" y="3995928"/>
            <a:ext cx="3236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57A2C"/>
                </a:solidFill>
                <a:latin typeface="Consolas"/>
              </a:rPr>
              <a:t>CLAIM BOUNDARY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4279392"/>
            <a:ext cx="323697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Candidate mechanism</a:t>
            </a:r>
          </a:p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not a complete causal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647395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27B8C"/>
                </a:solidFill>
                <a:latin typeface="Consolas"/>
              </a:rPr>
              <a:t>Source figure / Fig. 3. Network diagrams and cluster 2 readouts are reproduced; the causal wording is deliberately bounded.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64992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3056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59184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84048"/>
            <a:ext cx="20116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B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4340"/>
            <a:ext cx="2011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23B5D"/>
                </a:solidFill>
                <a:latin typeface="Consolas"/>
              </a:rPr>
              <a:t>07 / SECRETOME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7498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B5D"/>
                </a:solidFill>
                <a:latin typeface="Aptos"/>
              </a:rPr>
              <a:t>The serum trace keeps the biology longitudinal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170432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7B8C"/>
                </a:solidFill>
                <a:latin typeface="Aptos"/>
              </a:rPr>
              <a:t>A state is more credible when it survives time, not just a snapshot.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8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57200"/>
            <a:ext cx="914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27B8C"/>
                </a:solidFill>
                <a:latin typeface="Consolas"/>
              </a:rPr>
              <a:t>ATLAS / 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" y="1540764"/>
            <a:ext cx="5276088" cy="1892807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ccc85b2696bbd40d4af6667a5786f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72768"/>
            <a:ext cx="521208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" y="3451860"/>
            <a:ext cx="5212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4a–b / collection timeline + time series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572768"/>
            <a:ext cx="1508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8A6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682495"/>
            <a:ext cx="1234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A6B5"/>
                </a:solidFill>
                <a:latin typeface="Aptos Display"/>
              </a:rPr>
              <a:t>345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093976"/>
            <a:ext cx="123443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27B8C"/>
                </a:solidFill>
                <a:latin typeface="Consolas"/>
              </a:rPr>
              <a:t>measurements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1572768"/>
            <a:ext cx="1508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6" y="1682495"/>
            <a:ext cx="1234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AE"/>
                </a:solidFill>
                <a:latin typeface="Aptos Display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6" y="2093976"/>
            <a:ext cx="123443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27B8C"/>
                </a:solidFill>
                <a:latin typeface="Consolas"/>
              </a:rPr>
              <a:t>cytokines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82912" y="1572768"/>
            <a:ext cx="1508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87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9216" y="1682495"/>
            <a:ext cx="1234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48728"/>
                </a:solidFill>
                <a:latin typeface="Aptos Display"/>
              </a:rPr>
              <a:t>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6" y="2093976"/>
            <a:ext cx="123443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27B8C"/>
                </a:solidFill>
                <a:latin typeface="Consolas"/>
              </a:rPr>
              <a:t>patients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" y="3643883"/>
            <a:ext cx="5276088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35b31b459cab99908c1c92abacc0b4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675887"/>
            <a:ext cx="5212080" cy="16642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4944" y="5390388"/>
            <a:ext cx="5212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4c–e / cytokine windows + heatmap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3675887"/>
            <a:ext cx="48920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87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3785615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48728"/>
                </a:solidFill>
                <a:latin typeface="Consolas"/>
              </a:rPr>
              <a:t>TYPE 2 WINDOW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4069079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IL-4 · IL-5 · IL-13</a:t>
            </a:r>
          </a:p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serial evidence across days 1–63</a:t>
            </a:r>
          </a:p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33 discovery + 8 validation patients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647395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27B8C"/>
                </a:solidFill>
                <a:latin typeface="Consolas"/>
              </a:rPr>
              <a:t>Source figure / Fig. 4. Longitudinal panels are retained; the surrounding blue modules explain scale and timing.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64992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3056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59184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84048"/>
            <a:ext cx="20116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B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4340"/>
            <a:ext cx="2011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23B5D"/>
                </a:solidFill>
                <a:latin typeface="Consolas"/>
              </a:rPr>
              <a:t>08 / IN VIVO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7498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B5D"/>
                </a:solidFill>
                <a:latin typeface="Aptos"/>
              </a:rPr>
              <a:t>Type 2-high cells pass the recall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170432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7B8C"/>
                </a:solidFill>
                <a:latin typeface="Aptos"/>
              </a:rPr>
              <a:t>The state is tested as function, not merely described as phenotype.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9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57200"/>
            <a:ext cx="914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27B8C"/>
                </a:solidFill>
                <a:latin typeface="Consolas"/>
              </a:rPr>
              <a:t>ATLAS / 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" y="1540764"/>
            <a:ext cx="395020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b1080f5b14bd339cf3b5fa56504f01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72768"/>
            <a:ext cx="3886200" cy="2057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" y="3680459"/>
            <a:ext cx="3886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5a–c / mouse sequence + 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881628"/>
            <a:ext cx="39502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9c729152a6b0e4006207d42621840f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913632"/>
            <a:ext cx="3886200" cy="1417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4944" y="5381244"/>
            <a:ext cx="3886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5d / survival after rechallenge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783080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A6B5"/>
                </a:solidFill>
                <a:latin typeface="Consolas"/>
              </a:rPr>
              <a:t>IN VIVO SEQUENCE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2121408"/>
            <a:ext cx="6035040" cy="32004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2011680"/>
            <a:ext cx="18288" cy="256032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0328" y="248716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3B5D"/>
                </a:solidFill>
                <a:latin typeface="Consolas"/>
              </a:rPr>
              <a:t>−7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2761488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123B5D"/>
                </a:solidFill>
                <a:latin typeface="Consolas"/>
              </a:rPr>
              <a:t>Nalm6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011680"/>
            <a:ext cx="18288" cy="256032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248716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3B5D"/>
                </a:solidFill>
                <a:latin typeface="Consola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16168" y="2761488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123B5D"/>
                </a:solidFill>
                <a:latin typeface="Consolas"/>
              </a:rPr>
              <a:t>CAR 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2011680"/>
            <a:ext cx="18288" cy="256032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53528" y="248716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3B5D"/>
                </a:solidFill>
                <a:latin typeface="Consolas"/>
              </a:rPr>
              <a:t>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2761488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123B5D"/>
                </a:solidFill>
                <a:latin typeface="Consolas"/>
              </a:rPr>
              <a:t>rechallenge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72600" y="2011680"/>
            <a:ext cx="18288" cy="256032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008" y="248716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3B5D"/>
                </a:solidFill>
                <a:latin typeface="Consolas"/>
              </a:rPr>
              <a:t>24–28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2761488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123B5D"/>
                </a:solidFill>
                <a:latin typeface="Consolas"/>
              </a:rPr>
              <a:t>imaging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6048" y="33101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58E42"/>
                </a:solidFill>
                <a:latin typeface="Consolas"/>
              </a:rPr>
              <a:t>READOUT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3639312"/>
            <a:ext cx="6035040" cy="22860"/>
          </a:xfrm>
          <a:prstGeom prst="rect">
            <a:avLst/>
          </a:prstGeom>
          <a:solidFill>
            <a:srgbClr val="658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913632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50" b="0">
                <a:solidFill>
                  <a:srgbClr val="123B5D"/>
                </a:solidFill>
              </a:rPr>
              <a:t>Type 2-high cells expand more and show stronger recall in the reported model; selected readouts n=5 mice.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6048" y="486460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7A2C"/>
                </a:solidFill>
                <a:latin typeface="Consolas"/>
              </a:rPr>
              <a:t>EVIDENCE BOUNDARY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513892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050" b="0">
                <a:solidFill>
                  <a:srgbClr val="123B5D"/>
                </a:solidFill>
              </a:rPr>
              <a:t>Preclinical model supports function; it does not establish clinical efficacy.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647395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27B8C"/>
                </a:solidFill>
                <a:latin typeface="Consolas"/>
              </a:rPr>
              <a:t>Source figure / Fig. 5. Experimental evidence is shown with the preclinical boundary kept explicit.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64992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3056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59184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84048"/>
            <a:ext cx="20116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B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4340"/>
            <a:ext cx="2011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23B5D"/>
                </a:solidFill>
                <a:latin typeface="Consolas"/>
              </a:rPr>
              <a:t>09 /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7498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B5D"/>
                </a:solidFill>
                <a:latin typeface="Aptos"/>
              </a:rPr>
              <a:t>IL-4 turns the state into a design lever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170432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7B8C"/>
                </a:solidFill>
                <a:latin typeface="Aptos"/>
              </a:rPr>
              <a:t>The final figure converts a cell-state hypothesis into a manufacturing strategy.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10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57200"/>
            <a:ext cx="914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27B8C"/>
                </a:solidFill>
                <a:latin typeface="Consolas"/>
              </a:rPr>
              <a:t>ATLAS / 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" y="1540764"/>
            <a:ext cx="3721608" cy="2148839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a2132c46e0a7af957c5f640ae78d88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72768"/>
            <a:ext cx="3657600" cy="20848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" y="3707891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6a / priming and ET2-L/H strategies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9996" y="1540764"/>
            <a:ext cx="2807208" cy="2148839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85869e9e47b9ad3912f3e3a6731ecd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72768"/>
            <a:ext cx="2743200" cy="20848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0" y="3707891"/>
            <a:ext cx="2743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6b / in vivo imaging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572768"/>
            <a:ext cx="1188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8A6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1682495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A6B5"/>
                </a:solidFill>
                <a:latin typeface="Aptos Display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2093976"/>
            <a:ext cx="914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27B8C"/>
                </a:solidFill>
                <a:latin typeface="Consolas"/>
              </a:rPr>
              <a:t>ng ml⁻¹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57232" y="1572768"/>
            <a:ext cx="1188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87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03536" y="1682495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48728"/>
                </a:solidFill>
                <a:latin typeface="Aptos Display"/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3536" y="2093976"/>
            <a:ext cx="914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27B8C"/>
                </a:solidFill>
                <a:latin typeface="Consolas"/>
              </a:rPr>
              <a:t>ng ml⁻¹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" y="3936491"/>
            <a:ext cx="3721608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784206af2bc05939fa15191ee515f3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968496"/>
            <a:ext cx="3657600" cy="1371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4944" y="5390388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6c–d / expansion + survival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968496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407822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6FAE"/>
                </a:solidFill>
                <a:latin typeface="Consolas"/>
              </a:rPr>
              <a:t>DESIGN OPTIONS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361688"/>
            <a:ext cx="24688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priming: 10 ng ml⁻¹ / 12 h</a:t>
            </a:r>
          </a:p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ET2-L: 10 · ET2-H: 50</a:t>
            </a:r>
          </a:p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controlled manufacturing exposure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71231" y="3968496"/>
            <a:ext cx="3474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7A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08392" y="407822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57A2C"/>
                </a:solidFill>
                <a:latin typeface="Consolas"/>
              </a:rPr>
              <a:t>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92" y="4361688"/>
            <a:ext cx="32004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Promising engineering lever</a:t>
            </a:r>
          </a:p>
          <a:p>
            <a:pPr algn="l">
              <a:spcBef>
                <a:spcPts val="112"/>
              </a:spcBef>
              <a:spcAft>
                <a:spcPts val="112"/>
              </a:spcAft>
            </a:pPr>
            <a:r>
              <a:rPr sz="1100" b="0">
                <a:solidFill>
                  <a:srgbClr val="12314A"/>
                </a:solidFill>
              </a:rPr>
              <a:t>still bounded by model and study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647395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27B8C"/>
                </a:solidFill>
                <a:latin typeface="Consolas"/>
              </a:rPr>
              <a:t>Source figure / Fig. 6. Concentrations and group labels remain tied to the paper; the design framing is editorialized.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64992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3056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59184" y="384048"/>
            <a:ext cx="10972" cy="5870448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84048"/>
            <a:ext cx="20116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B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4340"/>
            <a:ext cx="2011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23B5D"/>
                </a:solidFill>
                <a:latin typeface="Consolas"/>
              </a:rPr>
              <a:t>10 / EVIDENCE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7498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B5D"/>
                </a:solidFill>
                <a:latin typeface="Aptos"/>
              </a:rPr>
              <a:t>The argument is strongest when each layer stays distinct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170432"/>
            <a:ext cx="10698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7B8C"/>
                </a:solidFill>
                <a:latin typeface="Aptos"/>
              </a:rPr>
              <a:t>Do not collapse clinical association, mechanism and intervention into one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11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57200"/>
            <a:ext cx="914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27B8C"/>
                </a:solidFill>
                <a:latin typeface="Consolas"/>
              </a:rPr>
              <a:t>ATLAS / 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3312" y="2487168"/>
            <a:ext cx="8558784" cy="41148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2212848"/>
            <a:ext cx="548640" cy="548640"/>
          </a:xfrm>
          <a:prstGeom prst="ellipse">
            <a:avLst/>
          </a:prstGeom>
          <a:solidFill>
            <a:srgbClr val="C57A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395728"/>
            <a:ext cx="5486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57A2C"/>
                </a:solidFill>
                <a:latin typeface="Consolas"/>
              </a:rPr>
              <a:t>OBSERVED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01568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B5D"/>
                </a:solidFill>
                <a:latin typeface="Aptos Display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C57A2C"/>
                </a:solidFill>
                <a:latin typeface="Aptos Display"/>
              </a:rPr>
              <a:t>8.4-year 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70832"/>
            <a:ext cx="1417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27B8C"/>
                </a:solidFill>
                <a:latin typeface="Consolas"/>
              </a:rPr>
              <a:t>Fig. 1 / 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700784" y="2468880"/>
            <a:ext cx="1783080" cy="91440"/>
          </a:xfrm>
          <a:prstGeom prst="rightArrow">
            <a:avLst/>
          </a:prstGeom>
          <a:solidFill>
            <a:srgbClr val="1F6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0" y="2212848"/>
            <a:ext cx="548640" cy="548640"/>
          </a:xfrm>
          <a:prstGeom prst="ellipse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395728"/>
            <a:ext cx="5486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8" y="30175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8A6B5"/>
                </a:solidFill>
                <a:latin typeface="Consolas"/>
              </a:rPr>
              <a:t>RESOLVED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3401568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B5D"/>
                </a:solidFill>
                <a:latin typeface="Aptos Display"/>
              </a:rPr>
              <a:t>CELLULAR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37947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8A6B5"/>
                </a:solidFill>
                <a:latin typeface="Aptos Display"/>
              </a:rPr>
              <a:t>type 2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4370832"/>
            <a:ext cx="1417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27B8C"/>
                </a:solidFill>
                <a:latin typeface="Consolas"/>
              </a:rPr>
              <a:t>Fig. 2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462272" y="2468880"/>
            <a:ext cx="1783080" cy="91440"/>
          </a:xfrm>
          <a:prstGeom prst="rightArrow">
            <a:avLst/>
          </a:prstGeom>
          <a:solidFill>
            <a:srgbClr val="1F6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01968" y="2212848"/>
            <a:ext cx="548640" cy="548640"/>
          </a:xfrm>
          <a:prstGeom prst="ellipse">
            <a:avLst/>
          </a:prstGeom>
          <a:solidFill>
            <a:srgbClr val="1F6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395728"/>
            <a:ext cx="5486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0175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6FAE"/>
                </a:solidFill>
                <a:latin typeface="Consolas"/>
              </a:rPr>
              <a:t>PROPOSED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056" y="3401568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B5D"/>
                </a:solidFill>
                <a:latin typeface="Aptos Display"/>
              </a:rPr>
              <a:t>MECHANISM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37947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F6FAE"/>
                </a:solidFill>
                <a:latin typeface="Aptos Display"/>
              </a:rPr>
              <a:t>cluster 2 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4370832"/>
            <a:ext cx="1417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27B8C"/>
                </a:solidFill>
                <a:latin typeface="Consolas"/>
              </a:rPr>
              <a:t>Fig. 3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223759" y="2468880"/>
            <a:ext cx="1783080" cy="91440"/>
          </a:xfrm>
          <a:prstGeom prst="rightArrow">
            <a:avLst/>
          </a:prstGeom>
          <a:solidFill>
            <a:srgbClr val="1F6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363456" y="2212848"/>
            <a:ext cx="548640" cy="548640"/>
          </a:xfrm>
          <a:prstGeom prst="ellipse">
            <a:avLst/>
          </a:prstGeom>
          <a:solidFill>
            <a:srgbClr val="658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63456" y="2395728"/>
            <a:ext cx="5486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864" y="30175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58E42"/>
                </a:solidFill>
                <a:latin typeface="Consolas"/>
              </a:rPr>
              <a:t>TESTED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24544" y="3401568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B5D"/>
                </a:solidFill>
                <a:latin typeface="Aptos Display"/>
              </a:rPr>
              <a:t>PRECLINICAL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4544" y="37947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658E42"/>
                </a:solidFill>
                <a:latin typeface="Aptos Display"/>
              </a:rPr>
              <a:t>recall + IL-4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4544" y="4370832"/>
            <a:ext cx="1417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27B8C"/>
                </a:solidFill>
                <a:latin typeface="Consolas"/>
              </a:rPr>
              <a:t>Fig. 5 / 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" y="5065776"/>
            <a:ext cx="10561320" cy="22860"/>
          </a:xfrm>
          <a:prstGeom prst="rect">
            <a:avLst/>
          </a:prstGeom>
          <a:solidFill>
            <a:srgbClr val="C5D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285232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6FAE"/>
                </a:solidFill>
                <a:latin typeface="Consolas"/>
              </a:rPr>
              <a:t>READING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04288" y="5266944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23B5D"/>
                </a:solidFill>
                <a:latin typeface="Aptos"/>
              </a:rPr>
              <a:t>Clinical persistence anchors the story; cellular evidence resolves the state; mechanism remains a candidate; preclinical work tests the direction.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424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7B8C"/>
                </a:solidFill>
                <a:latin typeface="Consolas"/>
              </a:rPr>
              <a:t>Evidence boundary: association → state definition → candidate explanation → functional test / engineering lever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647395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27B8C"/>
                </a:solidFill>
                <a:latin typeface="Consolas"/>
              </a:rPr>
              <a:t>A rigorous research presentation makes evidence type and evidence boundary visible on the same page.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78638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8728"/>
                </a:solidFill>
                <a:latin typeface="Consolas"/>
              </a:rP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2344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3B5D"/>
                </a:solidFill>
                <a:latin typeface="Aptos"/>
              </a:rPr>
              <a:t>Type 2 function
may sustain fitness.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724912"/>
            <a:ext cx="4434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"/>
              </a:spcBef>
              <a:spcAft>
                <a:spcPts val="120"/>
              </a:spcAft>
            </a:pPr>
            <a:r>
              <a:rPr sz="1400" b="0">
                <a:solidFill>
                  <a:srgbClr val="627B8C"/>
                </a:solidFill>
              </a:rPr>
              <a:t>A durable clinical phenotype</a:t>
            </a:r>
          </a:p>
          <a:p>
            <a:pPr algn="l">
              <a:spcBef>
                <a:spcPts val="120"/>
              </a:spcBef>
              <a:spcAft>
                <a:spcPts val="120"/>
              </a:spcAft>
            </a:pPr>
            <a:r>
              <a:rPr sz="1400" b="0">
                <a:solidFill>
                  <a:srgbClr val="627B8C"/>
                </a:solidFill>
              </a:rPr>
              <a:t>becomes a recognizable cell state,</a:t>
            </a:r>
          </a:p>
          <a:p>
            <a:pPr algn="l">
              <a:spcBef>
                <a:spcPts val="120"/>
              </a:spcBef>
              <a:spcAft>
                <a:spcPts val="120"/>
              </a:spcAft>
            </a:pPr>
            <a:r>
              <a:rPr sz="1400" b="0">
                <a:solidFill>
                  <a:srgbClr val="627B8C"/>
                </a:solidFill>
              </a:rPr>
              <a:t>a candidate circuit and an engineering lever.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4343400"/>
            <a:ext cx="4114800" cy="27432"/>
          </a:xfrm>
          <a:prstGeom prst="rect">
            <a:avLst/>
          </a:prstGeom>
          <a:solidFill>
            <a:srgbClr val="08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64515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AE"/>
                </a:solidFill>
                <a:latin typeface="Aptos"/>
              </a:rPr>
              <a:t>A strong research story shows its figures—and its limits.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036" y="681228"/>
            <a:ext cx="2487168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781183b4dd9021bf2fc9f29b853ea4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713232"/>
            <a:ext cx="242316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2683764"/>
            <a:ext cx="2423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54796" y="681228"/>
            <a:ext cx="2487168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6a22bd8853810564187da519244f79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713232"/>
            <a:ext cx="242316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0" y="2683764"/>
            <a:ext cx="2423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3036" y="3058668"/>
            <a:ext cx="513892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7dbc27026a48be05b20f6e307ce1a2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090672"/>
            <a:ext cx="5074920" cy="2057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5198364"/>
            <a:ext cx="5074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27B8C"/>
                </a:solidFill>
                <a:latin typeface="Consolas"/>
              </a:rPr>
              <a:t>Fig. 6 / engineering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172200"/>
            <a:ext cx="4937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27B8C"/>
                </a:solidFill>
                <a:latin typeface="Consolas"/>
              </a:rPr>
              <a:t>Bai et al. · Nature 634 · 702–711 ·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