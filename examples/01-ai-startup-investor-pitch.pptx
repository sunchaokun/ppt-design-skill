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latin typeface="Space Grotesk"/>
                <a:ea typeface="Microsoft YaHei"/>
                <a:cs typeface="Microsoft YaHei"/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latin typeface="Inter"/>
                <a:ea typeface="Microsoft YaHei"/>
                <a:cs typeface="Microsoft YaHei"/>
              </a:rPr>
              <a:t>Click to edit Master text styles</a:t>
            </a:r>
          </a:p>
          <a:p>
            <a:pPr lvl="1"/>
            <a:r>
              <a:rPr lang="en-US" smtClean="0">
                <a:latin typeface="Inter"/>
                <a:ea typeface="Microsoft YaHei"/>
                <a:cs typeface="Microsoft YaHei"/>
              </a:rPr>
              <a:t>Second level</a:t>
            </a:r>
          </a:p>
          <a:p>
            <a:pPr lvl="2"/>
            <a:r>
              <a:rPr lang="en-US" smtClean="0">
                <a:latin typeface="Inter"/>
                <a:ea typeface="Microsoft YaHei"/>
                <a:cs typeface="Microsoft YaHei"/>
              </a:rPr>
              <a:t>Third level</a:t>
            </a:r>
          </a:p>
          <a:p>
            <a:pPr lvl="3"/>
            <a:r>
              <a:rPr lang="en-US" smtClean="0">
                <a:latin typeface="Inter"/>
                <a:ea typeface="Microsoft YaHei"/>
                <a:cs typeface="Microsoft YaHei"/>
              </a:rPr>
              <a:t>Fourth level</a:t>
            </a:r>
          </a:p>
          <a:p>
            <a:pPr lvl="4"/>
            <a:r>
              <a:rPr lang="en-US" smtClean="0">
                <a:latin typeface="Inter"/>
                <a:ea typeface="Microsoft YaHei"/>
                <a:cs typeface="Microsoft YaHei"/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latin typeface="Inter"/>
                <a:ea typeface="Microsoft YaHei"/>
                <a:cs typeface="Microsoft YaHei"/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latin typeface="Inter"/>
                <a:ea typeface="Microsoft YaHei"/>
                <a:cs typeface="Microsoft YaHei"/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01168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8FAFC"/>
                </a:solidFill>
                <a:latin typeface="Space Grotesk"/>
              </a:defRPr>
            </a:pPr>
            <a:r>
              <a:t>What if deploying AI was as easy as git push?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56616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Inter"/>
              </a:defRPr>
            </a:pPr>
            <a:r>
              <a:t>NeuralForge makes production AI deployment instant, reliable, and cost-effective.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10504" y="274320"/>
            <a:ext cx="1371600" cy="45720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[图片: abstract technology innovation]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The problem is bigger than you think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Training takes weeks for production models</a:t>
            </a:r>
            <a:br/>
            <a:r>
              <a:t>• GPU cloud costs are exploding 3x year-over-year</a:t>
            </a:r>
            <a:br/>
            <a:r>
              <a:t>• Lab models fail silently in production environments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One-Click Model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Auto-optimized inference</a:t>
            </a:r>
            <a:br/>
            <a:r>
              <a:t>• Built-in model monitoring</a:t>
            </a:r>
            <a:br/>
            <a:r>
              <a:t>• Zero-config scaling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How AI Platform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Connect: Integrate with your existing tools in minutes, not months</a:t>
            </a:r>
            <a:br/>
            <a:r>
              <a:t>• Automate: Build intelligent workflows with our visual designer</a:t>
            </a:r>
            <a:br/>
            <a:r>
              <a:t>• Optimize: AI continuously improves your processes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The numbers speak for themselves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24761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2D3EE"/>
                </a:solidFill>
              </a:defRPr>
            </a:pPr>
            <a:r>
              <a:t>500+</a:t>
            </a:r>
          </a:p>
          <a:p>
            <a:pPr algn="ctr">
              <a:defRPr sz="1400">
                <a:solidFill>
                  <a:srgbClr val="64748B"/>
                </a:solidFill>
              </a:defRPr>
            </a:pPr>
            <a:r>
              <a:t>Models Deployed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19195" y="2286000"/>
            <a:ext cx="24761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2D3EE"/>
                </a:solidFill>
              </a:defRPr>
            </a:pPr>
            <a:r>
              <a:t>&lt;10ms</a:t>
            </a:r>
          </a:p>
          <a:p>
            <a:pPr algn="ctr">
              <a:defRPr sz="1400">
                <a:solidFill>
                  <a:srgbClr val="64748B"/>
                </a:solidFill>
              </a:defRPr>
            </a:pPr>
            <a:r>
              <a:t>P99 Latency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53504" y="2286000"/>
            <a:ext cx="24761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2D3EE"/>
                </a:solidFill>
              </a:defRPr>
            </a:pPr>
            <a:r>
              <a:t>99.7%</a:t>
            </a:r>
          </a:p>
          <a:p>
            <a:pPr algn="ctr">
              <a:defRPr sz="1400">
                <a:solidFill>
                  <a:srgbClr val="64748B"/>
                </a:solidFill>
              </a:defRPr>
            </a:pPr>
            <a:r>
              <a:t>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86900" y="2286000"/>
            <a:ext cx="24761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2D3EE"/>
                </a:solidFill>
              </a:defRPr>
            </a:pPr>
            <a:r>
              <a:t>12K+</a:t>
            </a:r>
          </a:p>
          <a:p>
            <a:pPr algn="ctr">
              <a:defRPr sz="1400">
                <a:solidFill>
                  <a:srgbClr val="64748B"/>
                </a:solidFill>
              </a:defRPr>
            </a:pPr>
            <a:r>
              <a:t>Developers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A massive, underserved Deep Tech / AI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Total addressable market: $47B and growing at 23% CAGR</a:t>
            </a:r>
            <a:br/>
            <a:r>
              <a:t>• Only 12% of enterprises have adopted modern solutions</a:t>
            </a:r>
            <a:br/>
            <a:r>
              <a:t>• Regulatory tailwinds are accelerating adoption globally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A business model built for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SaaS subscription with 85%+ gross margins</a:t>
            </a:r>
            <a:br/>
            <a:r>
              <a:t>• Land-and-expand: free tier → team → enterprise</a:t>
            </a:r>
            <a:br/>
            <a:r>
              <a:t>• Net revenue retention: 120%+ (expansion exceeds churn)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Built by operators who've been in your shoes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CEO: 15yr industry experience, 2x founder (1 exit)</a:t>
            </a:r>
            <a:br/>
            <a:r>
              <a:t>• CTO: Former principal engineer at top tech company</a:t>
            </a:r>
            <a:br/>
            <a:r>
              <a:t>• VP Sales: Built $0→$50M ARR pipeline at previous startup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FAFC"/>
                </a:solidFill>
                <a:latin typeface="Space Grotesk"/>
              </a:defRPr>
            </a:pPr>
            <a:r>
              <a:t>Strong unit economics, clear path to profitability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FAFC"/>
                </a:solidFill>
                <a:latin typeface="Inter"/>
              </a:defRPr>
            </a:pPr>
            <a:r>
              <a:t>• Current ARR: $8M, targeting $20M by year-end</a:t>
            </a:r>
            <a:br/>
            <a:r>
              <a:t>• CAC payback: 8 months (industry avg: 18 months)</a:t>
            </a:r>
            <a:br/>
            <a:r>
              <a:t>• Rule of 40: ARR growth (60%) + FCF margin (-15%) = 45%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8FAFC"/>
                </a:solidFill>
                <a:latin typeface="Space Grotesk"/>
              </a:defRPr>
            </a:pPr>
            <a:r>
              <a:t>Start deploying in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4748B"/>
                </a:solidFill>
                <a:latin typeface="Inter"/>
              </a:defRPr>
            </a:pPr>
            <a:r>
              <a:t>Free tier available. No credit card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67504" y="4572000"/>
            <a:ext cx="3657600" cy="7315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>
            <a:outerShdw blurRad="76200" dist="38100" dir="5400000" algn="tl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Start deploying in minutes</a:t>
            </a:r>
          </a:p>
        </p:txBody>
      </p:sp>
    </p:spTree>
  </p:cSld>
  <p:clrMapOvr>
    <a:masterClrMapping/>
  </p:clrMapOvr>
  <p:transition spd="slow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