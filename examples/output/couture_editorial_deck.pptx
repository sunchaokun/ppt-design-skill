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 / 6</a:t>
            </a:r>
          </a:p>
        </p:txBody>
      </p:sp>
      <p:pic>
        <p:nvPicPr>
          <p:cNvPr id="4" name="Picture 3" descr="a3f5e457c3b16cbe5e88e2866f39d7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0"/>
            <a:ext cx="583661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5669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1720"/>
                </a:solidFill>
              </a:rPr>
              <a:t>ATELIER NOTES /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896112"/>
            <a:ext cx="1920240" cy="22860"/>
          </a:xfrm>
          <a:prstGeom prst="rect">
            <a:avLst/>
          </a:prstGeom>
          <a:solidFill>
            <a:srgbClr val="5B17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51515"/>
                </a:solidFill>
                <a:latin typeface="Georgia"/>
              </a:rPr>
              <a:t>THE WHITE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4023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51515"/>
                </a:solidFill>
                <a:latin typeface="Georgia"/>
              </a:rPr>
              <a:t>COUTURE
IN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700" b="0">
                <a:solidFill>
                  <a:srgbClr val="151515"/>
                </a:solidFill>
              </a:rPr>
              <a:t>A study of volume,</a:t>
            </a:r>
          </a:p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700" b="0">
                <a:solidFill>
                  <a:srgbClr val="151515"/>
                </a:solidFill>
              </a:rPr>
              <a:t>weight and the hand.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5257800"/>
            <a:ext cx="1371600" cy="22860"/>
          </a:xfrm>
          <a:prstGeom prst="rect">
            <a:avLst/>
          </a:prstGeom>
          <a:solidFill>
            <a:srgbClr val="5B17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532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1515"/>
                </a:solidFill>
              </a:rPr>
              <a:t>PARIS / SPRING–SUMMER 2027   PRIVATE EDITORIAL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6080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5B1720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2 / 6</a:t>
            </a:r>
          </a:p>
        </p:txBody>
      </p:sp>
      <p:pic>
        <p:nvPicPr>
          <p:cNvPr id="4" name="Picture 3" descr="29922271bacae66a60fc44e143d403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0"/>
            <a:ext cx="55622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1720"/>
                </a:solidFill>
              </a:rPr>
              <a:t>02 / SILHOUETTE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51560" cy="22860"/>
          </a:xfrm>
          <a:prstGeom prst="rect">
            <a:avLst/>
          </a:prstGeom>
          <a:solidFill>
            <a:srgbClr val="5B17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151515"/>
                </a:solidFill>
                <a:latin typeface="Georgia"/>
              </a:rPr>
              <a:t>THE BODY
IS THE PATTERN.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290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4"/>
              </a:spcBef>
              <a:spcAft>
                <a:spcPts val="114"/>
              </a:spcAft>
            </a:pPr>
            <a:r>
              <a:rPr sz="1900" b="0">
                <a:solidFill>
                  <a:srgbClr val="151515"/>
                </a:solidFill>
              </a:rPr>
              <a:t>Cut on the bias.</a:t>
            </a:r>
          </a:p>
          <a:p>
            <a:pPr algn="l">
              <a:spcBef>
                <a:spcPts val="114"/>
              </a:spcBef>
              <a:spcAft>
                <a:spcPts val="114"/>
              </a:spcAft>
            </a:pPr>
            <a:r>
              <a:rPr sz="1900" b="0">
                <a:solidFill>
                  <a:srgbClr val="151515"/>
                </a:solidFill>
              </a:rPr>
              <a:t>Volume released at the shoulder.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983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1720"/>
                </a:solidFill>
              </a:rPr>
              <a:t>HAND-CUT / HAND-FINISHED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5394960"/>
            <a:ext cx="3200400" cy="22860"/>
          </a:xfrm>
          <a:prstGeom prst="rect">
            <a:avLst/>
          </a:prstGeom>
          <a:solidFill>
            <a:srgbClr val="B8A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6509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51515"/>
                </a:solidFill>
              </a:rPr>
              <a:t>A garment begins where the body changes direction.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3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1720"/>
                </a:solidFill>
              </a:rPr>
              <a:t>03 / VOLUME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51515"/>
                </a:solidFill>
                <a:latin typeface="Georgia"/>
              </a:rPr>
              <a:t>CUT
ON THE BIAS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097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5B1720"/>
                </a:solidFill>
              </a:rPr>
              <a:t>MOTION IS A METHOD.</a:t>
            </a:r>
          </a:p>
        </p:txBody>
      </p:sp>
      <p:pic>
        <p:nvPicPr>
          <p:cNvPr id="7" name="Picture 6" descr="c54c7946ff16ebb8e298dd9912594c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48840"/>
            <a:ext cx="5074920" cy="3429000"/>
          </a:xfrm>
          <a:prstGeom prst="rect">
            <a:avLst/>
          </a:prstGeom>
        </p:spPr>
      </p:pic>
      <p:pic>
        <p:nvPicPr>
          <p:cNvPr id="8" name="Picture 7" descr="580197a843a0f958125fe51f34d712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5212080" cy="3749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5806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1515"/>
                </a:solidFill>
              </a:rPr>
              <a:t>01 / SHOULDER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1515"/>
                </a:solidFill>
              </a:rPr>
              <a:t>02 / RELEASED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6263640"/>
            <a:ext cx="5074920" cy="22860"/>
          </a:xfrm>
          <a:prstGeom prst="rect">
            <a:avLst/>
          </a:prstGeom>
          <a:solidFill>
            <a:srgbClr val="5B17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6263640"/>
            <a:ext cx="5212080" cy="22860"/>
          </a:xfrm>
          <a:prstGeom prst="rect">
            <a:avLst/>
          </a:prstGeom>
          <a:solidFill>
            <a:srgbClr val="B8A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4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1720"/>
                </a:solidFill>
              </a:rPr>
              <a:t>04 / MATERIAL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51515"/>
                </a:solidFill>
                <a:latin typeface="Georgia"/>
              </a:rPr>
              <a:t>LIGHT NEEDS
TEXTURE.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151515"/>
                </a:solidFill>
              </a:rPr>
              <a:t>01  ORGANZA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151515"/>
                </a:solidFill>
              </a:rPr>
              <a:t>AIR / RESISTANCE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151515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151515"/>
                </a:solidFill>
              </a:rPr>
              <a:t>02  SATIN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151515"/>
                </a:solidFill>
              </a:rPr>
              <a:t>REFLECTION / WEIGHT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4160520"/>
            <a:ext cx="2057400" cy="22860"/>
          </a:xfrm>
          <a:prstGeom prst="rect">
            <a:avLst/>
          </a:prstGeom>
          <a:solidFill>
            <a:srgbClr val="5B17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4348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151515"/>
                </a:solidFill>
              </a:rPr>
              <a:t>03  PEARL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151515"/>
                </a:solidFill>
              </a:rPr>
              <a:t>GRAIN / LIGHT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151515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151515"/>
                </a:solidFill>
              </a:rPr>
              <a:t>Each surface changes the gesture.</a:t>
            </a:r>
          </a:p>
        </p:txBody>
      </p:sp>
      <p:pic>
        <p:nvPicPr>
          <p:cNvPr id="9" name="Picture 8" descr="9cdc2dcfc31c84cb1ceaac0e2a82a6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0"/>
            <a:ext cx="6613855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0" y="6080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MATERIAL / REFLECTION / WEIGHT / GRAIN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5 / 6</a:t>
            </a:r>
          </a:p>
        </p:txBody>
      </p:sp>
      <p:pic>
        <p:nvPicPr>
          <p:cNvPr id="4" name="Picture 3" descr="b73baef923bcb98eb28c00aa4b241d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00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86600" y="640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AEA4"/>
                </a:solidFill>
              </a:rPr>
              <a:t>05 / THE HAND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1325880"/>
            <a:ext cx="4297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Georgia"/>
              </a:rPr>
              <a:t>NOT A DRESS.
A GESTURE.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3154680"/>
            <a:ext cx="1280160" cy="22860"/>
          </a:xfrm>
          <a:prstGeom prst="rect">
            <a:avLst/>
          </a:prstGeom>
          <a:solidFill>
            <a:srgbClr val="5B17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3520440"/>
            <a:ext cx="4160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4"/>
              </a:spcBef>
              <a:spcAft>
                <a:spcPts val="114"/>
              </a:spcAft>
            </a:pPr>
            <a:r>
              <a:rPr sz="1900" b="0">
                <a:solidFill>
                  <a:srgbClr val="FFFFFF"/>
                </a:solidFill>
              </a:rPr>
              <a:t>Fitting is repetition.</a:t>
            </a:r>
          </a:p>
          <a:p>
            <a:pPr algn="l">
              <a:spcBef>
                <a:spcPts val="114"/>
              </a:spcBef>
              <a:spcAft>
                <a:spcPts val="114"/>
              </a:spcAft>
            </a:pPr>
            <a:r>
              <a:rPr sz="1900" b="0">
                <a:solidFill>
                  <a:srgbClr val="FFFFFF"/>
                </a:solidFill>
              </a:rPr>
              <a:t>The hand makes the final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5897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AEA4"/>
                </a:solidFill>
              </a:rPr>
              <a:t>PARIS / 19:30     PRIVATE SALON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6 / 6</a:t>
            </a:r>
          </a:p>
        </p:txBody>
      </p:sp>
      <p:pic>
        <p:nvPicPr>
          <p:cNvPr id="4" name="Picture 3" descr="201638c47fc095f4153e2acde523a4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AEA4"/>
                </a:solidFill>
              </a:rPr>
              <a:t>UNFINISHED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Georgia"/>
              </a:rPr>
              <a:t>THE FINAL
FITTING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54680"/>
            <a:ext cx="1280160" cy="22860"/>
          </a:xfrm>
          <a:prstGeom prst="rect">
            <a:avLst/>
          </a:prstGeom>
          <a:solidFill>
            <a:srgbClr val="5B17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35204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4"/>
              </a:spcBef>
              <a:spcAft>
                <a:spcPts val="114"/>
              </a:spcAft>
            </a:pPr>
            <a:r>
              <a:rPr sz="2000" b="0">
                <a:solidFill>
                  <a:srgbClr val="FFFFFF"/>
                </a:solidFill>
              </a:rPr>
              <a:t>A garment is never still.</a:t>
            </a:r>
          </a:p>
          <a:p>
            <a:pPr algn="l">
              <a:spcBef>
                <a:spcPts val="114"/>
              </a:spcBef>
              <a:spcAft>
                <a:spcPts val="114"/>
              </a:spcAft>
            </a:pPr>
            <a:r>
              <a:rPr sz="2000" b="0">
                <a:solidFill>
                  <a:srgbClr val="FFFFFF"/>
                </a:solidFill>
              </a:rPr>
              <a:t>It keeps the memory of the hand.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989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AEA4"/>
                </a:solidFill>
              </a:rPr>
              <a:t>THE WHITE STUDY — COUTURE / MOTION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