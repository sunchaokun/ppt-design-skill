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Data</c:v>
                </c:pt>
              </c:strCache>
            </c:strRef>
          </c:tx>
          <c:spPr>
            <a:solidFill>
              <a:srgbClr val="7C3AED"/>
            </a:solidFill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80</c:v>
                </c:pt>
                <c:pt idx="1">
                  <c:v>120</c:v>
                </c:pt>
                <c:pt idx="2">
                  <c:v>190</c:v>
                </c:pt>
                <c:pt idx="3">
                  <c:v>310</c:v>
                </c:pt>
                <c:pt idx="4">
                  <c:v>480</c:v>
                </c:pt>
                <c:pt idx="5">
                  <c:v>720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>
                <a:latin typeface="Poppins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>
                <a:latin typeface="Poppins"/>
                <a:ea typeface="Microsoft YaHei"/>
                <a:cs typeface="Microsoft YaHei"/>
              </a:rPr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Poppins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>
                <a:latin typeface="Poppins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Poppins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>
                <a:latin typeface="Poppins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Poppins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>
                <a:latin typeface="Poppins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>
                <a:latin typeface="Poppins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Poppins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>
                <a:latin typeface="Poppins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12191695" cy="54864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011680"/>
            <a:ext cx="108200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F172A"/>
                </a:solidFill>
                <a:latin typeface="Poppins"/>
              </a:defRPr>
            </a:pPr>
            <a:r>
              <a:t>Introducing NovaPay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566160"/>
            <a:ext cx="94484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  <a:latin typeface="Inter"/>
              </a:defRPr>
            </a:pPr>
            <a:r>
              <a:t>NovaPay — Innovation that delivers</a:t>
            </a:r>
          </a:p>
        </p:txBody>
      </p:sp>
      <p:pic>
        <p:nvPicPr>
          <p:cNvPr id="5" name="Picture 4" descr="d06affc47b48ae94b587c226d56762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504" y="365760"/>
            <a:ext cx="1371600" cy="457200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Poppins"/>
              </a:defRPr>
            </a:pPr>
            <a:r>
              <a:t>The problem is bigger than you think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143000"/>
            <a:ext cx="1828800" cy="36576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F172A"/>
                </a:solidFill>
                <a:latin typeface="Inter"/>
              </a:defRPr>
            </a:pPr>
            <a:r>
              <a:t>Slow Payments: Cross-border takes 3-5 days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F172A"/>
                </a:solidFill>
                <a:latin typeface="Inter"/>
              </a:defRPr>
            </a:pPr>
            <a:r>
              <a:t>High Fees: Banks charge 5-8% for international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F172A"/>
                </a:solidFill>
                <a:latin typeface="Inter"/>
              </a:defRPr>
            </a:pPr>
            <a:r>
              <a:t>No Transparency: Users can't track their money</a:t>
            </a:r>
          </a:p>
        </p:txBody>
      </p:sp>
      <p:pic>
        <p:nvPicPr>
          <p:cNvPr id="6" name="Picture 5" descr="e3568e1f21f43d0e79e748becdd72c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463040"/>
            <a:ext cx="3657600" cy="4572000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Poppins"/>
              </a:defRPr>
            </a:pPr>
            <a:r>
              <a:t>Intelligent Workflow Automation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43000"/>
            <a:ext cx="1828800" cy="36576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554480"/>
            <a:ext cx="3332073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457200"/>
          <a:lstStyle/>
          <a:p>
            <a:pPr algn="l">
              <a:spcAft>
                <a:spcPts val="600"/>
              </a:spcAft>
              <a:defRPr sz="1400">
                <a:solidFill>
                  <a:srgbClr val="0F172A"/>
                </a:solidFill>
              </a:defRPr>
            </a:pPr>
            <a:r>
              <a:t>Eliminates: Cross-border takes 3-5 days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1737360"/>
            <a:ext cx="457200" cy="54864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29353" y="1554480"/>
            <a:ext cx="3332073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457200"/>
          <a:lstStyle/>
          <a:p>
            <a:pPr algn="l">
              <a:spcAft>
                <a:spcPts val="600"/>
              </a:spcAft>
              <a:defRPr sz="1400">
                <a:solidFill>
                  <a:srgbClr val="0F172A"/>
                </a:solidFill>
              </a:defRPr>
            </a:pPr>
            <a:r>
              <a:t>Eliminates: Banks charge 5-8% for international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66513" y="1737360"/>
            <a:ext cx="457200" cy="54864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036661" y="1554480"/>
            <a:ext cx="3332073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457200"/>
          <a:lstStyle/>
          <a:p>
            <a:pPr algn="l">
              <a:spcAft>
                <a:spcPts val="600"/>
              </a:spcAft>
              <a:defRPr sz="1400">
                <a:solidFill>
                  <a:srgbClr val="0F172A"/>
                </a:solidFill>
              </a:defRPr>
            </a:pPr>
            <a:r>
              <a:t>Eliminates: Users can't track their money</a:t>
            </a:r>
          </a:p>
        </p:txBody>
      </p:sp>
      <p:sp>
        <p:nvSpPr>
          <p:cNvPr id="9" name="Rectangle 8"/>
          <p:cNvSpPr/>
          <p:nvPr/>
        </p:nvSpPr>
        <p:spPr>
          <a:xfrm>
            <a:off x="8173821" y="1737360"/>
            <a:ext cx="457200" cy="54864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765faa7128aa84dd1743b69e3e54eb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0" y="1371600"/>
            <a:ext cx="4389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Poppins"/>
              </a:defRPr>
            </a:pPr>
            <a:r>
              <a:t>How NovaPay App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0" y="2560320"/>
            <a:ext cx="4389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F172A"/>
                </a:solidFill>
                <a:latin typeface="Inter"/>
              </a:defRPr>
            </a:pPr>
            <a:r>
              <a:t>Connect: Integrate with your existing tools in minutes, not months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F172A"/>
                </a:solidFill>
                <a:latin typeface="Inter"/>
              </a:defRPr>
            </a:pPr>
            <a:r>
              <a:t>Automate: Build intelligent workflows with our visual designer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F172A"/>
                </a:solidFill>
                <a:latin typeface="Inter"/>
              </a:defRPr>
            </a:pPr>
            <a:r>
              <a:t>Optimize: AI continuously improves your processes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Poppins"/>
              </a:defRPr>
            </a:pPr>
            <a:r>
              <a:t>The numbers speak for themselves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43000"/>
            <a:ext cx="1828800" cy="36576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645920"/>
            <a:ext cx="2476195" cy="29260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274320"/>
          <a:lstStyle/>
          <a:p>
            <a:pPr algn="ctr">
              <a:defRPr sz="4000" b="1">
                <a:solidFill>
                  <a:srgbClr val="EC4899"/>
                </a:solidFill>
              </a:defRPr>
            </a:pPr>
            <a:r>
              <a:t>10M+</a:t>
            </a:r>
          </a:p>
          <a:p>
            <a:pPr algn="ctr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Transactions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56355" y="1645920"/>
            <a:ext cx="2476195" cy="29260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274320"/>
          <a:lstStyle/>
          <a:p>
            <a:pPr algn="ctr">
              <a:defRPr sz="4000" b="1">
                <a:solidFill>
                  <a:srgbClr val="EC4899"/>
                </a:solidFill>
              </a:defRPr>
            </a:pPr>
            <a:r>
              <a:t>2M+</a:t>
            </a:r>
          </a:p>
          <a:p>
            <a:pPr algn="ctr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Users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90664" y="1645920"/>
            <a:ext cx="2476195" cy="29260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274320"/>
          <a:lstStyle/>
          <a:p>
            <a:pPr algn="ctr">
              <a:defRPr sz="4000" b="1">
                <a:solidFill>
                  <a:srgbClr val="EC4899"/>
                </a:solidFill>
              </a:defRPr>
            </a:pPr>
            <a:r>
              <a:t>82</a:t>
            </a:r>
          </a:p>
          <a:p>
            <a:pPr algn="ctr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Nps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24060" y="1645920"/>
            <a:ext cx="2476195" cy="29260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274320"/>
          <a:lstStyle/>
          <a:p>
            <a:pPr algn="ctr">
              <a:defRPr sz="4000" b="1">
                <a:solidFill>
                  <a:srgbClr val="EC4899"/>
                </a:solidFill>
              </a:defRPr>
            </a:pPr>
            <a:r>
              <a:t>15</a:t>
            </a:r>
          </a:p>
          <a:p>
            <a:pPr algn="ctr"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Markets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Poppins"/>
              </a:defRPr>
            </a:pPr>
            <a:r>
              <a:t>A massive, underserved SaaS / Cloud market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143000"/>
            <a:ext cx="1828800" cy="36576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F172A"/>
                </a:solidFill>
                <a:latin typeface="Inter"/>
              </a:defRPr>
            </a:pPr>
            <a:r>
              <a:t>Total addressable market: $47B and growing at 23% CAGR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F172A"/>
                </a:solidFill>
                <a:latin typeface="Inter"/>
              </a:defRPr>
            </a:pPr>
            <a:r>
              <a:t>Only 12% of enterprises have adopted modern solutions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F172A"/>
                </a:solidFill>
                <a:latin typeface="Inter"/>
              </a:defRPr>
            </a:pPr>
            <a:r>
              <a:t>Regulatory tailwinds are accelerating adoption globally</a:t>
            </a:r>
          </a:p>
        </p:txBody>
      </p:sp>
      <p:pic>
        <p:nvPicPr>
          <p:cNvPr id="6" name="Picture 5" descr="e3568e1f21f43d0e79e748becdd72c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463040"/>
            <a:ext cx="3657600" cy="4572000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Poppins"/>
              </a:defRPr>
            </a:pPr>
            <a:r>
              <a:t>A business model built for scale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143000"/>
            <a:ext cx="1828800" cy="36576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F172A"/>
                </a:solidFill>
                <a:latin typeface="Inter"/>
              </a:defRPr>
            </a:pPr>
            <a:r>
              <a:t>SaaS subscription with 85%+ gross margins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F172A"/>
                </a:solidFill>
                <a:latin typeface="Inter"/>
              </a:defRPr>
            </a:pPr>
            <a:r>
              <a:t>Land-and-expand: free tier → team → enterprise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F172A"/>
                </a:solidFill>
                <a:latin typeface="Inter"/>
              </a:defRPr>
            </a:pPr>
            <a:r>
              <a:t>Net revenue retention: 120%+ (expansion exceeds churn)</a:t>
            </a:r>
          </a:p>
        </p:txBody>
      </p:sp>
      <p:pic>
        <p:nvPicPr>
          <p:cNvPr id="6" name="Picture 5" descr="e3568e1f21f43d0e79e748becdd72c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463040"/>
            <a:ext cx="3657600" cy="4572000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Poppins"/>
              </a:defRPr>
            </a:pPr>
            <a:r>
              <a:t>Built by operators who've been in your shoes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143000"/>
            <a:ext cx="1828800" cy="36576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F172A"/>
                </a:solidFill>
                <a:latin typeface="Inter"/>
              </a:defRPr>
            </a:pPr>
            <a:r>
              <a:t>CEO: 15yr industry experience, 2x founder (1 exit)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F172A"/>
                </a:solidFill>
                <a:latin typeface="Inter"/>
              </a:defRPr>
            </a:pPr>
            <a:r>
              <a:t>CTO: Former principal engineer at top tech company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F172A"/>
                </a:solidFill>
                <a:latin typeface="Inter"/>
              </a:defRPr>
            </a:pPr>
            <a:r>
              <a:t>VP Sales: Built $0→$50M ARR pipeline at previous startup</a:t>
            </a:r>
          </a:p>
        </p:txBody>
      </p:sp>
      <p:pic>
        <p:nvPicPr>
          <p:cNvPr id="7" name="Picture 6" descr="e3568e1f21f43d0e79e748becdd72c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463040"/>
            <a:ext cx="3657600" cy="4572000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Poppins"/>
              </a:defRPr>
            </a:pPr>
            <a:r>
              <a:t>Strong unit economics, clear path to profitability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43000"/>
            <a:ext cx="1828800" cy="36576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1097280" y="1463040"/>
          <a:ext cx="68580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412480" y="164592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Inter"/>
              </a:defRPr>
            </a:pPr>
            <a:r>
              <a:t>• Current ARR: $8M, targeting $20M by year-end</a:t>
            </a:r>
            <a:br/>
            <a:r>
              <a:t>• CAC payback: 8 months (industry avg: 18 months)</a:t>
            </a:r>
            <a:br/>
            <a:r>
              <a:t>• Rule of 40: ARR growth (60%) + FCF margin (-15%) = 45%</a:t>
            </a: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484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0F172A"/>
                </a:solidFill>
                <a:latin typeface="Poppins"/>
              </a:defRPr>
            </a:pPr>
            <a:r>
              <a:t>Try NovaPay App free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200400"/>
            <a:ext cx="7619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  <a:latin typeface="Inter"/>
              </a:defRPr>
            </a:pPr>
            <a:r>
              <a:t>14-day free trial. No credit card required.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67504" y="4389120"/>
            <a:ext cx="3657600" cy="73152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>
            <a:outerShdw blurRad="101600" dist="38100" dir="5400000" algn="t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Try NovaPay App free</a:t>
            </a:r>
          </a:p>
        </p:txBody>
      </p:sp>
    </p:spTree>
  </p:cSld>
  <p:clrMapOvr>
    <a:masterClrMapping/>
  </p:clrMapOvr>
  <p:transition spd="slow"/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Poppins"/>
              </a:defRPr>
            </a:pPr>
            <a:r>
              <a:t>More about NovaPay App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143000"/>
            <a:ext cx="1828800" cy="36576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F172A"/>
                </a:solidFill>
                <a:latin typeface="Inter"/>
              </a:defRPr>
            </a:pPr>
            <a:r>
              <a:t>Key insight about NovaPay App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F172A"/>
                </a:solidFill>
                <a:latin typeface="Inter"/>
              </a:defRPr>
            </a:pPr>
            <a:r>
              <a:t>Supporting evidence and data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F172A"/>
                </a:solidFill>
                <a:latin typeface="Inter"/>
              </a:defRPr>
            </a:pPr>
            <a:r>
              <a:t>Next steps and action items</a:t>
            </a:r>
          </a:p>
        </p:txBody>
      </p:sp>
      <p:pic>
        <p:nvPicPr>
          <p:cNvPr id="6" name="Picture 5" descr="e3568e1f21f43d0e79e748becdd72c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463040"/>
            <a:ext cx="3657600" cy="4572000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Poppins"/>
              </a:defRPr>
            </a:pPr>
            <a:r>
              <a:t>More about NovaPay App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143000"/>
            <a:ext cx="1828800" cy="36576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F172A"/>
                </a:solidFill>
                <a:latin typeface="Inter"/>
              </a:defRPr>
            </a:pPr>
            <a:r>
              <a:t>Key insight about NovaPay App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F172A"/>
                </a:solidFill>
                <a:latin typeface="Inter"/>
              </a:defRPr>
            </a:pPr>
            <a:r>
              <a:t>Supporting evidence and data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0F172A"/>
                </a:solidFill>
                <a:latin typeface="Inter"/>
              </a:defRPr>
            </a:pPr>
            <a:r>
              <a:t>Next steps and action items</a:t>
            </a:r>
          </a:p>
        </p:txBody>
      </p:sp>
      <p:pic>
        <p:nvPicPr>
          <p:cNvPr id="6" name="Picture 5" descr="e3568e1f21f43d0e79e748becdd72c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463040"/>
            <a:ext cx="3657600" cy="4572000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