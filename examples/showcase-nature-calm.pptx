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d4ac4223951278169843a42f00e64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365760" cy="3657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GREENPATH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2743200" cy="18288"/>
          </a:xfrm>
          <a:prstGeom prst="rect">
            <a:avLst/>
          </a:prstGeom>
          <a:solidFill>
            <a:srgbClr val="8BC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FFFFFF"/>
                </a:solidFill>
                <a:latin typeface="Segoe UI"/>
              </a:defRPr>
            </a:pPr>
            <a:r>
              <a:t>Carbon Intelligence</a:t>
            </a:r>
            <a:br/>
            <a:r>
              <a:t>for a Sustainable</a:t>
            </a:r>
            <a:br/>
            <a:r>
              <a:t>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C38A"/>
                </a:solidFill>
                <a:latin typeface="Segoe UI"/>
              </a:defRPr>
            </a:pPr>
            <a:r>
              <a:t>Impact Report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200400" cy="1280160"/>
          </a:xfrm>
          <a:prstGeom prst="roundRect">
            <a:avLst/>
          </a:prstGeom>
          <a:solidFill>
            <a:srgbClr val="0D3B11">
              <a:alpha val="75000"/>
            </a:srgbClr>
          </a:solidFill>
          <a:ln w="12700">
            <a:solidFill>
              <a:srgbClr val="8BC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AF50"/>
                </a:solidFill>
                <a:latin typeface="Segoe UI"/>
              </a:defRPr>
            </a:pPr>
            <a:r>
              <a:t>2.4M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C38A"/>
                </a:solidFill>
                <a:latin typeface="Segoe UI"/>
              </a:defRPr>
            </a:pPr>
            <a:r>
              <a:t>Metric Tons CO₂ Offset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474720"/>
            <a:ext cx="3200400" cy="1280160"/>
          </a:xfrm>
          <a:prstGeom prst="roundRect">
            <a:avLst/>
          </a:prstGeom>
          <a:solidFill>
            <a:srgbClr val="0D3B11">
              <a:alpha val="75000"/>
            </a:srgbClr>
          </a:solidFill>
          <a:ln w="12700">
            <a:solidFill>
              <a:srgbClr val="8BC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6118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AF50"/>
                </a:solidFill>
                <a:latin typeface="Segoe UI"/>
              </a:defRPr>
            </a:pPr>
            <a:r>
              <a:t>340+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C38A"/>
                </a:solidFill>
                <a:latin typeface="Segoe UI"/>
              </a:defRPr>
            </a:pPr>
            <a:r>
              <a:t>Enterprise Clients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120640"/>
            <a:ext cx="3200400" cy="1280160"/>
          </a:xfrm>
          <a:prstGeom prst="roundRect">
            <a:avLst/>
          </a:prstGeom>
          <a:solidFill>
            <a:srgbClr val="0D3B11">
              <a:alpha val="75000"/>
            </a:srgbClr>
          </a:solidFill>
          <a:ln w="12700">
            <a:solidFill>
              <a:srgbClr val="8BC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5257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CAF50"/>
                </a:solidFill>
                <a:latin typeface="Segoe UI"/>
              </a:defRPr>
            </a:pPr>
            <a: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852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C38A"/>
                </a:solidFill>
                <a:latin typeface="Segoe UI"/>
              </a:defRPr>
            </a:pPr>
            <a:r>
              <a:t>Avg Carbon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Segoe UI"/>
              </a:defRPr>
            </a:pPr>
            <a:r>
              <a:t>OUR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D3B11"/>
                </a:solidFill>
                <a:latin typeface="Segoe UI"/>
              </a:defRPr>
            </a:pPr>
            <a:r>
              <a:t>Measurable. Scalable.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37744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CAF50"/>
                </a:solidFill>
                <a:latin typeface="Segoe UI"/>
              </a:defRPr>
            </a:pPr>
            <a:r>
              <a:t>2.4M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3B11"/>
                </a:solidFill>
                <a:latin typeface="Segoe UI"/>
              </a:defRPr>
            </a:pPr>
            <a:r>
              <a:t>CO₂ Offset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480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E6B"/>
                </a:solidFill>
                <a:latin typeface="Segoe UI"/>
              </a:defRPr>
            </a:pPr>
            <a:r>
              <a:t>Metric tons reduced through</a:t>
            </a:r>
            <a:br/>
            <a:r>
              <a:t>platform-driven optimization</a:t>
            </a:r>
            <a:br/>
            <a:r>
              <a:t>across supply chains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5760720"/>
            <a:ext cx="1371600" cy="182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3320" y="237744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Segoe UI"/>
              </a:defRPr>
            </a:pPr>
            <a:r>
              <a:t>340+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3B11"/>
                </a:solidFill>
                <a:latin typeface="Segoe UI"/>
              </a:defRPr>
            </a:pPr>
            <a:r>
              <a:t>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480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E6B"/>
                </a:solidFill>
                <a:latin typeface="Segoe UI"/>
              </a:defRPr>
            </a:pPr>
            <a:r>
              <a:t>Enterprise organizations achieving</a:t>
            </a:r>
            <a:br/>
            <a:r>
              <a:t>average 35% carbon reduction</a:t>
            </a:r>
            <a:br/>
            <a:r>
              <a:t>within first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5760720"/>
            <a:ext cx="1371600" cy="182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59" y="201168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79" y="237744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7D32"/>
                </a:solidFill>
                <a:latin typeface="Segoe UI"/>
              </a:defRPr>
            </a:pPr>
            <a:r>
              <a:t>12x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3B11"/>
                </a:solidFill>
                <a:latin typeface="Segoe UI"/>
              </a:defRPr>
            </a:pPr>
            <a:r>
              <a:t>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4480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E6B"/>
                </a:solidFill>
                <a:latin typeface="Segoe UI"/>
              </a:defRPr>
            </a:pPr>
            <a:r>
              <a:t>AI-powered decarbonization</a:t>
            </a:r>
            <a:br/>
            <a:r>
              <a:t>vs. manual carbon audits</a:t>
            </a:r>
            <a:br/>
            <a:r>
              <a:t>and assessments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9" y="5760720"/>
            <a:ext cx="1371600" cy="182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19" y="2011680"/>
            <a:ext cx="2651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4040" y="2377440"/>
            <a:ext cx="457200" cy="457200"/>
          </a:xfrm>
          <a:prstGeom prst="ellipse">
            <a:avLst/>
          </a:prstGeom>
          <a:solidFill>
            <a:srgbClr val="7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6B4F"/>
                </a:solidFill>
                <a:latin typeface="Segoe UI"/>
              </a:defRPr>
            </a:pPr>
            <a:r>
              <a:t>B Corp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3B11"/>
                </a:solidFill>
                <a:latin typeface="Segoe UI"/>
              </a:defRPr>
            </a:pPr>
            <a:r>
              <a:t>Certified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480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E6B"/>
                </a:solidFill>
                <a:latin typeface="Segoe UI"/>
              </a:defRPr>
            </a:pPr>
            <a:r>
              <a:t>Industry-leading ESG</a:t>
            </a:r>
            <a:br/>
            <a:r>
              <a:t>transparency score with</a:t>
            </a:r>
            <a:br/>
            <a:r>
              <a:t>full supply chain visibility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5760720"/>
            <a:ext cx="1371600" cy="18288"/>
          </a:xfrm>
          <a:prstGeom prst="rect">
            <a:avLst/>
          </a:prstGeom>
          <a:solidFill>
            <a:srgbClr val="7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