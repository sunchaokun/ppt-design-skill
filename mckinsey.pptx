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DA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Georgia"/>
              </a:defRPr>
            </a:pPr>
            <a:r>
              <a:t>Strategic Growth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8E6C9"/>
                </a:solidFill>
                <a:latin typeface="Calibri"/>
              </a:defRPr>
            </a:pPr>
            <a:r>
              <a:t>FY2025 Performance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023360"/>
            <a:ext cx="2286000" cy="36576"/>
          </a:xfrm>
          <a:prstGeom prst="rect">
            <a:avLst/>
          </a:prstGeom>
          <a:solidFill>
            <a:srgbClr val="7DA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NeuralForge Inc.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C8E6C9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114800"/>
            <a:ext cx="1828800" cy="36576"/>
          </a:xfrm>
          <a:prstGeom prst="rect">
            <a:avLst/>
          </a:prstGeom>
          <a:solidFill>
            <a:srgbClr val="7DA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Core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Georgia"/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Core business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65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347472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3474720" cy="54864"/>
          </a:xfrm>
          <a:prstGeom prst="rect">
            <a:avLst/>
          </a:prstGeom>
          <a:solidFill>
            <a:srgbClr val="7DA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6504"/>
                </a:solidFill>
                <a:latin typeface="Georgia"/>
              </a:defRPr>
            </a:pPr>
            <a:r>
              <a:t>12.8B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Annual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6504"/>
                </a:solidFill>
                <a:latin typeface="Calibri"/>
              </a:defRPr>
            </a:pPr>
            <a:r>
              <a:t>+8.3%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7472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474720" cy="54864"/>
          </a:xfrm>
          <a:prstGeom prst="rect">
            <a:avLst/>
          </a:prstGeom>
          <a:solidFill>
            <a:srgbClr val="7DA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6504"/>
                </a:solidFill>
                <a:latin typeface="Georgia"/>
              </a:defRPr>
            </a:pPr>
            <a:r>
              <a:t>99.9%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System Uptime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6504"/>
                </a:solidFill>
                <a:latin typeface="Calibri"/>
              </a:defRPr>
            </a:pPr>
            <a:r>
              <a:t>+0.1%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63040"/>
            <a:ext cx="347472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63040"/>
            <a:ext cx="3474720" cy="54864"/>
          </a:xfrm>
          <a:prstGeom prst="rect">
            <a:avLst/>
          </a:prstGeom>
          <a:solidFill>
            <a:srgbClr val="7DA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6504"/>
                </a:solidFill>
                <a:latin typeface="Georgia"/>
              </a:defRPr>
            </a:pPr>
            <a:r>
              <a:t>5.2M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Active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6504"/>
                </a:solidFill>
                <a:latin typeface="Calibri"/>
              </a:defRPr>
            </a:pPr>
            <a:r>
              <a:t>+15%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931920"/>
            <a:ext cx="347472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931920"/>
            <a:ext cx="3474720" cy="54864"/>
          </a:xfrm>
          <a:prstGeom prst="rect">
            <a:avLst/>
          </a:prstGeom>
          <a:solidFill>
            <a:srgbClr val="7DA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206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6504"/>
                </a:solidFill>
                <a:latin typeface="Georgia"/>
              </a:defRPr>
            </a:pPr>
            <a:r>
              <a:t>2.4ms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937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P99 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3030"/>
                </a:solidFill>
                <a:latin typeface="Calibri"/>
              </a:defRPr>
            </a:pPr>
            <a:r>
              <a:t>-12%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931920"/>
            <a:ext cx="347472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931920"/>
            <a:ext cx="3474720" cy="54864"/>
          </a:xfrm>
          <a:prstGeom prst="rect">
            <a:avLst/>
          </a:prstGeom>
          <a:solidFill>
            <a:srgbClr val="7DA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206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6504"/>
                </a:solidFill>
                <a:latin typeface="Georgia"/>
              </a:defRPr>
            </a:pPr>
            <a:r>
              <a:t>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937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NPS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6504"/>
                </a:solidFill>
                <a:latin typeface="Calibri"/>
              </a:defRPr>
            </a:pPr>
            <a:r>
              <a:t>Top 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931920"/>
            <a:ext cx="347472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3931920"/>
            <a:ext cx="3474720" cy="54864"/>
          </a:xfrm>
          <a:prstGeom prst="rect">
            <a:avLst/>
          </a:prstGeom>
          <a:solidFill>
            <a:srgbClr val="7DA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206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E6504"/>
                </a:solidFill>
                <a:latin typeface="Georgia"/>
              </a:defRPr>
            </a:pPr>
            <a:r>
              <a:t>38%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937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Women in Leadership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6504"/>
                </a:solidFill>
                <a:latin typeface="Calibri"/>
              </a:defRPr>
            </a:pPr>
            <a:r>
              <a:t>vs 21% avg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Georgia"/>
              </a:defRPr>
            </a:pPr>
            <a:r>
              <a:t>Revenue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By business segment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65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1828800"/>
            <a:ext cx="5029200" cy="6400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1828800"/>
            <a:ext cx="4123944" cy="640080"/>
          </a:xfrm>
          <a:prstGeom prst="roundRect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Enterprise SaaS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965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$10.2B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926080"/>
            <a:ext cx="5029200" cy="6400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2926080"/>
            <a:ext cx="2414015" cy="640080"/>
          </a:xfrm>
          <a:prstGeom prst="roundRect">
            <a:avLst/>
          </a:prstGeom>
          <a:solidFill>
            <a:srgbClr val="7DA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SMB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063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$5.8B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023360"/>
            <a:ext cx="5029200" cy="6400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86000" y="4023360"/>
            <a:ext cx="1508760" cy="64008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Consumer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160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$3.9B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0" y="1828800"/>
            <a:ext cx="4114800" cy="4114800"/>
          </a:xfrm>
          <a:prstGeom prst="ellipse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0" y="27432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6504"/>
                </a:solidFill>
                <a:latin typeface="Georgia"/>
              </a:defRPr>
            </a:pPr>
            <a:r>
              <a:t>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2286000"/>
            <a:ext cx="228600" cy="228600"/>
          </a:xfrm>
          <a:prstGeom prst="roundRect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2267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SaaS 52%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2743200"/>
            <a:ext cx="228600" cy="228600"/>
          </a:xfrm>
          <a:prstGeom prst="roundRect">
            <a:avLst/>
          </a:prstGeom>
          <a:solidFill>
            <a:srgbClr val="7DA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27249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SMB 29%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3200400"/>
            <a:ext cx="228600" cy="22860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3182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Consumer 19%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Georgia"/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What sets us apart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65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3474720" cy="4754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3474720" cy="54864"/>
          </a:xfrm>
          <a:prstGeom prst="rect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Georgia"/>
              </a:defRPr>
            </a:pPr>
            <a:r>
              <a:t>AI Inference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Auto-select optimal framework</a:t>
            </a:r>
            <a:br/>
            <a:r>
              <a:t>70% compression, P99&lt;10ms</a:t>
            </a:r>
            <a:br/>
            <a:r>
              <a:t>Serving 12.8B requests/sec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74720" cy="54864"/>
          </a:xfrm>
          <a:prstGeom prst="rect">
            <a:avLst/>
          </a:prstGeom>
          <a:solidFill>
            <a:srgbClr val="7DA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Georgia"/>
              </a:defRPr>
            </a:pPr>
            <a:r>
              <a:t>Real-time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Millisecond alerting</a:t>
            </a:r>
            <a:br/>
            <a:r>
              <a:t>Full-stack tracing, anomaly detection</a:t>
            </a:r>
            <a:br/>
            <a:r>
              <a:t>Zero blind spots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63040"/>
            <a:ext cx="3474720" cy="4754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63040"/>
            <a:ext cx="3474720" cy="54864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Georgia"/>
              </a:defRPr>
            </a:pPr>
            <a:r>
              <a:t>Zero-config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860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200+ connectors</a:t>
            </a:r>
            <a:br/>
            <a:r>
              <a:t>Out-of-box ready, 5-min setup</a:t>
            </a:r>
            <a:br/>
            <a:r>
              <a:t>No vendor lock-in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Georgia"/>
              </a:defRPr>
            </a:pPr>
            <a:r>
              <a:t>Deployment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Production-ready in 3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365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63040"/>
            <a:ext cx="10972800" cy="4754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097280" cy="228600"/>
          </a:xfrm>
          <a:prstGeom prst="roundRect">
            <a:avLst/>
          </a:prstGeom>
          <a:solidFill>
            <a:srgbClr val="7DA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527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spcAft>
                <a:spcPts val="1000"/>
              </a:spcAft>
              <a:defRPr sz="1600" b="0">
                <a:solidFill>
                  <a:srgbClr val="D4D4D4"/>
                </a:solidFill>
                <a:latin typeface="Consolas"/>
              </a:defRPr>
            </a:pPr>
            <a:r>
              <a:t>from neural_ops import deploy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  <a:defRPr sz="1600" b="0">
                <a:solidFill>
                  <a:srgbClr val="D4D4D4"/>
                </a:solidFill>
                <a:latin typeface="Consolas"/>
              </a:defRPr>
            </a:pPr>
            <a:r>
              <a:t>model = load("gpt-4o-finetuned")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  <a:defRPr sz="1600" b="0">
                <a:solidFill>
                  <a:srgbClr val="D4D4D4"/>
                </a:solidFill>
                <a:latin typeface="Consolas"/>
              </a:defRPr>
            </a:pPr>
            <a:r>
              <a:t>deploy(model, replicas=3, gpu="A100")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  <a:defRPr sz="1600" b="0">
                <a:solidFill>
                  <a:srgbClr val="D4D4D4"/>
                </a:solidFill>
                <a:latin typeface="Consolas"/>
              </a:defRPr>
            </a:pPr>
            <a:r>
              <a:t>print("Serving at", model.endpoint)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6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DA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Let's Build the Future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E6C9"/>
                </a:solidFill>
                <a:latin typeface="Calibri"/>
              </a:defRPr>
            </a:pPr>
            <a:r>
              <a:t>Contact: growth@example.com  |  example.com/demo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