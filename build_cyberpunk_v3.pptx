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0A0E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18288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800" b="1">
                  <a:solidFill>
                    <a:srgbClr val="E0E0E0"/>
                  </a:solidFill>
                  <a:latin typeface="Orbitron"/>
                </a:defRPr>
              </a:pPr>
              <a:r>
                <a:t>NEURAL OPS // v4.2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29184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000">
                  <a:solidFill>
                    <a:srgbClr val="1A1F3A"/>
                  </a:solidFill>
                  <a:latin typeface="JetBrains Mono"/>
                </a:defRPr>
              </a:pPr>
              <a:r>
                <a:t>AI Infrastructure at Scale — 2025 Status Report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Orbitron"/>
              </a:defRPr>
            </a:pPr>
            <a:r>
              <a:t>SYSTEM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8A"/>
                </a:solidFill>
                <a:latin typeface="JetBrains Mono"/>
              </a:defRPr>
            </a:pPr>
            <a:r>
              <a:t>Real-time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731520" y="1645920"/>
            <a:ext cx="3474720" cy="1371600"/>
            <a:chOff x="731520" y="1645920"/>
            <a:chExt cx="3474720" cy="1371600"/>
          </a:xfrm>
        </p:grpSpPr>
        <p:sp>
          <p:nvSpPr>
            <p:cNvPr id="7" name="Rounded Rectangle 6"/>
            <p:cNvSpPr/>
            <p:nvPr/>
          </p:nvSpPr>
          <p:spPr>
            <a:xfrm>
              <a:off x="731520" y="164592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31520" y="164592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12.8B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INFERENCE/SEC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0A0E27"/>
                  </a:solidFill>
                  <a:latin typeface="JetBrains Mono"/>
                </a:defRPr>
              </a:pPr>
              <a:r>
                <a:t>+8.3%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2000" y="1645920"/>
            <a:ext cx="3474720" cy="1371600"/>
            <a:chOff x="4572000" y="1645920"/>
            <a:chExt cx="3474720" cy="1371600"/>
          </a:xfrm>
        </p:grpSpPr>
        <p:sp>
          <p:nvSpPr>
            <p:cNvPr id="13" name="Rounded Rectangle 12"/>
            <p:cNvSpPr/>
            <p:nvPr/>
          </p:nvSpPr>
          <p:spPr>
            <a:xfrm>
              <a:off x="4572000" y="164592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72000" y="164592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4880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99.9%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54880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UPTIME SLA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54880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0A0E27"/>
                  </a:solidFill>
                  <a:latin typeface="JetBrains Mono"/>
                </a:defRPr>
              </a:pPr>
              <a:r>
                <a:t>+0.1%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412480" y="1645920"/>
            <a:ext cx="3474720" cy="1371600"/>
            <a:chOff x="8412480" y="1645920"/>
            <a:chExt cx="3474720" cy="1371600"/>
          </a:xfrm>
        </p:grpSpPr>
        <p:sp>
          <p:nvSpPr>
            <p:cNvPr id="19" name="Rounded Rectangle 18"/>
            <p:cNvSpPr/>
            <p:nvPr/>
          </p:nvSpPr>
          <p:spPr>
            <a:xfrm>
              <a:off x="8412480" y="164592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12480" y="164592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95359" y="1874519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5.2M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95359" y="233172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ACTIVE NODES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95359" y="260604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0A0E27"/>
                  </a:solidFill>
                  <a:latin typeface="JetBrains Mono"/>
                </a:defRPr>
              </a:pPr>
              <a:r>
                <a:t>+15%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31520" y="3383280"/>
            <a:ext cx="3474720" cy="1371600"/>
            <a:chOff x="731520" y="3383280"/>
            <a:chExt cx="3474720" cy="1371600"/>
          </a:xfrm>
        </p:grpSpPr>
        <p:sp>
          <p:nvSpPr>
            <p:cNvPr id="25" name="Rounded Rectangle 24"/>
            <p:cNvSpPr/>
            <p:nvPr/>
          </p:nvSpPr>
          <p:spPr>
            <a:xfrm>
              <a:off x="731520" y="338328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31520" y="338328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4400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2.4ms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4400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P99 LATENCY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14400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C53030"/>
                  </a:solidFill>
                  <a:latin typeface="JetBrains Mono"/>
                </a:defRPr>
              </a:pPr>
              <a:r>
                <a:t>-12%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572000" y="3383280"/>
            <a:ext cx="3474720" cy="1371600"/>
            <a:chOff x="4572000" y="3383280"/>
            <a:chExt cx="3474720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4572000" y="338328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0" y="338328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54880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72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54880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THREAT SCORE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54880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0A0E27"/>
                  </a:solidFill>
                  <a:latin typeface="JetBrains Mono"/>
                </a:defRPr>
              </a:pPr>
              <a:r>
                <a:t>LOW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8412480" y="3383280"/>
            <a:ext cx="3474720" cy="1371600"/>
            <a:chOff x="8412480" y="3383280"/>
            <a:chExt cx="3474720" cy="1371600"/>
          </a:xfrm>
        </p:grpSpPr>
        <p:sp>
          <p:nvSpPr>
            <p:cNvPr id="37" name="Rounded Rectangle 36"/>
            <p:cNvSpPr/>
            <p:nvPr/>
          </p:nvSpPr>
          <p:spPr>
            <a:xfrm>
              <a:off x="8412480" y="3383280"/>
              <a:ext cx="3474720" cy="1371600"/>
            </a:xfrm>
            <a:prstGeom prst="roundRect">
              <a:avLst/>
            </a:prstGeom>
            <a:solidFill>
              <a:srgbClr val="E0E0E0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412480" y="3383280"/>
              <a:ext cx="347472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95359" y="3611880"/>
              <a:ext cx="31089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0A0E27"/>
                  </a:solidFill>
                  <a:latin typeface="Orbitron"/>
                </a:defRPr>
              </a:pPr>
              <a:r>
                <a:t>38%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95359" y="4069080"/>
              <a:ext cx="3108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GPU UTIL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95359" y="4343400"/>
              <a:ext cx="310896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0A0E27"/>
                  </a:solidFill>
                  <a:latin typeface="JetBrains Mono"/>
                </a:defRPr>
              </a:pPr>
              <a:r>
                <a:t>OPTIMAL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Orbitron"/>
              </a:defRPr>
            </a:pPr>
            <a:r>
              <a:t>TRAFFIC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8A"/>
                </a:solidFill>
                <a:latin typeface="JetBrains Mono"/>
              </a:defRPr>
            </a:pPr>
            <a:r>
              <a:t>By service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188720" y="1984248"/>
            <a:ext cx="6016752" cy="1673352"/>
            <a:chOff x="1188720" y="1984248"/>
            <a:chExt cx="6016752" cy="1673352"/>
          </a:xfrm>
        </p:grpSpPr>
        <p:sp>
          <p:nvSpPr>
            <p:cNvPr id="7" name="Rounded Rectangle 6"/>
            <p:cNvSpPr/>
            <p:nvPr/>
          </p:nvSpPr>
          <p:spPr>
            <a:xfrm>
              <a:off x="2011680" y="2011680"/>
              <a:ext cx="4572000" cy="365760"/>
            </a:xfrm>
            <a:prstGeom prst="roundRect">
              <a:avLst/>
            </a:prstGeom>
            <a:solidFill>
              <a:srgbClr val="1A1F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011680" y="2011680"/>
              <a:ext cx="3749039" cy="365760"/>
            </a:xfrm>
            <a:prstGeom prst="roundRect">
              <a:avLst/>
            </a:prstGeom>
            <a:solidFill>
              <a:srgbClr val="0A0E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88720" y="198424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/api/infer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56832" y="198424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E0E0E0"/>
                  </a:solidFill>
                  <a:latin typeface="JetBrains Mono"/>
                </a:defRPr>
              </a:pPr>
              <a:r>
                <a:t>10.2B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011680" y="2651760"/>
              <a:ext cx="4572000" cy="365760"/>
            </a:xfrm>
            <a:prstGeom prst="roundRect">
              <a:avLst/>
            </a:prstGeom>
            <a:solidFill>
              <a:srgbClr val="1A1F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011680" y="2651760"/>
              <a:ext cx="2194560" cy="365760"/>
            </a:xfrm>
            <a:prstGeom prst="round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8720" y="262432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/api/embed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6832" y="262432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E0E0E0"/>
                  </a:solidFill>
                  <a:latin typeface="JetBrains Mono"/>
                </a:defRPr>
              </a:pPr>
              <a:r>
                <a:t>5.8B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011680" y="3291840"/>
              <a:ext cx="4572000" cy="365760"/>
            </a:xfrm>
            <a:prstGeom prst="roundRect">
              <a:avLst/>
            </a:prstGeom>
            <a:solidFill>
              <a:srgbClr val="1A1F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011680" y="3291840"/>
              <a:ext cx="1371600" cy="365760"/>
            </a:xfrm>
            <a:prstGeom prst="roundRect">
              <a:avLst/>
            </a:prstGeom>
            <a:solidFill>
              <a:srgbClr val="7B2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88720" y="326440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/api/train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56832" y="326440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E0E0E0"/>
                  </a:solidFill>
                  <a:latin typeface="JetBrains Mono"/>
                </a:defRPr>
              </a:pPr>
              <a:r>
                <a:t>3.9B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40880" y="1993392"/>
            <a:ext cx="5394960" cy="3310128"/>
            <a:chOff x="7040880" y="1993392"/>
            <a:chExt cx="5394960" cy="3310128"/>
          </a:xfrm>
        </p:grpSpPr>
        <p:sp>
          <p:nvSpPr>
            <p:cNvPr id="20" name="Oval 19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7B2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FF2D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772400" y="2743200"/>
              <a:ext cx="1828800" cy="1828800"/>
            </a:xfrm>
            <a:prstGeom prst="ellipse">
              <a:avLst/>
            </a:prstGeom>
            <a:solidFill>
              <a:srgbClr val="0A0E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29600" y="3474720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000" b="1">
                  <a:solidFill>
                    <a:srgbClr val="0A0E27"/>
                  </a:solidFill>
                  <a:latin typeface="Orbitron"/>
                </a:defRPr>
              </a:pPr>
              <a:r>
                <a:t>100%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789920" y="2011680"/>
              <a:ext cx="182880" cy="182880"/>
            </a:xfrm>
            <a:prstGeom prst="round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064240" y="199339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Inference  52%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0789920" y="2331720"/>
              <a:ext cx="182880" cy="182880"/>
            </a:xfrm>
            <a:prstGeom prst="roundRect">
              <a:avLst/>
            </a:prstGeom>
            <a:solidFill>
              <a:srgbClr val="7B2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064240" y="231343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Embedding  29%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789920" y="2651760"/>
              <a:ext cx="182880" cy="182880"/>
            </a:xfrm>
            <a:prstGeom prst="roundRect">
              <a:avLst/>
            </a:prstGeom>
            <a:solidFill>
              <a:srgbClr val="FF2D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064240" y="263347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0B0C0"/>
                  </a:solidFill>
                  <a:latin typeface="JetBrains Mono"/>
                </a:defRPr>
              </a:pPr>
              <a:r>
                <a:t>Training  19%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Orbitron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8A"/>
                </a:solidFill>
                <a:latin typeface="JetBrains Mono"/>
              </a:defRPr>
            </a:pPr>
            <a:r>
              <a:t>Active service mesh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731520" y="2011680"/>
            <a:ext cx="10972800" cy="1280160"/>
            <a:chOff x="731520" y="2011680"/>
            <a:chExt cx="10972800" cy="1280160"/>
          </a:xfrm>
        </p:grpSpPr>
        <p:sp>
          <p:nvSpPr>
            <p:cNvPr id="7" name="Rounded Rectangle 6"/>
            <p:cNvSpPr/>
            <p:nvPr/>
          </p:nvSpPr>
          <p:spPr>
            <a:xfrm>
              <a:off x="731520" y="2011680"/>
              <a:ext cx="3352800" cy="1280160"/>
            </a:xfrm>
            <a:prstGeom prst="roundRect">
              <a:avLst/>
            </a:prstGeom>
            <a:solidFill>
              <a:srgbClr val="12162B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31520" y="2011680"/>
              <a:ext cx="3352800" cy="54864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5840" y="2176272"/>
              <a:ext cx="2804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E0E0E0"/>
                  </a:solidFill>
                  <a:latin typeface="Orbitron"/>
                </a:defRPr>
              </a:pPr>
              <a:r>
                <a:t>INFERENCE ENGINE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5840" y="2487168"/>
              <a:ext cx="28041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Auto-routing, 70% compression, P99&lt;10ms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541519" y="2011680"/>
              <a:ext cx="3352800" cy="1280160"/>
            </a:xfrm>
            <a:prstGeom prst="roundRect">
              <a:avLst/>
            </a:prstGeom>
            <a:solidFill>
              <a:srgbClr val="12162B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41519" y="2011680"/>
              <a:ext cx="3352800" cy="54864"/>
            </a:xfrm>
            <a:prstGeom prst="rect">
              <a:avLst/>
            </a:prstGeom>
            <a:solidFill>
              <a:srgbClr val="7B2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15839" y="2176272"/>
              <a:ext cx="2804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E0E0E0"/>
                  </a:solidFill>
                  <a:latin typeface="Orbitron"/>
                </a:defRPr>
              </a:pPr>
              <a:r>
                <a:t>MONITORING MESH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5839" y="2487168"/>
              <a:ext cx="28041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Millisecond alerting, full-stack tracing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351520" y="2011680"/>
              <a:ext cx="3352800" cy="1280160"/>
            </a:xfrm>
            <a:prstGeom prst="roundRect">
              <a:avLst/>
            </a:prstGeom>
            <a:solidFill>
              <a:srgbClr val="12162B"/>
            </a:solidFill>
            <a:ln w="12700">
              <a:solidFill>
                <a:srgbClr val="1A1F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351520" y="2011680"/>
              <a:ext cx="3352800" cy="54864"/>
            </a:xfrm>
            <a:prstGeom prst="rect">
              <a:avLst/>
            </a:prstGeom>
            <a:solidFill>
              <a:srgbClr val="FF2D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25840" y="2176272"/>
              <a:ext cx="2804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E0E0E0"/>
                  </a:solidFill>
                  <a:latin typeface="Orbitron"/>
                </a:defRPr>
              </a:pPr>
              <a:r>
                <a:t>CONNECTOR HUB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25840" y="2487168"/>
              <a:ext cx="28041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6A6A8A"/>
                  </a:solidFill>
                  <a:latin typeface="JetBrains Mono"/>
                </a:defRPr>
              </a:pPr>
              <a:r>
                <a:t>200+ integrations, zero-config mesh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Orbitron"/>
              </a:defRPr>
            </a:pPr>
            <a:r>
              <a:t>DEPLOY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8A"/>
                </a:solidFill>
                <a:latin typeface="JetBrains Mono"/>
              </a:defRPr>
            </a:pPr>
            <a:r>
              <a:t>Production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731520" y="1755648"/>
            <a:ext cx="10972800" cy="3456432"/>
            <a:chOff x="731520" y="1755648"/>
            <a:chExt cx="10972800" cy="3456432"/>
          </a:xfrm>
        </p:grpSpPr>
        <p:sp>
          <p:nvSpPr>
            <p:cNvPr id="7" name="Rectangle 6"/>
            <p:cNvSpPr/>
            <p:nvPr/>
          </p:nvSpPr>
          <p:spPr>
            <a:xfrm>
              <a:off x="731520" y="2011680"/>
              <a:ext cx="10972800" cy="32004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22960" y="1755648"/>
              <a:ext cx="822959" cy="228600"/>
            </a:xfrm>
            <a:prstGeom prst="roundRect">
              <a:avLst/>
            </a:prstGeom>
            <a:solidFill>
              <a:srgbClr val="0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8680" y="1755648"/>
              <a:ext cx="731519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800" b="1">
                  <a:solidFill>
                    <a:srgbClr val="E0E0E0"/>
                  </a:solidFill>
                  <a:latin typeface="JetBrains Mono"/>
                </a:defRPr>
              </a:pPr>
              <a:r>
                <a:t>shell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2148840"/>
              <a:ext cx="10607040" cy="2926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defRPr sz="1200">
                  <a:solidFill>
                    <a:srgbClr val="D4D4D4"/>
                  </a:solidFill>
                  <a:latin typeface="Consolas"/>
                </a:defRPr>
              </a:pPr>
              <a:r>
                <a:t>$ neural-ops deploy --model gpt-4o-ft --gpu A100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200">
                  <a:solidFill>
                    <a:srgbClr val="D4D4D4"/>
                  </a:solidFill>
                  <a:latin typeface="Consolas"/>
                </a:defRPr>
              </a:pPr>
              <a:r>
                <a:t>&gt; Replicas: 3  |  Region: us-east-1  |  Auto-scale: ON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200">
                  <a:solidFill>
                    <a:srgbClr val="D4D4D4"/>
                  </a:solidFill>
                  <a:latin typeface="Consolas"/>
                </a:defRPr>
              </a:pPr>
              <a:r>
                <a:t>&gt; Health check: PASS  |  Endpoint: api.neuralops.ai/v4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  <a:defRPr sz="1200">
                  <a:solidFill>
                    <a:srgbClr val="D4D4D4"/>
                  </a:solidFill>
                  <a:latin typeface="Consolas"/>
                </a:defRPr>
              </a:pPr>
              <a:r>
                <a:t>&gt; Status: LIVE  |  P99: 2.1ms  |  Throughput: 12.8B/s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0A0E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22860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400" b="1">
                  <a:solidFill>
                    <a:srgbClr val="E0E0E0"/>
                  </a:solidFill>
                  <a:latin typeface="Orbitron"/>
                </a:defRPr>
              </a:pPr>
              <a:r>
                <a:t>INITIALIZE NEXT PHASE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65760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>
                  <a:solidFill>
                    <a:srgbClr val="1A1F3A"/>
                  </a:solidFill>
                  <a:latin typeface="JetBrains Mono"/>
                </a:defRPr>
              </a:pPr>
              <a:r>
                <a:t>neural-ops.ai  |  #build-the-future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