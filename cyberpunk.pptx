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91695" cy="1828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F0FF"/>
                </a:solidFill>
                <a:latin typeface="Orbitron"/>
              </a:defRPr>
            </a:pPr>
            <a:r>
              <a:t>NEURAL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8A"/>
                </a:solidFill>
                <a:latin typeface="JetBrains Mono"/>
              </a:defRPr>
            </a:pPr>
            <a:r>
              <a:t>// v4.2  |  AI Infrastructure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Orbitron"/>
              </a:defRPr>
            </a:pPr>
            <a:r>
              <a:t>2025 STATUS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480560"/>
            <a:ext cx="13716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2D6B"/>
                </a:solidFill>
                <a:latin typeface="JetBrains Mono"/>
              </a:defRPr>
            </a:pPr>
            <a:r>
              <a:t>CLASSIFIED  |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0FF"/>
                </a:solidFill>
                <a:latin typeface="Orbitron"/>
              </a:defRPr>
            </a:pPr>
            <a:r>
              <a:t>SYSTEM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Real-time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3657"/>
          </a:xfrm>
          <a:prstGeom prst="rect">
            <a:avLst/>
          </a:prstGeom>
          <a:solidFill>
            <a:srgbClr val="2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12162B"/>
          </a:solidFill>
          <a:ln w="12700"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7472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Orbitron"/>
              </a:defRPr>
            </a:pPr>
            <a:r>
              <a:t>12.8B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INFERENCE/SEC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0FF"/>
                </a:solidFill>
                <a:latin typeface="JetBrains Mono"/>
              </a:defRPr>
            </a:pPr>
            <a:r>
              <a:t>+8.3%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463040"/>
            <a:ext cx="3474720" cy="2194560"/>
          </a:xfrm>
          <a:prstGeom prst="roundRect">
            <a:avLst/>
          </a:prstGeom>
          <a:solidFill>
            <a:srgbClr val="12162B"/>
          </a:solidFill>
          <a:ln w="12700"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347472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Orbitron"/>
              </a:defRPr>
            </a:pPr>
            <a: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UPTIME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0FF"/>
                </a:solidFill>
                <a:latin typeface="JetBrains Mono"/>
              </a:defRPr>
            </a:pPr>
            <a:r>
              <a:t>+0.1%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463040"/>
            <a:ext cx="3474720" cy="2194560"/>
          </a:xfrm>
          <a:prstGeom prst="roundRect">
            <a:avLst/>
          </a:prstGeom>
          <a:solidFill>
            <a:srgbClr val="12162B"/>
          </a:solidFill>
          <a:ln w="12700"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463040"/>
            <a:ext cx="347472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Orbitron"/>
              </a:defRPr>
            </a:pPr>
            <a:r>
              <a:t>5.2M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ACTIVE 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0FF"/>
                </a:solidFill>
                <a:latin typeface="JetBrains Mono"/>
              </a:defRPr>
            </a:pPr>
            <a:r>
              <a:t>+15%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3474720" cy="2194560"/>
          </a:xfrm>
          <a:prstGeom prst="roundRect">
            <a:avLst/>
          </a:prstGeom>
          <a:solidFill>
            <a:srgbClr val="12162B"/>
          </a:solidFill>
          <a:ln w="12700"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3474720" cy="36576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Orbitron"/>
              </a:defRPr>
            </a:pPr>
            <a:r>
              <a:t>2.4ms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P99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77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2D6B"/>
                </a:solidFill>
                <a:latin typeface="JetBrains Mono"/>
              </a:defRPr>
            </a:pPr>
            <a:r>
              <a:t>-12%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023360"/>
            <a:ext cx="3474720" cy="2194560"/>
          </a:xfrm>
          <a:prstGeom prst="roundRect">
            <a:avLst/>
          </a:prstGeom>
          <a:solidFill>
            <a:srgbClr val="12162B"/>
          </a:solidFill>
          <a:ln w="12700"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023360"/>
            <a:ext cx="347472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297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Orbitron"/>
              </a:defRPr>
            </a:pPr>
            <a:r>
              <a:t>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THREAT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577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0FF"/>
                </a:solidFill>
                <a:latin typeface="JetBrains Mono"/>
              </a:defRPr>
            </a:pPr>
            <a:r>
              <a:t>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4023360"/>
            <a:ext cx="3474720" cy="2194560"/>
          </a:xfrm>
          <a:prstGeom prst="roundRect">
            <a:avLst/>
          </a:prstGeom>
          <a:solidFill>
            <a:srgbClr val="12162B"/>
          </a:solidFill>
          <a:ln w="12700"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80" y="4023360"/>
            <a:ext cx="347472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297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Orbitron"/>
              </a:defRPr>
            </a:pPr>
            <a:r>
              <a:t>38%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GPU UTIL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577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0FF"/>
                </a:solidFill>
                <a:latin typeface="JetBrains Mono"/>
              </a:defRPr>
            </a:pPr>
            <a:r>
              <a:t>OPTIMAL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0FF"/>
                </a:solidFill>
                <a:latin typeface="Orbitron"/>
              </a:defRPr>
            </a:pPr>
            <a:r>
              <a:t>TRAFFIC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By service endpoint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3657"/>
          </a:xfrm>
          <a:prstGeom prst="rect">
            <a:avLst/>
          </a:prstGeom>
          <a:solidFill>
            <a:srgbClr val="2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828800"/>
            <a:ext cx="5029200" cy="731520"/>
          </a:xfrm>
          <a:prstGeom prst="round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1828800"/>
            <a:ext cx="4123944" cy="7315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8A"/>
                </a:solidFill>
                <a:latin typeface="JetBrains Mono"/>
              </a:defRPr>
            </a:pPr>
            <a:r>
              <a:t>/api/infer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  <a:latin typeface="JetBrains Mono"/>
              </a:defRPr>
            </a:pPr>
            <a:r>
              <a:t>10.2B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108960"/>
            <a:ext cx="5029200" cy="731520"/>
          </a:xfrm>
          <a:prstGeom prst="round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3108960"/>
            <a:ext cx="2414015" cy="73152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8A"/>
                </a:solidFill>
                <a:latin typeface="JetBrains Mono"/>
              </a:defRPr>
            </a:pPr>
            <a:r>
              <a:t>/api/embed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91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  <a:latin typeface="JetBrains Mono"/>
              </a:defRPr>
            </a:pPr>
            <a:r>
              <a:t>5.8B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389120"/>
            <a:ext cx="5029200" cy="731520"/>
          </a:xfrm>
          <a:prstGeom prst="round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0" y="4389120"/>
            <a:ext cx="1508760" cy="731520"/>
          </a:xfrm>
          <a:prstGeom prst="round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8A"/>
                </a:solidFill>
                <a:latin typeface="JetBrains Mono"/>
              </a:defRPr>
            </a:pPr>
            <a:r>
              <a:t>/api/train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  <a:latin typeface="JetBrains Mono"/>
              </a:defRPr>
            </a:pPr>
            <a:r>
              <a:t>3.9B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0" y="1828800"/>
            <a:ext cx="4114800" cy="41148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0" y="2743200"/>
            <a:ext cx="2286000" cy="2286000"/>
          </a:xfrm>
          <a:prstGeom prst="ellipse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0FF"/>
                </a:solidFill>
                <a:latin typeface="Orbitron"/>
              </a:defRPr>
            </a:pPr>
            <a:r>
              <a:t>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286000"/>
            <a:ext cx="228600" cy="22860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267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JetBrains Mono"/>
              </a:defRPr>
            </a:pPr>
            <a:r>
              <a:t>Inference 52%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743200"/>
            <a:ext cx="228600" cy="22860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724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JetBrains Mono"/>
              </a:defRPr>
            </a:pPr>
            <a:r>
              <a:t>Embedding 29%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200400"/>
            <a:ext cx="228600" cy="228600"/>
          </a:xfrm>
          <a:prstGeom prst="round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182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JetBrains Mono"/>
              </a:defRPr>
            </a:pPr>
            <a:r>
              <a:t>Training 19%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0FF"/>
                </a:solidFill>
                <a:latin typeface="Orbitron"/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Active service mesh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3657"/>
          </a:xfrm>
          <a:prstGeom prst="rect">
            <a:avLst/>
          </a:prstGeom>
          <a:solidFill>
            <a:srgbClr val="2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2162B"/>
          </a:solidFill>
          <a:ln w="12700"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7472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0FF"/>
                </a:solidFill>
                <a:latin typeface="Orbitron"/>
              </a:defRPr>
            </a:pPr>
            <a:r>
              <a:t>INFERENCE</a:t>
            </a:r>
            <a:br/>
            <a:r>
              <a:t>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8A"/>
                </a:solidFill>
                <a:latin typeface="JetBrains Mono"/>
              </a:defRPr>
            </a:pPr>
            <a:r>
              <a:t>Auto-routing</a:t>
            </a:r>
            <a:br/>
            <a:r>
              <a:t>70% compression</a:t>
            </a:r>
            <a:br/>
            <a:r>
              <a:t>P99&lt;10ms</a:t>
            </a:r>
            <a:br/>
            <a:r>
              <a:t>12.8B req/sec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474720" cy="4754880"/>
          </a:xfrm>
          <a:prstGeom prst="roundRect">
            <a:avLst/>
          </a:prstGeom>
          <a:solidFill>
            <a:srgbClr val="12162B"/>
          </a:solidFill>
          <a:ln w="12700"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3474720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737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F"/>
                </a:solidFill>
                <a:latin typeface="Orbitron"/>
              </a:defRPr>
            </a:pPr>
            <a:r>
              <a:t>MONITORING</a:t>
            </a:r>
            <a:br/>
            <a:r>
              <a:t>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8A"/>
                </a:solidFill>
                <a:latin typeface="JetBrains Mono"/>
              </a:defRPr>
            </a:pPr>
            <a:r>
              <a:t>Millisecond alerting</a:t>
            </a:r>
            <a:br/>
            <a:r>
              <a:t>Full-stack tracing</a:t>
            </a:r>
            <a:br/>
            <a:r>
              <a:t>Anomaly detection</a:t>
            </a:r>
            <a:br/>
            <a:r>
              <a:t>Zero blind 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463040"/>
            <a:ext cx="3474720" cy="4754880"/>
          </a:xfrm>
          <a:prstGeom prst="roundRect">
            <a:avLst/>
          </a:prstGeom>
          <a:solidFill>
            <a:srgbClr val="12162B"/>
          </a:solidFill>
          <a:ln w="12700"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463040"/>
            <a:ext cx="3474720" cy="36576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737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D6B"/>
                </a:solidFill>
                <a:latin typeface="Orbitron"/>
              </a:defRPr>
            </a:pPr>
            <a:r>
              <a:t>CONNECTOR</a:t>
            </a:r>
            <a:br/>
            <a:r>
              <a:t>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8A"/>
                </a:solidFill>
                <a:latin typeface="JetBrains Mono"/>
              </a:defRPr>
            </a:pPr>
            <a:r>
              <a:t>200+ integrations</a:t>
            </a:r>
            <a:br/>
            <a:r>
              <a:t>Zero-config mesh</a:t>
            </a:r>
            <a:br/>
            <a:r>
              <a:t>5-min deploy</a:t>
            </a:r>
            <a:br/>
            <a:r>
              <a:t>No vendor lock-in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0FF"/>
                </a:solidFill>
                <a:latin typeface="Orbitron"/>
              </a:defRPr>
            </a:pPr>
            <a:r>
              <a:t>DEPLOY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8A"/>
                </a:solidFill>
                <a:latin typeface="JetBrains Mono"/>
              </a:defRPr>
            </a:pPr>
            <a:r>
              <a:t>Production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3657"/>
          </a:xfrm>
          <a:prstGeom prst="rect">
            <a:avLst/>
          </a:prstGeom>
          <a:solidFill>
            <a:srgbClr val="2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05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914400" cy="22860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527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onsolas"/>
              </a:defRPr>
            </a:pPr>
            <a:r>
              <a:t>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defRPr sz="1400" b="0">
                <a:solidFill>
                  <a:srgbClr val="00F0FF"/>
                </a:solidFill>
                <a:latin typeface="JetBrains Mono"/>
              </a:defRPr>
            </a:pPr>
            <a:r>
              <a:t>$ neural-ops deploy --model gpt-4o-ft --gpu A100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defRPr sz="1400" b="0">
                <a:solidFill>
                  <a:srgbClr val="00F0FF"/>
                </a:solidFill>
                <a:latin typeface="JetBrains Mono"/>
              </a:defRPr>
            </a:pPr>
            <a:r>
              <a:t>&gt; Replicas: 3  |  Region: us-east-1  |  Auto-scale: 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defRPr sz="1400" b="0">
                <a:solidFill>
                  <a:srgbClr val="00F0FF"/>
                </a:solidFill>
                <a:latin typeface="JetBrains Mono"/>
              </a:defRPr>
            </a:pPr>
            <a:r>
              <a:t>&gt; Health check: PASS  |  Endpoint: api.neuralops.ai/v4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defRPr sz="1400" b="0">
                <a:solidFill>
                  <a:srgbClr val="00F0FF"/>
                </a:solidFill>
                <a:latin typeface="JetBrains Mono"/>
              </a:defRPr>
            </a:pPr>
            <a:r>
              <a:t>&gt; Status: LIVE  |  P99: 2.1ms  |  Throughput: 12.8B/s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91695" cy="1828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F0FF"/>
                </a:solidFill>
                <a:latin typeface="Orbitron"/>
              </a:defRPr>
            </a:pPr>
            <a:r>
              <a:t>INITIALIZE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7B2FFF"/>
                </a:solidFill>
                <a:latin typeface="Orbitron"/>
              </a:defRPr>
            </a:pPr>
            <a:r>
              <a:t>NEXT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8A"/>
                </a:solidFill>
                <a:latin typeface="JetBrains Mono"/>
              </a:defRPr>
            </a:pPr>
            <a:r>
              <a:t>neural-ops.ai  |  #build-the-future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