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3C587D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Build faster. Ship smarter. Scale effortlessly.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The platform that turns your team's potential into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The problem is bigger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Existing solutions are fragmented and slow to adapt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Teams lack the tools to move at market speed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Data-driven decisions are impossible without real-time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2438339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Next-Generation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BB5"/>
                </a:solidFill>
                <a:latin typeface="Calibri"/>
                <a:ea typeface="Microsoft YaHei"/>
                <a:cs typeface="Microsoft YaHei"/>
              </a:rPr>
              <a:t>One intelligent platform that adapts to how you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Real-time analytics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Seamless integrations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AI-powered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3657508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>
            <a:gsLst>
              <a:gs pos="0">
                <a:srgbClr val="FFC656"/>
              </a:gs>
              <a:gs pos="100000">
                <a:srgbClr val="E8A83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How Innovation Platform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Component 6"/>
          <p:cNvGrpSpPr/>
          <p:nvPr/>
        </p:nvGrpSpPr>
        <p:grpSpPr>
          <a:xfrm>
            <a:off x="899058" y="1280160"/>
            <a:ext cx="10850778" cy="5120640"/>
            <a:chOff x="0" y="0"/>
            <a:chExt cx="10850778" cy="5120639"/>
          </a:xfrm>
        </p:grpSpPr>
        <p:sp>
          <p:nvSpPr>
            <p:cNvPr id="7" name="Component 7"/>
            <p:cNvSpPr/>
            <p:nvPr/>
          </p:nvSpPr>
          <p:spPr>
            <a:xfrm>
              <a:off x="9878777" y="329953"/>
              <a:ext cx="972000" cy="972000"/>
            </a:xfrm>
            <a:prstGeom prst="ellipse">
              <a:avLst/>
            </a:prstGeom>
            <a:solidFill>
              <a:srgbClr val="FFFFFF"/>
            </a:solidFill>
            <a:ln w="80453">
              <a:solidFill>
                <a:srgbClr val="000000">
                  <a:lumMod val="60000"/>
                  <a:lumOff val="40000"/>
                </a:srgbClr>
              </a:solidFill>
            </a:ln>
          </p:spPr>
          <p:style>
            <a:lnRef idx="2">
              <a:srgbClr val="2E6504">
                <a:shade val="50000"/>
              </a:srgbClr>
            </a:lnRef>
            <a:fillRef idx="1">
              <a:srgbClr val="2E6504"/>
            </a:fillRef>
            <a:effectRef idx="0">
              <a:srgbClr val="2E6504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>
                <a:latin typeface="Calibri"/>
                <a:ea typeface="Calibri"/>
              </a:endParaRPr>
            </a:p>
          </p:txBody>
        </p:sp>
        <p:cxnSp>
          <p:nvCxnSpPr>
            <p:cNvPr id="8" name="Component 8"/>
            <p:cNvCxnSpPr>
              <a:stCxn id="13" idx="2"/>
              <a:endCxn id="11" idx="3"/>
            </p:cNvCxnSpPr>
            <p:nvPr/>
          </p:nvCxnSpPr>
          <p:spPr>
            <a:xfrm flipH="1" flipV="1">
              <a:off x="6768724" y="803054"/>
              <a:ext cx="3110052" cy="12899"/>
            </a:xfrm>
            <a:prstGeom prst="line">
              <a:avLst/>
            </a:prstGeom>
            <a:ln w="80453">
              <a:solidFill>
                <a:srgbClr val="000000">
                  <a:lumMod val="60000"/>
                  <a:lumOff val="40000"/>
                </a:srgbClr>
              </a:solidFill>
              <a:prstDash val="solid"/>
              <a:tailEnd type="none"/>
            </a:ln>
          </p:spPr>
          <p:style>
            <a:lnRef idx="1">
              <a:srgbClr val="2E6504"/>
            </a:lnRef>
            <a:fillRef idx="0">
              <a:srgbClr val="2E6504"/>
            </a:fillRef>
            <a:effectRef idx="0">
              <a:srgbClr val="2E6504"/>
            </a:effectRef>
            <a:fontRef idx="minor">
              <a:srgbClr val="000000"/>
            </a:fontRef>
          </p:style>
        </p:cxnSp>
        <p:sp>
          <p:nvSpPr>
            <p:cNvPr id="9" name="Component 9"/>
            <p:cNvSpPr txBox="1"/>
            <p:nvPr/>
          </p:nvSpPr>
          <p:spPr>
            <a:xfrm>
              <a:off x="0" y="2015570"/>
              <a:ext cx="6949742" cy="941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smtClean="0">
                  <a:solidFill>
                    <a:srgbClr val="2E6504"/>
                  </a:solidFill>
                  <a:latin typeface="Calibri"/>
                  <a:ea typeface="Calibri"/>
                </a:rPr>
                <a:t>Connect: Integrate with your existing tools in minutes, not months</a:t>
              </a:r>
              <a:endParaRPr lang="uk-UA" sz="1400" b="1">
                <a:solidFill>
                  <a:srgbClr val="2E6504"/>
                </a:solidFill>
                <a:latin typeface="Calibri"/>
                <a:ea typeface="Calibri"/>
              </a:endParaRPr>
            </a:p>
          </p:txBody>
        </p:sp>
        <p:sp>
          <p:nvSpPr>
            <p:cNvPr id="10" name="Component 10"/>
            <p:cNvSpPr txBox="1"/>
            <p:nvPr/>
          </p:nvSpPr>
          <p:spPr>
            <a:xfrm>
              <a:off x="224002" y="2875992"/>
              <a:ext cx="6501740" cy="2244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000000">
                      <a:lumMod val="60000"/>
                      <a:lumOff val="40000"/>
                    </a:srgbClr>
                  </a:solidFill>
                  <a:latin typeface="Calibri"/>
                  <a:ea typeface="Calibri"/>
                </a:rPr>
                <a:t>Automate: Build intelligent workflows with our visual designer</a:t>
              </a:r>
              <a:endParaRPr lang="uk-UA" sz="1400" smtClean="0">
                <a:solidFill>
                  <a:srgbClr val="000000">
                    <a:lumMod val="60000"/>
                    <a:lumOff val="40000"/>
                  </a:srgbClr>
                </a:solidFill>
                <a:latin typeface="Calibri"/>
                <a:ea typeface="Calibri"/>
              </a:endParaRPr>
            </a:p>
          </p:txBody>
        </p:sp>
        <p:sp>
          <p:nvSpPr>
            <p:cNvPr id="11" name="Component 11"/>
            <p:cNvSpPr/>
            <p:nvPr/>
          </p:nvSpPr>
          <p:spPr>
            <a:xfrm>
              <a:off x="181017" y="0"/>
              <a:ext cx="6587707" cy="1606109"/>
            </a:xfrm>
            <a:prstGeom prst="roundRect">
              <a:avLst>
                <a:gd name="adj" fmla="val 50000"/>
              </a:avLst>
            </a:prstGeom>
            <a:solidFill>
              <a:srgbClr val="2E6504"/>
            </a:solidFill>
            <a:ln>
              <a:noFill/>
            </a:ln>
          </p:spPr>
          <p:style>
            <a:lnRef idx="2">
              <a:srgbClr val="2E6504">
                <a:shade val="50000"/>
              </a:srgbClr>
            </a:lnRef>
            <a:fillRef idx="1">
              <a:srgbClr val="2E6504"/>
            </a:fillRef>
            <a:effectRef idx="0">
              <a:srgbClr val="2E6504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>
                <a:latin typeface="Calibri"/>
                <a:ea typeface="Calibri"/>
              </a:endParaRPr>
            </a:p>
          </p:txBody>
        </p:sp>
        <p:sp>
          <p:nvSpPr>
            <p:cNvPr id="12" name="Component 12"/>
            <p:cNvSpPr txBox="1"/>
            <p:nvPr/>
          </p:nvSpPr>
          <p:spPr>
            <a:xfrm>
              <a:off x="675569" y="250627"/>
              <a:ext cx="5598604" cy="1198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65" b="1" smtClean="0">
                  <a:solidFill>
                    <a:srgbClr val="0D4609"/>
                  </a:solidFill>
                  <a:latin typeface="Calibri"/>
                  <a:ea typeface="Calibri"/>
                </a:rPr>
                <a:t>Optimize: AI continuously improves your processes</a:t>
              </a:r>
              <a:endParaRPr lang="uk-UA" sz="1865" b="1">
                <a:solidFill>
                  <a:srgbClr val="0D4609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4876678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The numbers speak for themselves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6095847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A massive, underserved Technology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Total addressable market: $47B and growing at 23% CAGR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Only 12% of enterprises have adopted modern solutions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Regulatory tailwinds are accelerating adoption globally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7315017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>
            <a:gsLst>
              <a:gs pos="0">
                <a:srgbClr val="FFC656"/>
              </a:gs>
              <a:gs pos="100000">
                <a:srgbClr val="E8A83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A business model built for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SaaS subscription with 85%+ gross margins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Land-and-expand: free tier → team → enterprise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Net revenue retention: 120%+ (expansion exceeds churn)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8534186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Built by operators who've been in your shoes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Component 6"/>
          <p:cNvGrpSpPr/>
          <p:nvPr/>
        </p:nvGrpSpPr>
        <p:grpSpPr>
          <a:xfrm>
            <a:off x="1768160" y="1280160"/>
            <a:ext cx="9112574" cy="5120640"/>
            <a:chOff x="0" y="0"/>
            <a:chExt cx="9112574" cy="5120639"/>
          </a:xfrm>
        </p:grpSpPr>
        <p:sp>
          <p:nvSpPr>
            <p:cNvPr id="7" name="Component 7"/>
            <p:cNvSpPr/>
            <p:nvPr/>
          </p:nvSpPr>
          <p:spPr>
            <a:xfrm>
              <a:off x="548000" y="222536"/>
              <a:ext cx="1280512" cy="1262124"/>
            </a:xfrm>
            <a:prstGeom prst="rect">
              <a:avLst/>
            </a:prstGeom>
            <a:noFill/>
            <a:ln w="46884" cap="flat" cmpd="sng" algn="ctr">
              <a:solidFill>
                <a:srgbClr val="FFFFFF">
                  <a:lumMod val="9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/>
                  <a:ea typeface="Calibri"/>
                </a:defRPr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D4609"/>
                </a:solidFill>
                <a:effectLst/>
                <a:uLnTx/>
                <a:uFillTx/>
                <a:latin typeface="Calibri" panose="020B0503020202020204" pitchFamily="34" charset="0"/>
                <a:ea typeface="Calibri" panose="020B0503020204020204" pitchFamily="34" charset="-122"/>
                <a:cs typeface="Calibri"/>
                <a:sym typeface="Agency FB" panose="020B0503020202020204" pitchFamily="34" charset="0"/>
              </a:endParaRPr>
            </a:p>
          </p:txBody>
        </p:sp>
        <p:sp>
          <p:nvSpPr>
            <p:cNvPr id="8" name="Component 8"/>
            <p:cNvSpPr/>
            <p:nvPr/>
          </p:nvSpPr>
          <p:spPr>
            <a:xfrm>
              <a:off x="354702" y="0"/>
              <a:ext cx="1280512" cy="1262124"/>
            </a:xfrm>
            <a:prstGeom prst="rect">
              <a:avLst/>
            </a:prstGeom>
            <a:solidFill>
              <a:srgbClr val="FFFEF9"/>
            </a:solidFill>
            <a:ln w="46884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/>
                  <a:ea typeface="Calibri"/>
                </a:defRPr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D4609"/>
                </a:solidFill>
                <a:effectLst/>
                <a:uLnTx/>
                <a:uFillTx/>
                <a:latin typeface="Calibri" panose="020B0503020202020204" pitchFamily="34" charset="0"/>
                <a:ea typeface="Calibri" panose="020B0503020204020204" pitchFamily="34" charset="-122"/>
                <a:cs typeface="Calibri"/>
                <a:sym typeface="Agency FB" panose="020B0503020202020204" pitchFamily="34" charset="0"/>
              </a:endParaRPr>
            </a:p>
          </p:txBody>
        </p:sp>
        <p:sp>
          <p:nvSpPr>
            <p:cNvPr id="9" name="Component 9"/>
            <p:cNvSpPr txBox="1"/>
            <p:nvPr/>
          </p:nvSpPr>
          <p:spPr>
            <a:xfrm>
              <a:off x="0" y="1707196"/>
              <a:ext cx="7074822" cy="1249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/>
                  <a:ea typeface="Calibri"/>
                </a:defRPr>
              </a:pPr>
              <a:r>
                <a:rPr kumimoji="0" lang="en-US" sz="1600" b="0" i="0" u="none" strike="noStrike" kern="0" cap="none" spc="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B0503020202020204" pitchFamily="34" charset="0"/>
                  <a:ea typeface="Calibri" panose="020B0503020204020204" pitchFamily="34" charset="-122"/>
                  <a:cs typeface="Calibri"/>
                  <a:sym typeface="Agency FB" panose="020B0503020202020204" pitchFamily="34" charset="0"/>
                </a:rPr>
                <a:t>CEO: 15yr industry experience, 2x founder (1 exit)</a:t>
              </a:r>
            </a:p>
          </p:txBody>
        </p:sp>
        <p:sp>
          <p:nvSpPr>
            <p:cNvPr id="10" name="Component 10"/>
            <p:cNvSpPr txBox="1"/>
            <p:nvPr/>
          </p:nvSpPr>
          <p:spPr>
            <a:xfrm>
              <a:off x="0" y="2988092"/>
              <a:ext cx="9112574" cy="2132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/>
                  <a:ea typeface="Calibri"/>
                </a:defRPr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2E6504"/>
                  </a:solidFill>
                  <a:effectLst/>
                  <a:uLnTx/>
                  <a:uFillTx/>
                  <a:latin typeface="Calibri" panose="020B0503020202020204" pitchFamily="34" charset="0"/>
                  <a:ea typeface="Calibri" panose="020B0503020204020204" pitchFamily="34" charset="-122"/>
                  <a:cs typeface="Calibri"/>
                  <a:sym typeface="Agency FB" panose="020B0503020202020204" pitchFamily="34" charset="0"/>
                </a:rPr>
                <a:t>CTO: Former principal engineer at top tech company</a:t>
              </a:r>
            </a:p>
            <a:p>
              <a:pPr marL="0" marR="0" lvl="0" indent="0" defTabSz="91440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>
                  <a:latin typeface="Calibri"/>
                  <a:ea typeface="Calibri"/>
                </a:defRPr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2E6504"/>
                  </a:solidFill>
                  <a:effectLst/>
                  <a:uLnTx/>
                  <a:uFillTx/>
                  <a:latin typeface="Calibri" panose="020B0503020202020204" pitchFamily="34" charset="0"/>
                  <a:ea typeface="Calibri" panose="020B0503020204020204" pitchFamily="34" charset="-122"/>
                  <a:cs typeface="Calibri"/>
                  <a:sym typeface="Agency FB" panose="020B0503020202020204" pitchFamily="34" charset="0"/>
                </a:rPr>
                <a:t>VP Sales: Built $0→$50M ARR pipeline at previous startup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21424"/>
            <a:ext cx="9753356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Strong unit economics, clear path to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E8A838">
                  <a:alpha val="100000"/>
                </a:srgbClr>
              </a:gs>
              <a:gs pos="100000">
                <a:srgbClr val="E8A838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Current ARR: $8M, targeting $20M by year-end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CAC payback: 8 months (industry avg: 18 months)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•  Rule of 40: ARR growth (60%) + FCF margin (-15%) = 45%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A3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0972525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3C587D"/>
              </a:gs>
              <a:gs pos="100000">
                <a:srgbClr val="1E3A5F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0F4F8"/>
                </a:solidFill>
                <a:latin typeface="Calibri"/>
                <a:ea typeface="Microsoft YaHei"/>
                <a:cs typeface="Microsoft YaHei"/>
              </a:rPr>
              <a:t>Free tier available. Scale as you grow.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