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6C3C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97280" y="1828800"/>
              <a:ext cx="9144000" cy="1371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4000" b="1">
                  <a:solidFill>
                    <a:srgbClr val="FFFFFF"/>
                  </a:solidFill>
                  <a:latin typeface="Fredoka"/>
                </a:defRPr>
              </a:pPr>
              <a:r>
                <a:t>Creative Studio 2025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97280" y="3291840"/>
              <a:ext cx="91440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400">
                  <a:solidFill>
                    <a:srgbClr val="FFE66D"/>
                  </a:solidFill>
                  <a:latin typeface="Nunito"/>
                </a:defRPr>
              </a:pPr>
              <a:r>
                <a:t>Design. Build. Ship. Repeat.</a:t>
              </a:r>
            </a:p>
          </p:txBody>
        </p:sp>
      </p:grpSp>
      <p:sp>
        <p:nvSpPr>
          <p:cNvPr id="6" name="Oval 5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436"/>
                </a:solidFill>
                <a:latin typeface="Fredoka"/>
              </a:defRPr>
            </a:pPr>
            <a:r>
              <a:t>Impact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Nunito"/>
              </a:defRPr>
            </a:pPr>
            <a:r>
              <a:t>What we achieved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362895" cy="365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914400" y="1828800"/>
            <a:ext cx="3200400" cy="1463040"/>
            <a:chOff x="914400" y="1828800"/>
            <a:chExt cx="3200400" cy="1463040"/>
          </a:xfrm>
        </p:grpSpPr>
        <p:sp>
          <p:nvSpPr>
            <p:cNvPr id="7" name="Rounded Rectangle 6"/>
            <p:cNvSpPr/>
            <p:nvPr/>
          </p:nvSpPr>
          <p:spPr>
            <a:xfrm>
              <a:off x="914400" y="1828800"/>
              <a:ext cx="3200400" cy="146304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FE66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914400" y="1828800"/>
              <a:ext cx="3200400" cy="54864"/>
            </a:xfrm>
            <a:prstGeom prst="rect">
              <a:avLst/>
            </a:prstGeom>
            <a:solidFill>
              <a:srgbClr val="FF6B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97280" y="2057400"/>
              <a:ext cx="28346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000" b="1">
                  <a:solidFill>
                    <a:srgbClr val="6C3CE1"/>
                  </a:solidFill>
                  <a:latin typeface="Fredoka"/>
                </a:defRPr>
              </a:pPr>
              <a:r>
                <a:t>847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97280" y="2514600"/>
              <a:ext cx="28346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B2BEC3"/>
                  </a:solidFill>
                  <a:latin typeface="Nunito"/>
                </a:defRPr>
              </a:pPr>
              <a:r>
                <a:t>Projects Delivered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97280" y="2788920"/>
              <a:ext cx="283464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6C3CE1"/>
                  </a:solidFill>
                  <a:latin typeface="Nunito"/>
                </a:defRPr>
              </a:pPr>
              <a:r>
                <a:t>+23%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572000" y="1828800"/>
            <a:ext cx="3200400" cy="1463040"/>
            <a:chOff x="4572000" y="1828800"/>
            <a:chExt cx="3200400" cy="1463040"/>
          </a:xfrm>
        </p:grpSpPr>
        <p:sp>
          <p:nvSpPr>
            <p:cNvPr id="13" name="Rounded Rectangle 12"/>
            <p:cNvSpPr/>
            <p:nvPr/>
          </p:nvSpPr>
          <p:spPr>
            <a:xfrm>
              <a:off x="4572000" y="1828800"/>
              <a:ext cx="3200400" cy="146304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FE66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572000" y="1828800"/>
              <a:ext cx="3200400" cy="54864"/>
            </a:xfrm>
            <a:prstGeom prst="rect">
              <a:avLst/>
            </a:prstGeom>
            <a:solidFill>
              <a:srgbClr val="FF6B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754880" y="2057400"/>
              <a:ext cx="28346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000" b="1">
                  <a:solidFill>
                    <a:srgbClr val="6C3CE1"/>
                  </a:solidFill>
                  <a:latin typeface="Fredoka"/>
                </a:defRPr>
              </a:pPr>
              <a:r>
                <a:t>99.2%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754880" y="2514600"/>
              <a:ext cx="28346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B2BEC3"/>
                  </a:solidFill>
                  <a:latin typeface="Nunito"/>
                </a:defRPr>
              </a:pPr>
              <a:r>
                <a:t>Client Satisfaction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754880" y="2788920"/>
              <a:ext cx="283464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6C3CE1"/>
                  </a:solidFill>
                  <a:latin typeface="Nunito"/>
                </a:defRPr>
              </a:pPr>
              <a:r>
                <a:t>+1.8%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229600" y="1828800"/>
            <a:ext cx="3200400" cy="1463040"/>
            <a:chOff x="8229600" y="1828800"/>
            <a:chExt cx="3200400" cy="1463040"/>
          </a:xfrm>
        </p:grpSpPr>
        <p:sp>
          <p:nvSpPr>
            <p:cNvPr id="19" name="Rounded Rectangle 18"/>
            <p:cNvSpPr/>
            <p:nvPr/>
          </p:nvSpPr>
          <p:spPr>
            <a:xfrm>
              <a:off x="8229600" y="1828800"/>
              <a:ext cx="3200400" cy="146304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FE66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229600" y="1828800"/>
              <a:ext cx="3200400" cy="54864"/>
            </a:xfrm>
            <a:prstGeom prst="rect">
              <a:avLst/>
            </a:prstGeom>
            <a:solidFill>
              <a:srgbClr val="FF6B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412480" y="2057400"/>
              <a:ext cx="28346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000" b="1">
                  <a:solidFill>
                    <a:srgbClr val="6C3CE1"/>
                  </a:solidFill>
                  <a:latin typeface="Fredoka"/>
                </a:defRPr>
              </a:pPr>
              <a:r>
                <a:t>156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412480" y="2514600"/>
              <a:ext cx="28346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B2BEC3"/>
                  </a:solidFill>
                  <a:latin typeface="Nunito"/>
                </a:defRPr>
              </a:pPr>
              <a:r>
                <a:t>Team Members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412480" y="2788920"/>
              <a:ext cx="283464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6C3CE1"/>
                  </a:solidFill>
                  <a:latin typeface="Nunito"/>
                </a:defRPr>
              </a:pPr>
              <a:r>
                <a:t>+34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436"/>
                </a:solidFill>
                <a:latin typeface="Fredoka"/>
              </a:defRPr>
            </a:pPr>
            <a:r>
              <a:t>Service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Nunito"/>
              </a:defRPr>
            </a:pPr>
            <a:r>
              <a:t>Where we create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362895" cy="365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1463040" y="1984248"/>
            <a:ext cx="5559552" cy="1673352"/>
            <a:chOff x="1463040" y="1984248"/>
            <a:chExt cx="5559552" cy="1673352"/>
          </a:xfrm>
        </p:grpSpPr>
        <p:sp>
          <p:nvSpPr>
            <p:cNvPr id="7" name="Rounded Rectangle 6"/>
            <p:cNvSpPr/>
            <p:nvPr/>
          </p:nvSpPr>
          <p:spPr>
            <a:xfrm>
              <a:off x="2286000" y="2011680"/>
              <a:ext cx="4114800" cy="365760"/>
            </a:xfrm>
            <a:prstGeom prst="roundRect">
              <a:avLst/>
            </a:prstGeom>
            <a:solidFill>
              <a:srgbClr val="F0F0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286000" y="2011680"/>
              <a:ext cx="2962656" cy="365760"/>
            </a:xfrm>
            <a:prstGeom prst="roundRect">
              <a:avLst/>
            </a:prstGeom>
            <a:solidFill>
              <a:srgbClr val="6C3C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63040" y="1984248"/>
              <a:ext cx="7772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200">
                  <a:solidFill>
                    <a:srgbClr val="636E72"/>
                  </a:solidFill>
                  <a:latin typeface="Nunito"/>
                </a:defRPr>
              </a:pPr>
              <a:r>
                <a:t>Brand Design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73952" y="1984248"/>
              <a:ext cx="5486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 b="1">
                  <a:solidFill>
                    <a:srgbClr val="2D3436"/>
                  </a:solidFill>
                  <a:latin typeface="Nunito"/>
                </a:defRPr>
              </a:pPr>
              <a:r>
                <a:t>61%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286000" y="2651760"/>
              <a:ext cx="4114800" cy="365760"/>
            </a:xfrm>
            <a:prstGeom prst="roundRect">
              <a:avLst/>
            </a:prstGeom>
            <a:solidFill>
              <a:srgbClr val="F0F0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286000" y="2651760"/>
              <a:ext cx="2263140" cy="365760"/>
            </a:xfrm>
            <a:prstGeom prst="roundRect">
              <a:avLst/>
            </a:prstGeom>
            <a:solidFill>
              <a:srgbClr val="FF6B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63040" y="2624328"/>
              <a:ext cx="7772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200">
                  <a:solidFill>
                    <a:srgbClr val="636E72"/>
                  </a:solidFill>
                  <a:latin typeface="Nunito"/>
                </a:defRPr>
              </a:pPr>
              <a:r>
                <a:t>Product UX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73952" y="2624328"/>
              <a:ext cx="5486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 b="1">
                  <a:solidFill>
                    <a:srgbClr val="2D3436"/>
                  </a:solidFill>
                  <a:latin typeface="Nunito"/>
                </a:defRPr>
              </a:pPr>
              <a:r>
                <a:t>47%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286000" y="3291840"/>
              <a:ext cx="4114800" cy="365760"/>
            </a:xfrm>
            <a:prstGeom prst="roundRect">
              <a:avLst/>
            </a:prstGeom>
            <a:solidFill>
              <a:srgbClr val="F0F0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286000" y="3291840"/>
              <a:ext cx="1563624" cy="365760"/>
            </a:xfrm>
            <a:prstGeom prst="roundRect">
              <a:avLst/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463040" y="3264408"/>
              <a:ext cx="7772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200">
                  <a:solidFill>
                    <a:srgbClr val="636E72"/>
                  </a:solidFill>
                  <a:latin typeface="Nunito"/>
                </a:defRPr>
              </a:pPr>
              <a:r>
                <a:t>Motion Design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473952" y="3264408"/>
              <a:ext cx="5486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 b="1">
                  <a:solidFill>
                    <a:srgbClr val="2D3436"/>
                  </a:solidFill>
                  <a:latin typeface="Nunito"/>
                </a:defRPr>
              </a:pPr>
              <a:r>
                <a:t>32%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040880" y="1993392"/>
            <a:ext cx="5394960" cy="3310128"/>
            <a:chOff x="7040880" y="1993392"/>
            <a:chExt cx="5394960" cy="3310128"/>
          </a:xfrm>
        </p:grpSpPr>
        <p:sp>
          <p:nvSpPr>
            <p:cNvPr id="20" name="Oval 19"/>
            <p:cNvSpPr/>
            <p:nvPr/>
          </p:nvSpPr>
          <p:spPr>
            <a:xfrm>
              <a:off x="7040880" y="2011680"/>
              <a:ext cx="3291840" cy="3291840"/>
            </a:xfrm>
            <a:prstGeom prst="ellipse">
              <a:avLst/>
            </a:prstGeom>
            <a:solidFill>
              <a:srgbClr val="6C3C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7040880" y="2011680"/>
              <a:ext cx="3291840" cy="329184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7040880" y="2011680"/>
              <a:ext cx="3291840" cy="3291840"/>
            </a:xfrm>
            <a:prstGeom prst="ellipse">
              <a:avLst/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7772400" y="2743200"/>
              <a:ext cx="1828800" cy="1828800"/>
            </a:xfrm>
            <a:prstGeom prst="ellipse">
              <a:avLst/>
            </a:prstGeom>
            <a:solidFill>
              <a:srgbClr val="FAFA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229600" y="3474720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400" b="1">
                  <a:solidFill>
                    <a:srgbClr val="6C3CE1"/>
                  </a:solidFill>
                  <a:latin typeface="Fredoka"/>
                </a:defRPr>
              </a:pPr>
              <a:r>
                <a:t>100%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789920" y="2011680"/>
              <a:ext cx="182880" cy="182880"/>
            </a:xfrm>
            <a:prstGeom prst="roundRect">
              <a:avLst/>
            </a:prstGeom>
            <a:solidFill>
              <a:srgbClr val="6C3C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064240" y="1993392"/>
              <a:ext cx="137160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636E72"/>
                  </a:solidFill>
                  <a:latin typeface="Nunito"/>
                </a:defRPr>
              </a:pPr>
              <a:r>
                <a:t>Brand  40%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10789920" y="2331720"/>
              <a:ext cx="182880" cy="182880"/>
            </a:xfrm>
            <a:prstGeom prst="roundRect">
              <a:avLst/>
            </a:prstGeom>
            <a:solidFill>
              <a:srgbClr val="FF6B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1064240" y="2313432"/>
              <a:ext cx="137160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636E72"/>
                  </a:solidFill>
                  <a:latin typeface="Nunito"/>
                </a:defRPr>
              </a:pPr>
              <a:r>
                <a:t>UX  35%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0789920" y="2651760"/>
              <a:ext cx="182880" cy="182880"/>
            </a:xfrm>
            <a:prstGeom prst="roundRect">
              <a:avLst/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064240" y="2633472"/>
              <a:ext cx="1371600" cy="228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636E72"/>
                  </a:solidFill>
                  <a:latin typeface="Nunito"/>
                </a:defRPr>
              </a:pPr>
              <a:r>
                <a:t>Motion  25%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436"/>
                </a:solidFill>
                <a:latin typeface="Fredoka"/>
              </a:defRPr>
            </a:pPr>
            <a:r>
              <a:t>Superpowers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Nunito"/>
              </a:defRPr>
            </a:pPr>
            <a:r>
              <a:t>Our creative toolkit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362895" cy="365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914400" y="2011680"/>
            <a:ext cx="10332720" cy="1280160"/>
            <a:chOff x="914400" y="2011680"/>
            <a:chExt cx="10332720" cy="1280160"/>
          </a:xfrm>
        </p:grpSpPr>
        <p:sp>
          <p:nvSpPr>
            <p:cNvPr id="7" name="Rounded Rectangle 6"/>
            <p:cNvSpPr/>
            <p:nvPr/>
          </p:nvSpPr>
          <p:spPr>
            <a:xfrm>
              <a:off x="914400" y="2011680"/>
              <a:ext cx="3139440" cy="128016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FE66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914400" y="2011680"/>
              <a:ext cx="3139440" cy="54864"/>
            </a:xfrm>
            <a:prstGeom prst="rect">
              <a:avLst/>
            </a:prstGeom>
            <a:solidFill>
              <a:srgbClr val="6C3C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34440" y="2176272"/>
              <a:ext cx="24993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000" b="1">
                  <a:solidFill>
                    <a:srgbClr val="2D3436"/>
                  </a:solidFill>
                  <a:latin typeface="Fredoka"/>
                </a:defRPr>
              </a:pPr>
              <a:r>
                <a:t>Design System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34440" y="2487168"/>
              <a:ext cx="2499360" cy="6400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B2BEC3"/>
                  </a:solidFill>
                  <a:latin typeface="Nunito"/>
                </a:defRPr>
              </a:pPr>
              <a:r>
                <a:t>Component library with 500+ tokens, auto-sync Figma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511040" y="2011680"/>
              <a:ext cx="3139440" cy="128016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FE66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511040" y="2011680"/>
              <a:ext cx="3139440" cy="54864"/>
            </a:xfrm>
            <a:prstGeom prst="rect">
              <a:avLst/>
            </a:prstGeom>
            <a:solidFill>
              <a:srgbClr val="FF6B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31080" y="2176272"/>
              <a:ext cx="24993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000" b="1">
                  <a:solidFill>
                    <a:srgbClr val="2D3436"/>
                  </a:solidFill>
                  <a:latin typeface="Fredoka"/>
                </a:defRPr>
              </a:pPr>
              <a:r>
                <a:t>Rapid Prototyping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831080" y="2487168"/>
              <a:ext cx="2499360" cy="6400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B2BEC3"/>
                  </a:solidFill>
                  <a:latin typeface="Nunito"/>
                </a:defRPr>
              </a:pPr>
              <a:r>
                <a:t>Idea to clickable prototype in 48 hours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107680" y="2011680"/>
              <a:ext cx="3139440" cy="128016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FE66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07680" y="2011680"/>
              <a:ext cx="3139440" cy="54864"/>
            </a:xfrm>
            <a:prstGeom prst="rect">
              <a:avLst/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427720" y="2176272"/>
              <a:ext cx="249936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000" b="1">
                  <a:solidFill>
                    <a:srgbClr val="2D3436"/>
                  </a:solidFill>
                  <a:latin typeface="Fredoka"/>
                </a:defRPr>
              </a:pPr>
              <a:r>
                <a:t>User Research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427720" y="2487168"/>
              <a:ext cx="2499360" cy="6400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B2BEC3"/>
                  </a:solidFill>
                  <a:latin typeface="Nunito"/>
                </a:defRPr>
              </a:pPr>
              <a:r>
                <a:t>Data-driven design decisions, A/B testing built-in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436"/>
                </a:solidFill>
                <a:latin typeface="Fredoka"/>
              </a:defRPr>
            </a:pPr>
            <a:r>
              <a:t>Before &amp;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  <a:latin typeface="Nunito"/>
              </a:defRPr>
            </a:pPr>
            <a:r>
              <a:t>Client transformation stories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362895" cy="3657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1737360" y="1984248"/>
            <a:ext cx="5029200" cy="1399032"/>
            <a:chOff x="1737360" y="1984248"/>
            <a:chExt cx="5029200" cy="1399032"/>
          </a:xfrm>
        </p:grpSpPr>
        <p:sp>
          <p:nvSpPr>
            <p:cNvPr id="7" name="TextBox 6"/>
            <p:cNvSpPr txBox="1"/>
            <p:nvPr/>
          </p:nvSpPr>
          <p:spPr>
            <a:xfrm>
              <a:off x="1737360" y="1993392"/>
              <a:ext cx="91440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200" b="1">
                  <a:solidFill>
                    <a:srgbClr val="636E72"/>
                  </a:solidFill>
                  <a:latin typeface="Nunito"/>
                </a:defRPr>
              </a:pPr>
              <a:r>
                <a:t>Time to Market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743200" y="2011680"/>
              <a:ext cx="3200400" cy="164592"/>
            </a:xfrm>
            <a:prstGeom prst="roundRect">
              <a:avLst/>
            </a:prstGeom>
            <a:solidFill>
              <a:srgbClr val="F0F0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743200" y="2011680"/>
              <a:ext cx="2880360" cy="164592"/>
            </a:xfrm>
            <a:prstGeom prst="roundRect">
              <a:avLst/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743200" y="2212848"/>
              <a:ext cx="3200400" cy="164592"/>
            </a:xfrm>
            <a:prstGeom prst="roundRect">
              <a:avLst/>
            </a:prstGeom>
            <a:solidFill>
              <a:srgbClr val="F0F0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743200" y="2212848"/>
              <a:ext cx="960120" cy="164592"/>
            </a:xfrm>
            <a:prstGeom prst="roundRect">
              <a:avLst/>
            </a:prstGeom>
            <a:solidFill>
              <a:srgbClr val="6C3C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35040" y="1984248"/>
              <a:ext cx="73152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>
                  <a:solidFill>
                    <a:srgbClr val="B2BEC3"/>
                  </a:solidFill>
                  <a:latin typeface="Nunito"/>
                </a:defRPr>
              </a:pPr>
              <a:r>
                <a:t>6 mo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35040" y="2185416"/>
              <a:ext cx="73152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2D3436"/>
                  </a:solidFill>
                  <a:latin typeface="Nunito"/>
                </a:defRPr>
              </a:pPr>
              <a:r>
                <a:t>8 wk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737360" y="2496312"/>
              <a:ext cx="91440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200" b="1">
                  <a:solidFill>
                    <a:srgbClr val="636E72"/>
                  </a:solidFill>
                  <a:latin typeface="Nunito"/>
                </a:defRPr>
              </a:pPr>
              <a:r>
                <a:t>Design Consistency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743200" y="2514600"/>
              <a:ext cx="3200400" cy="164592"/>
            </a:xfrm>
            <a:prstGeom prst="roundRect">
              <a:avLst/>
            </a:prstGeom>
            <a:solidFill>
              <a:srgbClr val="F0F0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743200" y="2514600"/>
              <a:ext cx="1280160" cy="164592"/>
            </a:xfrm>
            <a:prstGeom prst="roundRect">
              <a:avLst/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743200" y="2715768"/>
              <a:ext cx="3200400" cy="164592"/>
            </a:xfrm>
            <a:prstGeom prst="roundRect">
              <a:avLst/>
            </a:prstGeom>
            <a:solidFill>
              <a:srgbClr val="F0F0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743200" y="2715768"/>
              <a:ext cx="3040379" cy="164592"/>
            </a:xfrm>
            <a:prstGeom prst="roundRect">
              <a:avLst/>
            </a:prstGeom>
            <a:solidFill>
              <a:srgbClr val="6C3C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035040" y="2487168"/>
              <a:ext cx="73152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>
                  <a:solidFill>
                    <a:srgbClr val="B2BEC3"/>
                  </a:solidFill>
                  <a:latin typeface="Nunito"/>
                </a:defRPr>
              </a:pPr>
              <a:r>
                <a:t>40%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35040" y="2688336"/>
              <a:ext cx="73152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2D3436"/>
                  </a:solidFill>
                  <a:latin typeface="Nunito"/>
                </a:defRPr>
              </a:pPr>
              <a:r>
                <a:t>95%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737360" y="2999232"/>
              <a:ext cx="91440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200" b="1">
                  <a:solidFill>
                    <a:srgbClr val="636E72"/>
                  </a:solidFill>
                  <a:latin typeface="Nunito"/>
                </a:defRPr>
              </a:pPr>
              <a:r>
                <a:t>User Retention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743200" y="3017520"/>
              <a:ext cx="3200400" cy="164592"/>
            </a:xfrm>
            <a:prstGeom prst="roundRect">
              <a:avLst/>
            </a:prstGeom>
            <a:solidFill>
              <a:srgbClr val="F0F0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743200" y="3017520"/>
              <a:ext cx="1024128" cy="164592"/>
            </a:xfrm>
            <a:prstGeom prst="roundRect">
              <a:avLst/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2743200" y="3218688"/>
              <a:ext cx="3200400" cy="164592"/>
            </a:xfrm>
            <a:prstGeom prst="roundRect">
              <a:avLst/>
            </a:prstGeom>
            <a:solidFill>
              <a:srgbClr val="F0F0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743200" y="3218688"/>
              <a:ext cx="2496312" cy="164592"/>
            </a:xfrm>
            <a:prstGeom prst="roundRect">
              <a:avLst/>
            </a:prstGeom>
            <a:solidFill>
              <a:srgbClr val="6C3C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035040" y="2990088"/>
              <a:ext cx="73152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>
                  <a:solidFill>
                    <a:srgbClr val="B2BEC3"/>
                  </a:solidFill>
                  <a:latin typeface="Nunito"/>
                </a:defRPr>
              </a:pPr>
              <a:r>
                <a:t>32%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035040" y="3191256"/>
              <a:ext cx="73152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000" b="1">
                  <a:solidFill>
                    <a:srgbClr val="2D3436"/>
                  </a:solidFill>
                  <a:latin typeface="Nunito"/>
                </a:defRPr>
              </a:pPr>
              <a:r>
                <a:t>78%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6C3C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97280" y="2286000"/>
              <a:ext cx="9144000" cy="1371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4200" b="1">
                  <a:solidFill>
                    <a:srgbClr val="FFFFFF"/>
                  </a:solidFill>
                  <a:latin typeface="Fredoka"/>
                </a:defRPr>
              </a:pPr>
              <a:r>
                <a:t>Let's Create Together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97280" y="3657600"/>
              <a:ext cx="91440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000">
                  <a:solidFill>
                    <a:srgbClr val="FFE66D"/>
                  </a:solidFill>
                  <a:latin typeface="Nunito"/>
                </a:defRPr>
              </a:pPr>
              <a:r>
                <a:t>hello@creativestudio.io  |  book a free consultation</a:t>
              </a:r>
            </a:p>
          </p:txBody>
        </p:sp>
      </p:grpSp>
      <p:sp>
        <p:nvSpPr>
          <p:cNvPr id="6" name="Oval 5"/>
          <p:cNvSpPr/>
          <p:nvPr/>
        </p:nvSpPr>
        <p:spPr>
          <a:xfrm>
            <a:off x="9144000" y="457200"/>
            <a:ext cx="3657600" cy="36576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